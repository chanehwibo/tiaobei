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5D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挑战杯“揭榜挂帅” · XA-202612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EEF6FF"/>
                </a:solidFill>
                <a:latin typeface="Microsoft YaHei"/>
              </a:rPr>
              <a:t>OS Agent 多源融合
记忆优化与高效应用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3756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A3BBD2"/>
                </a:solidFill>
                <a:latin typeface="Microsoft YaHei"/>
              </a:rPr>
              <a:t>有作用域 · 有证据 · 有生命周期 · 可冲突治理 · 可安全遗忘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892040"/>
            <a:ext cx="2926080" cy="64008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5DEC4"/>
                </a:solidFill>
                <a:latin typeface="Microsoft YaHei"/>
              </a:rPr>
              <a:t>Windows / V11 内部回归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4892040"/>
            <a:ext cx="2926080" cy="64008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C15C"/>
                </a:solidFill>
                <a:latin typeface="Microsoft YaHei"/>
              </a:rPr>
              <a:t>正式提交仍为 INCOMPLETE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807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3BBD2"/>
                </a:solidFill>
                <a:latin typeface="Microsoft YaHei"/>
              </a:rPr>
              <a:t>第五轮逐请求实测稿 ·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01  为什么 OS Agent 需要新的记忆系统？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43000"/>
            <a:ext cx="5166360" cy="17373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44168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6F7E"/>
                </a:solidFill>
                <a:latin typeface="Microsoft YaHei"/>
              </a:rPr>
              <a:t>偏好失真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EF6FF"/>
                </a:solidFill>
                <a:latin typeface="Microsoft YaHei"/>
              </a:rPr>
              <a:t>复合偏好被压成单标签；失败工具也可能被学习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143000"/>
            <a:ext cx="5166360" cy="17373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344168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C15C"/>
                </a:solidFill>
                <a:latin typeface="Microsoft YaHei"/>
              </a:rPr>
              <a:t>知识冲突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856232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EF6FF"/>
                </a:solidFill>
                <a:latin typeface="Microsoft YaHei"/>
              </a:rPr>
              <a:t>新旧规则同时返回；矛盾文本被简单拼接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83280"/>
            <a:ext cx="5166360" cy="17373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84448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5393FF"/>
                </a:solidFill>
                <a:latin typeface="Microsoft YaHei"/>
              </a:rPr>
              <a:t>检索退化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96512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EF6FF"/>
                </a:solidFill>
                <a:latin typeface="Microsoft YaHei"/>
              </a:rPr>
              <a:t>全库向量计算导致端侧时延和资源不可控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383280"/>
            <a:ext cx="5166360" cy="17373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584448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45DEC4"/>
                </a:solidFill>
                <a:latin typeface="Microsoft YaHei"/>
              </a:rPr>
              <a:t>安全失控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096512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EF6FF"/>
                </a:solidFill>
                <a:latin typeface="Microsoft YaHei"/>
              </a:rPr>
              <a:t>敏感信息残留、跨用户串读、模糊指令误删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45DEC4"/>
                </a:solidFill>
                <a:latin typeface="Microsoft YaHei"/>
              </a:rPr>
              <a:t>目标：让记忆从“历史堆叠”变成可治理、可评测、可撤回的端侧基础设施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02  赛题要求与交付闭环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3258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3DE8B"/>
                </a:solidFill>
                <a:latin typeface="Microsoft YaHei"/>
              </a:rPr>
              <a:t>多源融合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6 类事件统一模型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4300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3258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5DEC4"/>
                </a:solidFill>
                <a:latin typeface="Microsoft YaHei"/>
              </a:rPr>
              <a:t>动态偏好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801368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多维键 + 时间衰减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14300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13258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C15C"/>
                </a:solidFill>
                <a:latin typeface="Microsoft YaHei"/>
              </a:rPr>
              <a:t>知识冲突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801368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默认隔离 + 可追溯决策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2004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393FF"/>
                </a:solidFill>
                <a:latin typeface="Microsoft YaHei"/>
              </a:rPr>
              <a:t>≤500ms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75887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候选召回 + 向量缓存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01752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2004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F7E"/>
                </a:solidFill>
                <a:latin typeface="Microsoft YaHei"/>
              </a:rPr>
              <a:t>安全遗忘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675887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预览 + 确认 + 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017520"/>
            <a:ext cx="3429000" cy="141732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2004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5DEC4"/>
                </a:solidFill>
                <a:latin typeface="Microsoft YaHei"/>
              </a:rPr>
              <a:t>短中长期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3675887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TTL + 聚合 + 晋升门控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0927080" cy="68580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>代码 + SQLite + 服务/API + Web 演示 + 分区评测 + 性能/环境报告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03  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24128"/>
            <a:ext cx="1874519" cy="56692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6FF"/>
                </a:solidFill>
                <a:latin typeface="Microsoft YaHei"/>
              </a:rPr>
              <a:t>工具结果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024128"/>
            <a:ext cx="1874519" cy="56692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6FF"/>
                </a:solidFill>
                <a:latin typeface="Microsoft YaHei"/>
              </a:rPr>
              <a:t>用户行为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024128"/>
            <a:ext cx="1874519" cy="56692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6FF"/>
                </a:solidFill>
                <a:latin typeface="Microsoft YaHei"/>
              </a:rPr>
              <a:t>手动配置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024128"/>
            <a:ext cx="1874519" cy="56692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6FF"/>
                </a:solidFill>
                <a:latin typeface="Microsoft YaHei"/>
              </a:rPr>
              <a:t>会话/系统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024128"/>
            <a:ext cx="1874519" cy="56692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6FF"/>
                </a:solidFill>
                <a:latin typeface="Microsoft YaHei"/>
              </a:rPr>
              <a:t>导入文档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09344"/>
            <a:ext cx="0" cy="356616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97280" y="1965960"/>
            <a:ext cx="9966960" cy="64008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45DEC4"/>
                </a:solidFill>
                <a:latin typeface="Microsoft YaHei"/>
              </a:rPr>
              <a:t>校验 → UTC → 去重 → 递归脱敏 → 记忆污染检测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624328"/>
            <a:ext cx="0" cy="347472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2971800"/>
            <a:ext cx="4251960" cy="713232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63DE8B"/>
                </a:solidFill>
                <a:latin typeface="Microsoft YaHei"/>
              </a:rPr>
              <a:t>多维偏好记忆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971800"/>
            <a:ext cx="4251960" cy="713232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C15C"/>
                </a:solidFill>
                <a:latin typeface="Microsoft YaHei"/>
              </a:rPr>
              <a:t>结构化知识记忆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27832" y="3703320"/>
            <a:ext cx="1435608" cy="45720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98079" y="3703320"/>
            <a:ext cx="1435609" cy="45720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20440" y="4160520"/>
            <a:ext cx="5120640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EF6FF"/>
                </a:solidFill>
                <a:latin typeface="Microsoft YaHei"/>
              </a:rPr>
              <a:t>短期 TTL → 中期聚合 → 长期门控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4892040"/>
            <a:ext cx="0" cy="32004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5230368"/>
            <a:ext cx="2514600" cy="69494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SQLite v2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5230368"/>
            <a:ext cx="2514600" cy="69494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冲突治理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3096" y="5230368"/>
            <a:ext cx="2514600" cy="69494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混合检索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5230368"/>
            <a:ext cx="2514600" cy="69494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安全遗忘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04  多维偏好：不再用一个标签概括用户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偏好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语言 zh-CN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1097280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详略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4" y="1097280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格式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097280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结构 step-by-step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84832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本地处理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084832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先脱敏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2084832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高风险确认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2084832"/>
            <a:ext cx="2514600" cy="65836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场景工具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45DEC4"/>
                </a:solidFill>
                <a:latin typeface="Microsoft YaHei"/>
              </a:rPr>
              <a:t>证据评分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5212080" cy="123444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EEF6FF"/>
                </a:solidFill>
                <a:latin typeface="Microsoft YaHei"/>
              </a:rPr>
              <a:t>0.30 质量 + 0.35 权威
+ 0.20 时效 + 0.15 显式性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C15C"/>
                </a:solidFill>
                <a:latin typeface="Microsoft YaHei"/>
              </a:rPr>
              <a:t>决策机制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30 天半衰期，按事件时间而非输入顺序</a:t>
            </a:r>
          </a:p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失败/取消工具不得成为首选</a:t>
            </a:r>
          </a:p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同值聚合；变更生成新版本并闭合有效期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05  短期—中期—长期：拒绝一次性噪声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00400" cy="16002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393FF"/>
                </a:solidFill>
                <a:latin typeface="Microsoft YaHei"/>
              </a:rPr>
              <a:t>短期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EF6FF"/>
                </a:solidFill>
                <a:latin typeface="Microsoft YaHei"/>
              </a:rPr>
              <a:t>会话作用域
默认 TTL 30 分钟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59" y="2103120"/>
            <a:ext cx="484633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1325880"/>
            <a:ext cx="3200400" cy="16002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3619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5C"/>
                </a:solidFill>
                <a:latin typeface="Microsoft YaHei"/>
              </a:rPr>
              <a:t>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EF6FF"/>
                </a:solidFill>
                <a:latin typeface="Microsoft YaHei"/>
              </a:rPr>
              <a:t>主题聚合
次数 / 来源 / 质量 / 权威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103120"/>
            <a:ext cx="484631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1325880"/>
            <a:ext cx="3200400" cy="16002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53619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63DE8B"/>
                </a:solidFill>
                <a:latin typeface="Microsoft YaHei"/>
              </a:rPr>
              <a:t>长期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116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EF6FF"/>
                </a:solidFill>
                <a:latin typeface="Microsoft YaHei"/>
              </a:rPr>
              <a:t>晋升 / 拒绝
过期 / 降级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749039"/>
            <a:ext cx="10149840" cy="82296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EEF6FF"/>
                </a:solidFill>
                <a:latin typeface="Microsoft YaHei"/>
              </a:rPr>
              <a:t>晋升 = 0.30 质量 + 0.30 权威 + 0.25 重复 + 0.15 来源多样性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4983480"/>
            <a:ext cx="8229600" cy="6858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6F7E"/>
                </a:solidFill>
                <a:latin typeface="Microsoft YaHei"/>
              </a:rPr>
              <a:t>风险标记 → 分数 × 0.35 且拒绝晋升；每次决策保留可解释原因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06  知识冲突：先隔离，再决策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971800" cy="10515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C15C"/>
                </a:solidFill>
                <a:latin typeface="Microsoft YaHei"/>
              </a:rPr>
              <a:t>旧规则
允许先审批后补票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2971800" cy="105156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6F7E"/>
                </a:solidFill>
                <a:latin typeface="Microsoft YaHei"/>
              </a:rPr>
              <a:t>新规则
禁止先审批后补票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1664208"/>
            <a:ext cx="1024128" cy="0"/>
          </a:xfrm>
          <a:prstGeom prst="line">
            <a:avLst/>
          </a:prstGeom>
          <a:ln w="25400">
            <a:solidFill>
              <a:srgbClr val="FF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406640" y="1664208"/>
            <a:ext cx="1024128" cy="0"/>
          </a:xfrm>
          <a:prstGeom prst="line">
            <a:avLst/>
          </a:prstGeom>
          <a:ln w="25400">
            <a:solidFill>
              <a:srgbClr val="FF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1161288"/>
            <a:ext cx="2743200" cy="100584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conflict_pending
普通检索不可见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5DEC4"/>
                </a:solidFill>
                <a:latin typeface="Microsoft YaHei"/>
              </a:rPr>
              <a:t>自动决策优先级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01568"/>
            <a:ext cx="3886200" cy="9144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>authority → effective_time →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880360"/>
            <a:ext cx="5852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C15C"/>
                </a:solidFill>
                <a:latin typeface="Microsoft YaHei"/>
              </a:rPr>
              <a:t>支持策略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33756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接受新版本 / 保留旧版本 / 保留双方</a:t>
            </a:r>
          </a:p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证据合并（不拼接矛盾文本）</a:t>
            </a:r>
          </a:p>
          <a:p>
            <a:pPr>
              <a:spcAft>
                <a:spcPts val="1100"/>
              </a:spcAft>
              <a:defRPr sz="1500">
                <a:solidFill>
                  <a:srgbClr val="EEF6FF"/>
                </a:solidFill>
                <a:latin typeface="Microsoft YaHei"/>
              </a:defRPr>
            </a:pPr>
            <a:r>
              <a:t>•  差异不足进入人工复核队列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321808"/>
            <a:ext cx="9052560" cy="621792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>核心原则：未决知识宁可不回答，也不把冲突建议交给 OS Agent 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07  高效检索：候选召回 + 向量缓存 + 无答案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11680" cy="74980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作用域过滤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1792224"/>
            <a:ext cx="292608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62072" y="1417320"/>
            <a:ext cx="2011680" cy="74980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多路候选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73752" y="1792224"/>
            <a:ext cx="292608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21224" y="1417320"/>
            <a:ext cx="2011680" cy="74980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查询向量 ×1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32904" y="1792224"/>
            <a:ext cx="292608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0376" y="1417320"/>
            <a:ext cx="2011680" cy="74980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多粒度重排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92056" y="1792224"/>
            <a:ext cx="292608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939528" y="1417320"/>
            <a:ext cx="2011680" cy="749808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阈值/空答案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10378440" cy="841248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EF6FF"/>
                </a:solidFill>
                <a:latin typeface="Microsoft YaHei"/>
              </a:rPr>
              <a:t>中文：0.25 向量 + 0.25 词法 + 0.45 汉字覆盖 + 0.05 权威度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51960"/>
            <a:ext cx="306324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361688"/>
            <a:ext cx="27340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Windows / 10,000 条 P95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636008"/>
            <a:ext cx="2734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5393FF"/>
                </a:solidFill>
                <a:latin typeface="Microsoft YaHei"/>
              </a:rPr>
              <a:t>77.629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5120640"/>
            <a:ext cx="27340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80 个不同请求 / 实际服务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4251960"/>
            <a:ext cx="306324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4361688"/>
            <a:ext cx="27340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麒麟 V11 / 10,000 条 P95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4636008"/>
            <a:ext cx="2734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45DEC4"/>
                </a:solidFill>
                <a:latin typeface="Microsoft YaHei"/>
              </a:rPr>
              <a:t>156.977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5120640"/>
            <a:ext cx="27340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VMware / HashEmbedding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4251960"/>
            <a:ext cx="306324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361688"/>
            <a:ext cx="27340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固定配置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636008"/>
            <a:ext cx="2734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C15C"/>
                </a:solidFill>
                <a:latin typeface="Microsoft YaHei"/>
              </a:rPr>
              <a:t>256 维 / top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5120640"/>
            <a:ext cx="27340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阈值 0.265 / 不预热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33872"/>
            <a:ext cx="10378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C15C"/>
                </a:solidFill>
                <a:latin typeface="Microsoft YaHei"/>
              </a:rPr>
              <a:t>进程内 MemoryService.search，非 HTTP / Agent 推理；不是原生 SDK 性能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08  安全遗忘：可预览、可确认、可审计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自然语言指令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48256" y="1591056"/>
            <a:ext cx="237744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40864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作用域解析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05072" y="1591056"/>
            <a:ext cx="237744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影响预览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1591056"/>
            <a:ext cx="237744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54496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确认令牌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18704" y="1591056"/>
            <a:ext cx="237744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11312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删除+索引同步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0" y="1591056"/>
            <a:ext cx="237744" cy="0"/>
          </a:xfrm>
          <a:prstGeom prst="line">
            <a:avLst/>
          </a:prstGeom>
          <a:ln w="25400">
            <a:solidFill>
              <a:srgbClr val="45D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68128" y="1234440"/>
            <a:ext cx="1664208" cy="7132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F6FF"/>
                </a:solidFill>
                <a:latin typeface="Microsoft YaHei"/>
              </a:rPr>
              <a:t>审计回执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88920"/>
            <a:ext cx="5166360" cy="96012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935224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3DE8B"/>
                </a:solidFill>
                <a:latin typeface="Microsoft YaHei"/>
              </a:rPr>
              <a:t>跨用户误删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935224"/>
            <a:ext cx="3337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EF6FF"/>
                </a:solidFill>
                <a:latin typeface="Microsoft YaHei"/>
              </a:rPr>
              <a:t>tenant + user 强制绑定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88920"/>
            <a:ext cx="5166360" cy="96012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935224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393FF"/>
                </a:solidFill>
                <a:latin typeface="Microsoft YaHei"/>
              </a:rPr>
              <a:t>未确认删除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935224"/>
            <a:ext cx="3337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EF6FF"/>
                </a:solidFill>
                <a:latin typeface="Microsoft YaHei"/>
              </a:rPr>
              <a:t>预览阶段零修改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87368"/>
            <a:ext cx="5166360" cy="96012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233672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5DEC4"/>
                </a:solidFill>
                <a:latin typeface="Microsoft YaHei"/>
              </a:rPr>
              <a:t>残留向量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233672"/>
            <a:ext cx="3337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EF6FF"/>
                </a:solidFill>
                <a:latin typeface="Microsoft YaHei"/>
              </a:rPr>
              <a:t>正文、状态、倒排索引、向量同步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087368"/>
            <a:ext cx="5166360" cy="96012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233672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C15C"/>
                </a:solidFill>
                <a:latin typeface="Microsoft YaHei"/>
              </a:rPr>
              <a:t>审计泄露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4233672"/>
            <a:ext cx="3337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EF6FF"/>
                </a:solidFill>
                <a:latin typeface="Microsoft YaHei"/>
              </a:rPr>
              <a:t>不记录原指令和原始正文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2356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6F7E"/>
                </a:solidFill>
                <a:latin typeface="Microsoft YaHei"/>
              </a:rPr>
              <a:t>评测规则：授权集合之外多删任何目标，都计入误删率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09  可运行交付：核心、服务、SQLite 与本地仪表盘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78992"/>
            <a:ext cx="2148840" cy="78638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5393FF"/>
                </a:solidFill>
                <a:latin typeface="Microsoft YaHei"/>
              </a:rPr>
              <a:t>核心算法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2112" y="1078992"/>
            <a:ext cx="8046720" cy="786384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ingestion / preference / knowledge /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148840" cy="78638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45DEC4"/>
                </a:solidFill>
                <a:latin typeface="Microsoft YaHei"/>
              </a:rPr>
              <a:t>应用服务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2286000"/>
            <a:ext cx="8046720" cy="786384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ingest · search · conflicts · forget ·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93008"/>
            <a:ext cx="2148840" cy="78638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C15C"/>
                </a:solidFill>
                <a:latin typeface="Microsoft YaHei"/>
              </a:rPr>
              <a:t>持久化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3493008"/>
            <a:ext cx="8046720" cy="786384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SQLite v2 + v1 迁移 + 向量 + 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00016"/>
            <a:ext cx="2148840" cy="786384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3DE8B"/>
                </a:solidFill>
                <a:latin typeface="Microsoft YaHei"/>
              </a:rPr>
              <a:t>演示入口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2112" y="4700016"/>
            <a:ext cx="8046720" cy="786384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6FF"/>
                </a:solidFill>
                <a:latin typeface="Microsoft YaHei"/>
              </a:rPr>
              <a:t>localhost Web UI + JSON API + 一键预检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5559552"/>
            <a:ext cx="9555480" cy="530352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C15C"/>
                </a:solidFill>
                <a:latin typeface="Microsoft YaHei"/>
              </a:rPr>
              <a:t>默认监听 127.0.0.1；当前界面用于本地演示，不冒充生产级服务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10  冻结逐请求五项：内部达标，非官方认证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78992"/>
            <a:ext cx="3383280" cy="57607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偏好准确率 ≥85%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78992"/>
            <a:ext cx="187451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C15C"/>
                </a:solidFill>
                <a:latin typeface="Microsoft YaHei"/>
              </a:rPr>
              <a:t>100.00%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78992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3BBD2"/>
                </a:solidFill>
                <a:latin typeface="Microsoft YaHei"/>
              </a:rPr>
              <a:t>68 请求；完整键值集合匹配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83280" cy="57607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知识召回率 ≥85%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74519"/>
            <a:ext cx="187451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C15C"/>
                </a:solidFill>
                <a:latin typeface="Microsoft YaHei"/>
              </a:rPr>
              <a:t>100.00%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3BBD2"/>
                </a:solidFill>
                <a:latin typeface="Microsoft YaHei"/>
              </a:rPr>
              <a:t>60 正例；另查无答案/跨域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3383280" cy="57607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冲突正确率 ≥88%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70048"/>
            <a:ext cx="187451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C15C"/>
                </a:solidFill>
                <a:latin typeface="Microsoft YaHei"/>
              </a:rPr>
              <a:t>100.00%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7004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3BBD2"/>
                </a:solidFill>
                <a:latin typeface="Microsoft YaHei"/>
              </a:rPr>
              <a:t>60 对；检测和最终状态联合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65576"/>
            <a:ext cx="3383280" cy="57607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检索P95 ≤500ms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65576"/>
            <a:ext cx="187451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C15C"/>
                </a:solidFill>
                <a:latin typeface="Microsoft YaHei"/>
              </a:rPr>
              <a:t>77.629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65576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3BBD2"/>
                </a:solidFill>
                <a:latin typeface="Microsoft YaHei"/>
              </a:rPr>
              <a:t>80 查询；10,000 条 /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61104"/>
            <a:ext cx="3383280" cy="57607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EF6FF"/>
                </a:solidFill>
                <a:latin typeface="Microsoft YaHei"/>
              </a:rPr>
              <a:t>敏感F1 ≥90%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261104"/>
            <a:ext cx="187451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C15C"/>
                </a:solidFill>
                <a:latin typeface="Microsoft YaHei"/>
              </a:rPr>
              <a:t>100.00%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61104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3BBD2"/>
                </a:solidFill>
                <a:latin typeface="Microsoft YaHei"/>
              </a:rPr>
              <a:t>50 请求；实体 TP30/FP0/FN0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6858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45DEC4"/>
                </a:solidFill>
                <a:latin typeface="Microsoft YaHei"/>
              </a:rPr>
              <a:t>上表 Windows；V11 同套五项也通过，原始报告分别保存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3BBD2"/>
                </a:solidFill>
                <a:latin typeface="Microsoft YaHei"/>
              </a:rPr>
              <a:t>公开合成标签由开发者持有；保留失败基线；不等于第三方盲测、真实Agent或官方认证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11  自动化与安全证据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292608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25295"/>
            <a:ext cx="2596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Windows 自动化测试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99616"/>
            <a:ext cx="25968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3DE8B"/>
                </a:solidFill>
                <a:latin typeface="Microsoft YaHei"/>
              </a:rP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2596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通过状态与源码摘要见报告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115568"/>
            <a:ext cx="292608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225295"/>
            <a:ext cx="2596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V11 客户机自动化测试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499616"/>
            <a:ext cx="25968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5393FF"/>
                </a:solidFill>
                <a:latin typeface="Microsoft YaHei"/>
              </a:rPr>
              <a:t>164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984248"/>
            <a:ext cx="2596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磁盘安装 / VMware / 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115568"/>
            <a:ext cx="2926080" cy="123444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1225295"/>
            <a:ext cx="2596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BD2"/>
                </a:solidFill>
                <a:latin typeface="Microsoft YaHei"/>
              </a:rPr>
              <a:t>真实 SDK 单探针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1499616"/>
            <a:ext cx="25968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C15C"/>
                </a:solidFill>
                <a:latin typeface="Microsoft YaHei"/>
              </a:rPr>
              <a:t>768 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1984248"/>
            <a:ext cx="2596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BD2"/>
                </a:solidFill>
                <a:latin typeface="Microsoft YaHei"/>
              </a:rPr>
              <a:t>身份/质量/性能仍待验证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跨租户/用户串读与误删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80360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提示注入与记忆污染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21608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失败工具偏好污染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21608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未决冲突普通检索隔离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62856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硬删除 SQLite 重载无残留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562856"/>
            <a:ext cx="5166360" cy="585216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嵌套凭证递归脱敏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12  现场演示路径（约 2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24128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预检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1024128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区分本地通过与外部未验收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56232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56232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多源接入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856232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展示脱敏和偏好证据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88336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88336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知识检索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688336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场景过滤与无答案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52044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冲突治理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520440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待决隔离后自动/人工策略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52544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52544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安全遗忘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352544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预览影响范围，再确认删除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84648"/>
            <a:ext cx="566928" cy="566928"/>
          </a:xfrm>
          <a:prstGeom prst="roundRect">
            <a:avLst/>
          </a:prstGeom>
          <a:solidFill>
            <a:srgbClr val="45DEC4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7111F"/>
                </a:solidFill>
                <a:latin typeface="Microsoft Ya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184648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5DEC4"/>
                </a:solidFill>
                <a:latin typeface="Microsoft YaHei"/>
              </a:rPr>
              <a:t>评测证据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5184648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EF6FF"/>
                </a:solidFill>
                <a:latin typeface="Microsoft YaHei"/>
              </a:rPr>
              <a:t>五项逐请求、164 测试、V11 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5897880"/>
            <a:ext cx="6355080" cy="365760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393FF"/>
                </a:solidFill>
                <a:latin typeface="Microsoft YaHei"/>
              </a:rPr>
              <a:t>一键脚本：scripts/run_demo.ps1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13  证据边界与最后一公里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166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63DE8B"/>
                </a:solidFill>
                <a:latin typeface="Microsoft YaHei"/>
              </a:rPr>
              <a:t>已完成（可复现内部证据）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051560"/>
            <a:ext cx="5074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C15C"/>
                </a:solidFill>
                <a:latin typeface="Microsoft YaHei"/>
              </a:rPr>
              <a:t>继续验证与补齐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生命周期/显式授权门控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50008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增量事务与失败回滚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08376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服务/API/场景演示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66744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冻结逐请求五项回归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25112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V11磁盘安装与客户机实测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79"/>
            <a:ext cx="516636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63D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✓  旧ABI真实向量单探针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原生模型身份/向量库往返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350008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V11虚拟机赛事认可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008376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真实Agent与独立LLM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666744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知情同意案例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325112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最终视频（不超过7分钟）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983479"/>
            <a:ext cx="5074920" cy="484632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F6FF"/>
                </a:solidFill>
                <a:latin typeface="Microsoft YaHei"/>
              </a:rPr>
              <a:t>!  平台/报名/邮件回执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45DEC4"/>
                </a:solidFill>
                <a:latin typeface="Microsoft YaHei"/>
              </a:rPr>
              <a:t>当前准确表述：Windows/V11 内部回归达标；外部赛事验收尚未完成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EF6FF"/>
                </a:solidFill>
                <a:latin typeface="Microsoft YaHei"/>
              </a:rPr>
              <a:t>14 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2004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45DEC4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47104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BD2"/>
                </a:solidFill>
                <a:latin typeface="Microsoft YaHei"/>
              </a:rPr>
              <a:t>XA-202612  ·  OS Agent 记忆优化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287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EEF6FF"/>
                </a:solidFill>
                <a:latin typeface="Microsoft YaHei"/>
              </a:rPr>
              <a:t>从“记住更多”走向“记得正确、找得快速、忘得安全”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423160"/>
            <a:ext cx="3429000" cy="18288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249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45DEC4"/>
                </a:solidFill>
                <a:latin typeface="Microsoft YaHei"/>
              </a:rPr>
              <a:t>正确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101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EF6FF"/>
                </a:solidFill>
                <a:latin typeface="Microsoft YaHei"/>
              </a:rPr>
              <a:t>多维偏好 + 权威/时效证据 + 冲突隔离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2423160"/>
            <a:ext cx="3429000" cy="18288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53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4" y="27249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393FF"/>
                </a:solidFill>
                <a:latin typeface="Microsoft YaHei"/>
              </a:rPr>
              <a:t>高效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33101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EF6FF"/>
                </a:solidFill>
                <a:latin typeface="Microsoft YaHei"/>
              </a:rPr>
              <a:t>候选合并 + 向量缓存；V11 P95 156.977ms（Hash）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7615" y="2423160"/>
            <a:ext cx="3429000" cy="1828800"/>
          </a:xfrm>
          <a:prstGeom prst="roundRect">
            <a:avLst/>
          </a:prstGeom>
          <a:solidFill>
            <a:srgbClr val="112235"/>
          </a:solidFill>
          <a:ln w="15240"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EF6FF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27249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C15C"/>
                </a:solidFill>
                <a:latin typeface="Microsoft YaHei"/>
              </a:rPr>
              <a:t>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33101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EF6FF"/>
                </a:solidFill>
                <a:latin typeface="Microsoft YaHei"/>
              </a:rPr>
              <a:t>递归脱敏 + 作用域 + 两阶段遗忘 + 隐私审计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4892040"/>
            <a:ext cx="8229600" cy="713232"/>
          </a:xfrm>
          <a:prstGeom prst="roundRect">
            <a:avLst/>
          </a:prstGeom>
          <a:solidFill>
            <a:srgbClr val="183048"/>
          </a:solidFill>
          <a:ln w="15240">
            <a:solidFill>
              <a:srgbClr val="45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45DEC4"/>
                </a:solidFill>
                <a:latin typeface="Microsoft YaHei"/>
              </a:rPr>
              <a:t>下一步：原生模型复测 × 真实Agent × 独立盲测 × 授权案例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70448"/>
            <a:ext cx="10195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EF6FF"/>
                </a:solidFill>
                <a:latin typeface="Microsoft YaHei"/>
              </a:rPr>
              <a:t>谢谢各位老师，欢迎提问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Agent 记忆优化：第五轮内部验证</dc:title>
  <dc:subject>XA-202612 公开合成回归；正式提交 INCOMPLETE</dc:subject>
  <dc:creator/>
  <cp:keywords/>
  <dc:description>从第五轮原始证据生成，不构成独立盲测或官方认证。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