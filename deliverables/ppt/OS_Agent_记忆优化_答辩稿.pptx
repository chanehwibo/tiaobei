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5D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2412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挑战杯“揭榜挂帅” · XA-202612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2412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EEF6FF"/>
                </a:solidFill>
                <a:latin typeface="Microsoft YaHei"/>
              </a:rPr>
              <a:t>OS Agent 多源融合
记忆优化与高效应用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337560"/>
            <a:ext cx="9692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A3BBD2"/>
                </a:solidFill>
                <a:latin typeface="Microsoft YaHei"/>
              </a:rPr>
              <a:t>有作用域 · 有证据 · 有生命周期 · 可冲突治理 · 可安全遗忘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4892040"/>
            <a:ext cx="2926080" cy="64008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5DEC4"/>
                </a:solidFill>
                <a:latin typeface="Microsoft YaHei"/>
              </a:rPr>
              <a:t>核心原型与开发机验证完成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4892040"/>
            <a:ext cx="2926080" cy="64008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C15C"/>
                </a:solidFill>
                <a:latin typeface="Microsoft YaHei"/>
              </a:rPr>
              <a:t>真实麒麟 + SDK 待验收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80760"/>
            <a:ext cx="104241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3BBD2"/>
                </a:solidFill>
                <a:latin typeface="Microsoft YaHei"/>
              </a:rPr>
              <a:t>第三轮开发机答辩稿 · 2026-09-06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01  为什么 OS Agent 需要新的记忆系统？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4300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34416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FF6F7E"/>
                </a:solidFill>
                <a:latin typeface="Microsoft YaHei"/>
              </a:rPr>
              <a:t>偏好失真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85623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复合偏好被压成单标签；失败工具也可能被学习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1928" y="114300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6248" y="134416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FFC15C"/>
                </a:solidFill>
                <a:latin typeface="Microsoft YaHei"/>
              </a:rPr>
              <a:t>知识冲突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6248" y="185623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新旧规则同时返回；矛盾文本被简单拼接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8328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58444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5393FF"/>
                </a:solidFill>
                <a:latin typeface="Microsoft YaHei"/>
              </a:rPr>
              <a:t>检索退化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9651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全库向量计算导致端侧时延和资源不可控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1928" y="338328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358444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45DEC4"/>
                </a:solidFill>
                <a:latin typeface="Microsoft YaHei"/>
              </a:rPr>
              <a:t>安全失控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409651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敏感信息残留、跨用户串读、模糊指令误删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7150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45DEC4"/>
                </a:solidFill>
                <a:latin typeface="Microsoft YaHei"/>
              </a:rPr>
              <a:t>目标：让记忆从“历史堆叠”变成可治理、可评测、可撤回的端侧基础设施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02  赛题要求与交付闭环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需求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14300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32588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63DE8B"/>
                </a:solidFill>
                <a:latin typeface="Microsoft YaHei"/>
              </a:rPr>
              <a:t>多源融合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801368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6 类事件统一模型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14300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1728" y="132588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45DEC4"/>
                </a:solidFill>
                <a:latin typeface="Microsoft YaHei"/>
              </a:rPr>
              <a:t>动态偏好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1801368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多维键 + 时间衰减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14300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132588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C15C"/>
                </a:solidFill>
                <a:latin typeface="Microsoft YaHei"/>
              </a:rPr>
              <a:t>知识冲突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6488" y="1801368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默认隔离 + 可追溯决策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01752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20040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5393FF"/>
                </a:solidFill>
                <a:latin typeface="Microsoft YaHei"/>
              </a:rPr>
              <a:t>≤500ms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675887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候选召回 + 向量缓存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01752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320040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6F7E"/>
                </a:solidFill>
                <a:latin typeface="Microsoft YaHei"/>
              </a:rPr>
              <a:t>安全遗忘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3675887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预览 + 确认 + 审计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301752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320040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45DEC4"/>
                </a:solidFill>
                <a:latin typeface="Microsoft YaHei"/>
              </a:rPr>
              <a:t>短中长期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6488" y="3675887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TTL + 聚合 + 晋升门控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257800"/>
            <a:ext cx="10927080" cy="68580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>代码 + SQLite + 服务/API + Web 演示 + 分区评测 + 性能/环境报告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03  系统总体架构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工具结果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用户行为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6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手动配置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会话/系统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38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导入文档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1609344"/>
            <a:ext cx="0" cy="356616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097280" y="1965960"/>
            <a:ext cx="9966960" cy="64008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45DEC4"/>
                </a:solidFill>
                <a:latin typeface="Microsoft YaHei"/>
              </a:rPr>
              <a:t>校验 → UTC → 去重 → 递归脱敏 → 记忆污染检测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80760" y="2624328"/>
            <a:ext cx="0" cy="347472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97280" y="2971800"/>
            <a:ext cx="4251960" cy="71323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63DE8B"/>
                </a:solidFill>
                <a:latin typeface="Microsoft YaHei"/>
              </a:rPr>
              <a:t>多维偏好记忆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2971800"/>
            <a:ext cx="4251960" cy="71323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C15C"/>
                </a:solidFill>
                <a:latin typeface="Microsoft YaHei"/>
              </a:rPr>
              <a:t>结构化知识记忆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27832" y="3703320"/>
            <a:ext cx="1435608" cy="45720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7498079" y="3703320"/>
            <a:ext cx="1435609" cy="45720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520440" y="4160520"/>
            <a:ext cx="5120640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EEF6FF"/>
                </a:solidFill>
                <a:latin typeface="Microsoft YaHei"/>
              </a:rPr>
              <a:t>短期 TTL → 中期聚合 → 长期门控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4892040"/>
            <a:ext cx="0" cy="32004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SQLite v2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0168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冲突治理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3096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混合检索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6024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安全遗忘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04  多维偏好：不再用一个标签概括用户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偏好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语言 zh-CN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02152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详略 brief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18504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格式 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34856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结构 step-by-step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本地处理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2152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先脱敏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18504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高风险确认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34856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场景工具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37560"/>
            <a:ext cx="5120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45DEC4"/>
                </a:solidFill>
                <a:latin typeface="Microsoft YaHei"/>
              </a:rPr>
              <a:t>证据评分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840480"/>
            <a:ext cx="5212080" cy="123444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EEF6FF"/>
                </a:solidFill>
                <a:latin typeface="Microsoft YaHei"/>
              </a:rPr>
              <a:t>0.30 质量 + 0.35 权威
+ 0.20 时效 + 0.15 显式性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337560"/>
            <a:ext cx="4754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FFC15C"/>
                </a:solidFill>
                <a:latin typeface="Microsoft YaHei"/>
              </a:rPr>
              <a:t>决策机制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749039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30 天半衰期，按事件时间而非输入顺序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失败/取消工具不得成为首选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同值聚合；变更生成新版本并闭合有效期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05  短期—中期—长期：拒绝一次性噪声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生命周期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325880"/>
            <a:ext cx="3200400" cy="16002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536192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5393FF"/>
                </a:solidFill>
                <a:latin typeface="Microsoft YaHei"/>
              </a:rPr>
              <a:t>短期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EF6FF"/>
                </a:solidFill>
                <a:latin typeface="Microsoft YaHei"/>
              </a:rPr>
              <a:t>会话作用域
默认 TTL 30 分钟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59" y="2103120"/>
            <a:ext cx="484633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617720" y="1325880"/>
            <a:ext cx="3200400" cy="16002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536192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FFC15C"/>
                </a:solidFill>
                <a:latin typeface="Microsoft YaHei"/>
              </a:rPr>
              <a:t>中期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01168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EF6FF"/>
                </a:solidFill>
                <a:latin typeface="Microsoft YaHei"/>
              </a:rPr>
              <a:t>主题聚合
次数 / 来源 / 质量 / 权威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63840" y="2103120"/>
            <a:ext cx="484631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458200" y="1325880"/>
            <a:ext cx="3200400" cy="16002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1536192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63DE8B"/>
                </a:solidFill>
                <a:latin typeface="Microsoft YaHei"/>
              </a:rPr>
              <a:t>长期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01168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EF6FF"/>
                </a:solidFill>
                <a:latin typeface="Microsoft YaHei"/>
              </a:rPr>
              <a:t>晋升 / 拒绝
过期 / 降级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749039"/>
            <a:ext cx="10149840" cy="82296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EEF6FF"/>
                </a:solidFill>
                <a:latin typeface="Microsoft YaHei"/>
              </a:rPr>
              <a:t>晋升 = 0.30 质量 + 0.30 权威 + 0.25 重复 + 0.15 来源多样性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65960" y="4983480"/>
            <a:ext cx="8229600" cy="685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6F7E"/>
                </a:solidFill>
                <a:latin typeface="Microsoft YaHei"/>
              </a:rPr>
              <a:t>风险标记 → 分数 × 0.35 且拒绝晋升；每次决策保留可解释原因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06  知识冲突：先隔离，再决策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冲突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2971800" cy="10515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C15C"/>
                </a:solidFill>
                <a:latin typeface="Microsoft YaHei"/>
              </a:rPr>
              <a:t>旧规则
允许先审批后补票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58200" y="1143000"/>
            <a:ext cx="2971800" cy="10515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6F7E"/>
                </a:solidFill>
                <a:latin typeface="Microsoft YaHei"/>
              </a:rPr>
              <a:t>新规则
禁止先审批后补票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730752" y="1664208"/>
            <a:ext cx="1024128" cy="0"/>
          </a:xfrm>
          <a:prstGeom prst="line">
            <a:avLst/>
          </a:prstGeom>
          <a:ln w="25400">
            <a:solidFill>
              <a:srgbClr val="FF6F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7406640" y="1664208"/>
            <a:ext cx="1024128" cy="0"/>
          </a:xfrm>
          <a:prstGeom prst="line">
            <a:avLst/>
          </a:prstGeom>
          <a:ln w="25400">
            <a:solidFill>
              <a:srgbClr val="FF6F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709160" y="1161288"/>
            <a:ext cx="2743200" cy="100584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EF6FF"/>
                </a:solidFill>
                <a:latin typeface="Microsoft YaHei"/>
              </a:rPr>
              <a:t>conflict_pending
普通检索不可见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3840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45DEC4"/>
                </a:solidFill>
                <a:latin typeface="Microsoft YaHei"/>
              </a:rPr>
              <a:t>自动决策优先级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401568"/>
            <a:ext cx="3886200" cy="9144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>authority → effective_time → version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2880360"/>
            <a:ext cx="5852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C15C"/>
                </a:solidFill>
                <a:latin typeface="Microsoft YaHei"/>
              </a:rPr>
              <a:t>支持策略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333756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接受新版本 / 保留旧版本 / 保留双方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证据合并（不拼接矛盾文本）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差异不足进入人工复核队列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54480" y="5321808"/>
            <a:ext cx="9052560" cy="62179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>核心原则：未决知识宁可不回答，也不把冲突建议交给 OS Agent 执行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07  高效检索：候选召回 + 向量缓存 + 无答案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检索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作用域过滤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862072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多路候选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73752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221224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查询向量 ×1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232904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580376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多粒度重排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592056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939528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阈值/空答案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788920"/>
            <a:ext cx="10378440" cy="84124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EEF6FF"/>
                </a:solidFill>
                <a:latin typeface="Microsoft YaHei"/>
              </a:rPr>
              <a:t>中文：0.25 向量 + 0.25 词法 + 0.45 汉字覆盖 + 0.05 权威度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" y="4251960"/>
            <a:ext cx="30632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" y="4361688"/>
            <a:ext cx="27340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10,000 条冷查询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" y="4636008"/>
            <a:ext cx="2734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5393FF"/>
                </a:solidFill>
                <a:latin typeface="Microsoft YaHei"/>
              </a:rPr>
              <a:t>246.796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" y="5120640"/>
            <a:ext cx="27340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Windows / HashEmbedding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53712" y="4251960"/>
            <a:ext cx="30632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4" y="4361688"/>
            <a:ext cx="27340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10,000 条热 p99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8304" y="4636008"/>
            <a:ext cx="2734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45DEC4"/>
                </a:solidFill>
                <a:latin typeface="Microsoft YaHei"/>
              </a:rPr>
              <a:t>362.265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18304" y="5120640"/>
            <a:ext cx="27340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门槛：≤ 500ms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4251960"/>
            <a:ext cx="30632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1896" y="4361688"/>
            <a:ext cx="27340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SQLite 体积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4636008"/>
            <a:ext cx="2734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C15C"/>
                </a:solidFill>
                <a:latin typeface="Microsoft YaHei"/>
              </a:rPr>
              <a:t>39.984 MB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5120640"/>
            <a:ext cx="27340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含缓存向量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833872"/>
            <a:ext cx="10378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C15C"/>
                </a:solidFill>
                <a:latin typeface="Microsoft YaHei"/>
              </a:rPr>
              <a:t>注意：开发机回退模型证据，不替代真实银河麒麟 SDK 性能验收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08  安全遗忘：可预览、可确认、可审计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自然语言指令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48256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340864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作用域解析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05072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影响预览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61888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54496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确认令牌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918704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11312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删除+索引同步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875520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168128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审计回执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788920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2935224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63DE8B"/>
                </a:solidFill>
                <a:latin typeface="Microsoft YaHei"/>
              </a:rPr>
              <a:t>跨用户误删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2935224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tenant + user 强制绑定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2788920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935224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393FF"/>
                </a:solidFill>
                <a:latin typeface="Microsoft YaHei"/>
              </a:rPr>
              <a:t>未确认删除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8" y="2935224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预览阶段零修改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087368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233672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45DEC4"/>
                </a:solidFill>
                <a:latin typeface="Microsoft YaHei"/>
              </a:rPr>
              <a:t>残留向量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4233672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正文、状态、倒排索引、向量同步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4087368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233672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C15C"/>
                </a:solidFill>
                <a:latin typeface="Microsoft YaHei"/>
              </a:rPr>
              <a:t>审计泄露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82128" y="4233672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不记录原指令和原始正文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623560"/>
            <a:ext cx="10607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6F7E"/>
                </a:solidFill>
                <a:latin typeface="Microsoft YaHei"/>
              </a:rPr>
              <a:t>评测规则：授权集合之外多删任何目标，都计入误删率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09  可运行交付：核心、服务、SQLite 与本地仪表盘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078992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5393FF"/>
                </a:solidFill>
                <a:latin typeface="Microsoft YaHei"/>
              </a:rPr>
              <a:t>核心算法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82112" y="1078992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ingestion / preference / knowledge / lifecycle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45DEC4"/>
                </a:solidFill>
                <a:latin typeface="Microsoft YaHei"/>
              </a:rPr>
              <a:t>应用服务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82112" y="2286000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ingest · search · conflicts · forget · stats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93008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C15C"/>
                </a:solidFill>
                <a:latin typeface="Microsoft YaHei"/>
              </a:rPr>
              <a:t>持久化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82112" y="3493008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SQLite v2 + v1 迁移 + 向量 + 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700016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63DE8B"/>
                </a:solidFill>
                <a:latin typeface="Microsoft YaHei"/>
              </a:rPr>
              <a:t>演示入口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82112" y="4700016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localhost Web UI + JSON API + 一键预检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25880" y="5559552"/>
            <a:ext cx="9555480" cy="53035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C15C"/>
                </a:solidFill>
                <a:latin typeface="Microsoft YaHei"/>
              </a:rPr>
              <a:t>默认监听 127.0.0.1；当前界面用于本地演示，不冒充生产级服务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10  评测体系：开始惩罚“多报、误删、乱答”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26060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252728"/>
            <a:ext cx="22768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正例 Recall@3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527048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45DEC4"/>
                </a:solidFill>
                <a:latin typeface="Microsoft YaHei"/>
              </a:rPr>
              <a:t>0.9167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011680"/>
            <a:ext cx="22768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v3 test · 12 正例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143000"/>
            <a:ext cx="26060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1252728"/>
            <a:ext cx="22768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无答案正确率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527048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5393FF"/>
                </a:solidFill>
                <a:latin typeface="Microsoft YaHei"/>
              </a:rPr>
              <a:t>1.0000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11680"/>
            <a:ext cx="22768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v3 test · 6 无答案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43000"/>
            <a:ext cx="26060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1252728"/>
            <a:ext cx="22768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平衡得分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527048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63DE8B"/>
                </a:solidFill>
                <a:latin typeface="Microsoft YaHei"/>
              </a:rPr>
              <a:t>0.9583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011680"/>
            <a:ext cx="22768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召回与拒答平均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143000"/>
            <a:ext cx="26060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1252728"/>
            <a:ext cx="22768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内部质量目标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5712" y="1527048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45DEC4"/>
                </a:solidFill>
                <a:latin typeface="Microsoft YaHei"/>
              </a:rPr>
              <a:t>两项已满足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5712" y="2011680"/>
            <a:ext cx="22768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两项分别 ≥ 0.85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907792"/>
            <a:ext cx="5303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EEF6FF"/>
                </a:solidFill>
                <a:latin typeface="Microsoft YaHei"/>
              </a:rPr>
              <a:t>42 事件 · 18 主题 · 54 查询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401568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正文/模板族跨分区交集为零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统一阈值 0.265 仅由 dev 选择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词法/向量/混合对照：不宣称全面领先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926080"/>
            <a:ext cx="5074920" cy="21945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6F7E"/>
                </a:solidFill>
                <a:latin typeface="Microsoft YaHei"/>
              </a:rPr>
              <a:t>公开 test 标签
= 冻结回归分区
≠ 第三方独立盲测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806440"/>
            <a:ext cx="107899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C15C"/>
                </a:solidFill>
                <a:latin typeface="Microsoft YaHei"/>
              </a:rPr>
              <a:t>合成小集上的 1.0 不能外推到开放真实数据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11  自动化与安全证据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15568"/>
            <a:ext cx="292608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225295"/>
            <a:ext cx="2596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自动化测试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499616"/>
            <a:ext cx="259689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63DE8B"/>
                </a:solidFill>
                <a:latin typeface="Microsoft YaHei"/>
              </a:rPr>
              <a:t>91 项通过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984248"/>
            <a:ext cx="259689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单元 + 集成 + E2E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69080" y="1115568"/>
            <a:ext cx="292608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33672" y="1225295"/>
            <a:ext cx="2596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规模覆盖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3672" y="1499616"/>
            <a:ext cx="259689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5393FF"/>
                </a:solidFill>
                <a:latin typeface="Microsoft YaHei"/>
              </a:rPr>
              <a:t>100 → 10,000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33672" y="1984248"/>
            <a:ext cx="259689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冷/热/资源/磁盘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115568"/>
            <a:ext cx="292608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1231" y="1225295"/>
            <a:ext cx="2596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环境判定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1231" y="1499616"/>
            <a:ext cx="259689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C15C"/>
                </a:solidFill>
                <a:latin typeface="Microsoft YaHei"/>
              </a:rPr>
              <a:t>分层报告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1984248"/>
            <a:ext cx="259689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本地 ≠ 麒麟 ≠ SDK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880360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跨租户/用户串读与误删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880360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提示注入与记忆污染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721608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失败工具偏好污染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721608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未决冲突普通检索隔离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562856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硬删除 SQLite 重载无残留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562856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嵌套凭证递归脱敏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12  现场演示路径（约 2 分钟）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024128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1024128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预检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1568" y="1024128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区分本地通过与外部未验收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56232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" y="1856232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多源接入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1856232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展示脱敏和偏好证据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688336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688336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知识检索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88336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场景过滤与无答案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520440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520440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冲突治理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3520440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待决隔离后自动/人工策略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352544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352544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安全遗忘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1568" y="4352544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预览影响范围，再确认删除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184648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184648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评测证据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1568" y="5184648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v3 对照、91 测试、10k 性能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26080" y="5897880"/>
            <a:ext cx="6355080" cy="36576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393FF"/>
                </a:solidFill>
                <a:latin typeface="Microsoft YaHei"/>
              </a:rPr>
              <a:t>一键脚本：scripts/run_demo.ps1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13  证据边界与最后一公里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51663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63DE8B"/>
                </a:solidFill>
                <a:latin typeface="Microsoft YaHei"/>
              </a:rPr>
              <a:t>已完成（代码与开发机证据）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051560"/>
            <a:ext cx="5074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C15C"/>
                </a:solidFill>
                <a:latin typeface="Microsoft YaHei"/>
              </a:rPr>
              <a:t>必须人工/外部完成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统一生命周期门控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50008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增量事务与失败回滚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08376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服务/API/场景演示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66744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v3 隔离分区与对照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325112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10k 检索 + 实际服务负载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83479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作用域与重启安全测试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691640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真实 Kylin SDK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350008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真实银河麒麟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3008376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独立盲测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3666744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知情同意案例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4325112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最终视频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83479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平台/邮件回执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70448"/>
            <a:ext cx="106070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45DEC4"/>
                </a:solidFill>
                <a:latin typeface="Microsoft YaHei"/>
              </a:rPr>
              <a:t>当前准确表述：核心原型与开发机验证完成，赛题指定环境待验收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14  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143000"/>
            <a:ext cx="10287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900" b="1">
                <a:solidFill>
                  <a:srgbClr val="EEF6FF"/>
                </a:solidFill>
                <a:latin typeface="Microsoft YaHei"/>
              </a:rPr>
              <a:t>从“记住更多”走向“记得正确、找得快速、忘得安全”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423160"/>
            <a:ext cx="3429000" cy="1828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724912"/>
            <a:ext cx="2971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45DEC4"/>
                </a:solidFill>
                <a:latin typeface="Microsoft YaHei"/>
              </a:rPr>
              <a:t>正确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1012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EF6FF"/>
                </a:solidFill>
                <a:latin typeface="Microsoft YaHei"/>
              </a:rPr>
              <a:t>多维偏好 + 权威/时效证据 + 冲突隔离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35424" y="2423160"/>
            <a:ext cx="3429000" cy="1828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2724912"/>
            <a:ext cx="2971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5393FF"/>
                </a:solidFill>
                <a:latin typeface="Microsoft YaHei"/>
              </a:rPr>
              <a:t>高效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8032" y="331012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EF6FF"/>
                </a:solidFill>
                <a:latin typeface="Microsoft YaHei"/>
              </a:rPr>
              <a:t>候选合并 + 向量缓存；10k 开发机 p99 362.265ms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7615" y="2423160"/>
            <a:ext cx="3429000" cy="1828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724912"/>
            <a:ext cx="2971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C15C"/>
                </a:solidFill>
                <a:latin typeface="Microsoft YaHei"/>
              </a:rPr>
              <a:t>安全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50224" y="331012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EF6FF"/>
                </a:solidFill>
                <a:latin typeface="Microsoft YaHei"/>
              </a:rPr>
              <a:t>递归脱敏 + 作用域 + 两阶段遗忘 + 隐私审计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65960" y="4892040"/>
            <a:ext cx="8229600" cy="71323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45DEC4"/>
                </a:solidFill>
                <a:latin typeface="Microsoft YaHei"/>
              </a:rPr>
              <a:t>下一步：真实 SDK × 真实银河麒麟 × 独立盲测 × 授权案例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870448"/>
            <a:ext cx="10195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EEF6FF"/>
                </a:solidFill>
                <a:latin typeface="Microsoft YaHei"/>
              </a:rPr>
              <a:t>谢谢各位老师，欢迎提问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