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5D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2412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45DEC4"/>
                </a:solidFill>
                <a:latin typeface="Microsoft YaHei"/>
              </a:rPr>
              <a:t>挑战杯“揭榜挂帅” · XA-202612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102412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EEF6FF"/>
                </a:solidFill>
                <a:latin typeface="Microsoft YaHei"/>
              </a:rPr>
              <a:t>OS Agent 多源融合
记忆优化与高效应用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337560"/>
            <a:ext cx="96926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A3BBD2"/>
                </a:solidFill>
                <a:latin typeface="Microsoft YaHei"/>
              </a:rPr>
              <a:t>有作用域 · 有证据 · 有生命周期 · 可冲突治理 · 可安全遗忘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4892040"/>
            <a:ext cx="2926080" cy="640080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45DEC4"/>
                </a:solidFill>
                <a:latin typeface="Microsoft YaHei"/>
              </a:rPr>
              <a:t>核心原型与开发机验证完成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977639" y="4892040"/>
            <a:ext cx="2926080" cy="640080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C15C"/>
                </a:solidFill>
                <a:latin typeface="Microsoft YaHei"/>
              </a:rPr>
              <a:t>真实麒麟 + SDK 待验收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6080760"/>
            <a:ext cx="1042416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A3BBD2"/>
                </a:solidFill>
                <a:latin typeface="Microsoft YaHei"/>
              </a:rPr>
              <a:t>第二轮开发机答辩稿 · 2026-09-06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01  为什么 OS Agent 需要新的记忆系统？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02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143000"/>
            <a:ext cx="5166360" cy="173736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6F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1344168"/>
            <a:ext cx="46177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1">
                <a:solidFill>
                  <a:srgbClr val="FF6F7E"/>
                </a:solidFill>
                <a:latin typeface="Microsoft YaHei"/>
              </a:rPr>
              <a:t>偏好失真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1856232"/>
            <a:ext cx="4617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EEF6FF"/>
                </a:solidFill>
                <a:latin typeface="Microsoft YaHei"/>
              </a:rPr>
              <a:t>复合偏好被压成单标签；失败工具也可能被学习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81928" y="1143000"/>
            <a:ext cx="5166360" cy="173736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56248" y="1344168"/>
            <a:ext cx="46177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1">
                <a:solidFill>
                  <a:srgbClr val="FFC15C"/>
                </a:solidFill>
                <a:latin typeface="Microsoft YaHei"/>
              </a:rPr>
              <a:t>知识冲突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6248" y="1856232"/>
            <a:ext cx="4617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EEF6FF"/>
                </a:solidFill>
                <a:latin typeface="Microsoft YaHei"/>
              </a:rPr>
              <a:t>新旧规则同时返回；矛盾文本被简单拼接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383280"/>
            <a:ext cx="5166360" cy="173736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3584448"/>
            <a:ext cx="46177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1">
                <a:solidFill>
                  <a:srgbClr val="5393FF"/>
                </a:solidFill>
                <a:latin typeface="Microsoft YaHei"/>
              </a:rPr>
              <a:t>检索退化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096512"/>
            <a:ext cx="4617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EEF6FF"/>
                </a:solidFill>
                <a:latin typeface="Microsoft YaHei"/>
              </a:rPr>
              <a:t>全库向量计算导致端侧时延和资源不可控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81928" y="3383280"/>
            <a:ext cx="5166360" cy="173736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6248" y="3584448"/>
            <a:ext cx="46177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1">
                <a:solidFill>
                  <a:srgbClr val="45DEC4"/>
                </a:solidFill>
                <a:latin typeface="Microsoft YaHei"/>
              </a:rPr>
              <a:t>安全失控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4096512"/>
            <a:ext cx="4617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EEF6FF"/>
                </a:solidFill>
                <a:latin typeface="Microsoft YaHei"/>
              </a:rPr>
              <a:t>敏感信息残留、跨用户串读、模糊指令误删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715000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900" b="1">
                <a:solidFill>
                  <a:srgbClr val="45DEC4"/>
                </a:solidFill>
                <a:latin typeface="Microsoft YaHei"/>
              </a:rPr>
              <a:t>目标：让记忆从“历史堆叠”变成可治理、可评测、可撤回的端侧基础设施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02  赛题要求与交付闭环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需求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03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143000"/>
            <a:ext cx="3429000" cy="141732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1325880"/>
            <a:ext cx="30175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63DE8B"/>
                </a:solidFill>
                <a:latin typeface="Microsoft YaHei"/>
              </a:rPr>
              <a:t>多源融合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1801368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EF6FF"/>
                </a:solidFill>
                <a:latin typeface="Microsoft YaHei"/>
              </a:rPr>
              <a:t>6 类事件统一模型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1143000"/>
            <a:ext cx="3429000" cy="141732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81728" y="1325880"/>
            <a:ext cx="30175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45DEC4"/>
                </a:solidFill>
                <a:latin typeface="Microsoft YaHei"/>
              </a:rPr>
              <a:t>动态偏好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1728" y="1801368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EF6FF"/>
                </a:solidFill>
                <a:latin typeface="Microsoft YaHei"/>
              </a:rPr>
              <a:t>多维键 + 时间衰减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75320" y="1143000"/>
            <a:ext cx="3429000" cy="141732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76488" y="1325880"/>
            <a:ext cx="30175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C15C"/>
                </a:solidFill>
                <a:latin typeface="Microsoft YaHei"/>
              </a:rPr>
              <a:t>知识冲突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76488" y="1801368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EF6FF"/>
                </a:solidFill>
                <a:latin typeface="Microsoft YaHei"/>
              </a:rPr>
              <a:t>默认隔离 + 可追溯决策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017520"/>
            <a:ext cx="3429000" cy="141732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3200400"/>
            <a:ext cx="30175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5393FF"/>
                </a:solidFill>
                <a:latin typeface="Microsoft YaHei"/>
              </a:rPr>
              <a:t>≤500ms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" y="3675887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EF6FF"/>
                </a:solidFill>
                <a:latin typeface="Microsoft YaHei"/>
              </a:rPr>
              <a:t>候选召回 + 向量缓存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80560" y="3017520"/>
            <a:ext cx="3429000" cy="141732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6F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81728" y="3200400"/>
            <a:ext cx="30175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6F7E"/>
                </a:solidFill>
                <a:latin typeface="Microsoft YaHei"/>
              </a:rPr>
              <a:t>安全遗忘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1728" y="3675887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EF6FF"/>
                </a:solidFill>
                <a:latin typeface="Microsoft YaHei"/>
              </a:rPr>
              <a:t>预览 + 确认 + 审计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75320" y="3017520"/>
            <a:ext cx="3429000" cy="141732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76488" y="3200400"/>
            <a:ext cx="30175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45DEC4"/>
                </a:solidFill>
                <a:latin typeface="Microsoft YaHei"/>
              </a:rPr>
              <a:t>短中长期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76488" y="3675887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EF6FF"/>
                </a:solidFill>
                <a:latin typeface="Microsoft YaHei"/>
              </a:rPr>
              <a:t>TTL + 聚合 + 晋升门控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257800"/>
            <a:ext cx="10927080" cy="685800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>代码 + SQLite + 服务/API + Web 演示 + 分区评测 + 性能/环境报告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03  系统总体架构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04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024128"/>
            <a:ext cx="1874519" cy="566928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EEF6FF"/>
                </a:solidFill>
                <a:latin typeface="Microsoft YaHei"/>
              </a:rPr>
              <a:t>工具结果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80360" y="1024128"/>
            <a:ext cx="1874519" cy="566928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EEF6FF"/>
                </a:solidFill>
                <a:latin typeface="Microsoft YaHei"/>
              </a:rPr>
              <a:t>用户行为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66360" y="1024128"/>
            <a:ext cx="1874519" cy="566928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EEF6FF"/>
                </a:solidFill>
                <a:latin typeface="Microsoft YaHei"/>
              </a:rPr>
              <a:t>手动配置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52360" y="1024128"/>
            <a:ext cx="1874519" cy="566928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EEF6FF"/>
                </a:solidFill>
                <a:latin typeface="Microsoft YaHei"/>
              </a:rPr>
              <a:t>会话/系统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38360" y="1024128"/>
            <a:ext cx="1874519" cy="566928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EEF6FF"/>
                </a:solidFill>
                <a:latin typeface="Microsoft YaHei"/>
              </a:rPr>
              <a:t>导入文档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80760" y="1609344"/>
            <a:ext cx="0" cy="356616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097280" y="1965960"/>
            <a:ext cx="9966960" cy="64008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45DEC4"/>
                </a:solidFill>
                <a:latin typeface="Microsoft YaHei"/>
              </a:rPr>
              <a:t>校验 → UTC → 去重 → 递归脱敏 → 记忆污染检测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080760" y="2624328"/>
            <a:ext cx="0" cy="347472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097280" y="2971800"/>
            <a:ext cx="4251960" cy="713232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63DE8B"/>
                </a:solidFill>
                <a:latin typeface="Microsoft YaHei"/>
              </a:rPr>
              <a:t>多维偏好记忆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12280" y="2971800"/>
            <a:ext cx="4251960" cy="713232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FFC15C"/>
                </a:solidFill>
                <a:latin typeface="Microsoft YaHei"/>
              </a:rPr>
              <a:t>结构化知识记忆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227832" y="3703320"/>
            <a:ext cx="1435608" cy="45720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7498079" y="3703320"/>
            <a:ext cx="1435609" cy="45720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520440" y="4160520"/>
            <a:ext cx="5120640" cy="7132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EEF6FF"/>
                </a:solidFill>
                <a:latin typeface="Microsoft YaHei"/>
              </a:rPr>
              <a:t>短期 TTL → 中期聚合 → 长期门控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080760" y="4892040"/>
            <a:ext cx="0" cy="32004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" y="5230368"/>
            <a:ext cx="2514600" cy="694944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EEF6FF"/>
                </a:solidFill>
                <a:latin typeface="Microsoft YaHei"/>
              </a:rPr>
              <a:t>SQLite v2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30168" y="5230368"/>
            <a:ext cx="2514600" cy="694944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EEF6FF"/>
                </a:solidFill>
                <a:latin typeface="Microsoft YaHei"/>
              </a:rPr>
              <a:t>冲突治理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83096" y="5230368"/>
            <a:ext cx="2514600" cy="694944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EEF6FF"/>
                </a:solidFill>
                <a:latin typeface="Microsoft YaHei"/>
              </a:rPr>
              <a:t>混合检索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36024" y="5230368"/>
            <a:ext cx="2514600" cy="694944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EEF6FF"/>
                </a:solidFill>
                <a:latin typeface="Microsoft YaHei"/>
              </a:rPr>
              <a:t>安全遗忘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04  多维偏好：不再用一个标签概括用户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偏好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05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097280"/>
            <a:ext cx="2514600" cy="65836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语言 zh-CN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02152" y="1097280"/>
            <a:ext cx="2514600" cy="65836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详略 brief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18504" y="1097280"/>
            <a:ext cx="2514600" cy="65836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格式 table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34856" y="1097280"/>
            <a:ext cx="2514600" cy="65836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结构 step-by-step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084832"/>
            <a:ext cx="2514600" cy="65836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本地处理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02152" y="2084832"/>
            <a:ext cx="2514600" cy="65836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先脱敏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18504" y="2084832"/>
            <a:ext cx="2514600" cy="65836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高风险确认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34856" y="2084832"/>
            <a:ext cx="2514600" cy="65836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场景工具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337560"/>
            <a:ext cx="51206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1">
                <a:solidFill>
                  <a:srgbClr val="45DEC4"/>
                </a:solidFill>
                <a:latin typeface="Microsoft YaHei"/>
              </a:rPr>
              <a:t>证据评分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840480"/>
            <a:ext cx="5212080" cy="1234440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EEF6FF"/>
                </a:solidFill>
                <a:latin typeface="Microsoft YaHei"/>
              </a:rPr>
              <a:t>0.30 质量 + 0.35 权威
+ 0.20 时效 + 0.15 显式性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337560"/>
            <a:ext cx="47548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1">
                <a:solidFill>
                  <a:srgbClr val="FFC15C"/>
                </a:solidFill>
                <a:latin typeface="Microsoft YaHei"/>
              </a:rPr>
              <a:t>决策机制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749039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500">
                <a:solidFill>
                  <a:srgbClr val="EEF6FF"/>
                </a:solidFill>
                <a:latin typeface="Microsoft YaHei"/>
              </a:defRPr>
            </a:pPr>
            <a:r>
              <a:t>•  30 天半衰期，按事件时间而非输入顺序</a:t>
            </a:r>
          </a:p>
          <a:p>
            <a:pPr>
              <a:spcAft>
                <a:spcPts val="1100"/>
              </a:spcAft>
              <a:defRPr sz="1500">
                <a:solidFill>
                  <a:srgbClr val="EEF6FF"/>
                </a:solidFill>
                <a:latin typeface="Microsoft YaHei"/>
              </a:defRPr>
            </a:pPr>
            <a:r>
              <a:t>•  失败/取消工具不得成为首选</a:t>
            </a:r>
          </a:p>
          <a:p>
            <a:pPr>
              <a:spcAft>
                <a:spcPts val="1100"/>
              </a:spcAft>
              <a:defRPr sz="1500">
                <a:solidFill>
                  <a:srgbClr val="EEF6FF"/>
                </a:solidFill>
                <a:latin typeface="Microsoft YaHei"/>
              </a:defRPr>
            </a:pPr>
            <a:r>
              <a:t>•  同值聚合；变更生成新版本并闭合有效期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05  短期—中期—长期：拒绝一次性噪声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生命周期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06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325880"/>
            <a:ext cx="3200400" cy="160020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536192"/>
            <a:ext cx="2743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300" b="1">
                <a:solidFill>
                  <a:srgbClr val="5393FF"/>
                </a:solidFill>
                <a:latin typeface="Microsoft YaHei"/>
              </a:rPr>
              <a:t>短期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2743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EEF6FF"/>
                </a:solidFill>
                <a:latin typeface="Microsoft YaHei"/>
              </a:rPr>
              <a:t>会话作用域
默认 TTL 30 分钟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023359" y="2103120"/>
            <a:ext cx="484633" cy="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617720" y="1325880"/>
            <a:ext cx="3200400" cy="160020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1536192"/>
            <a:ext cx="2743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300" b="1">
                <a:solidFill>
                  <a:srgbClr val="FFC15C"/>
                </a:solidFill>
                <a:latin typeface="Microsoft YaHei"/>
              </a:rPr>
              <a:t>中期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011680"/>
            <a:ext cx="2743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EEF6FF"/>
                </a:solidFill>
                <a:latin typeface="Microsoft YaHei"/>
              </a:rPr>
              <a:t>主题聚合
次数 / 来源 / 质量 / 权威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63840" y="2103120"/>
            <a:ext cx="484631" cy="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458200" y="1325880"/>
            <a:ext cx="3200400" cy="160020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1536192"/>
            <a:ext cx="2743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300" b="1">
                <a:solidFill>
                  <a:srgbClr val="63DE8B"/>
                </a:solidFill>
                <a:latin typeface="Microsoft YaHei"/>
              </a:rPr>
              <a:t>长期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2011680"/>
            <a:ext cx="2743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EEF6FF"/>
                </a:solidFill>
                <a:latin typeface="Microsoft YaHei"/>
              </a:rPr>
              <a:t>晋升 / 拒绝
过期 / 降级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5840" y="3749039"/>
            <a:ext cx="10149840" cy="822960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EEF6FF"/>
                </a:solidFill>
                <a:latin typeface="Microsoft YaHei"/>
              </a:rPr>
              <a:t>晋升 = 0.30 质量 + 0.30 权威 + 0.25 重复 + 0.15 来源多样性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965960" y="4983480"/>
            <a:ext cx="8229600" cy="68580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6F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6F7E"/>
                </a:solidFill>
                <a:latin typeface="Microsoft YaHei"/>
              </a:rPr>
              <a:t>风险标记 → 分数 × 0.35 且拒绝晋升；每次决策保留可解释原因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06  知识冲突：先隔离，再决策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冲突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07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43000"/>
            <a:ext cx="2971800" cy="105156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C15C"/>
                </a:solidFill>
                <a:latin typeface="Microsoft YaHei"/>
              </a:rPr>
              <a:t>旧规则
允许先审批后补票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58200" y="1143000"/>
            <a:ext cx="2971800" cy="105156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6F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6F7E"/>
                </a:solidFill>
                <a:latin typeface="Microsoft YaHei"/>
              </a:rPr>
              <a:t>新规则
禁止先审批后补票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730752" y="1664208"/>
            <a:ext cx="1024128" cy="0"/>
          </a:xfrm>
          <a:prstGeom prst="line">
            <a:avLst/>
          </a:prstGeom>
          <a:ln w="25400">
            <a:solidFill>
              <a:srgbClr val="FF6F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7406640" y="1664208"/>
            <a:ext cx="1024128" cy="0"/>
          </a:xfrm>
          <a:prstGeom prst="line">
            <a:avLst/>
          </a:prstGeom>
          <a:ln w="25400">
            <a:solidFill>
              <a:srgbClr val="FF6F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709160" y="1161288"/>
            <a:ext cx="2743200" cy="1005840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FF6F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EEF6FF"/>
                </a:solidFill>
                <a:latin typeface="Microsoft YaHei"/>
              </a:rPr>
              <a:t>conflict_pending
普通检索不可见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880360"/>
            <a:ext cx="3840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45DEC4"/>
                </a:solidFill>
                <a:latin typeface="Microsoft YaHei"/>
              </a:rPr>
              <a:t>自动决策优先级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401568"/>
            <a:ext cx="3886200" cy="91440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>authority → effective_time → version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6360" y="2880360"/>
            <a:ext cx="58521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FFC15C"/>
                </a:solidFill>
                <a:latin typeface="Microsoft YaHei"/>
              </a:rPr>
              <a:t>支持策略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66360" y="3337560"/>
            <a:ext cx="56692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500">
                <a:solidFill>
                  <a:srgbClr val="EEF6FF"/>
                </a:solidFill>
                <a:latin typeface="Microsoft YaHei"/>
              </a:defRPr>
            </a:pPr>
            <a:r>
              <a:t>•  接受新版本 / 保留旧版本 / 保留双方</a:t>
            </a:r>
          </a:p>
          <a:p>
            <a:pPr>
              <a:spcAft>
                <a:spcPts val="1100"/>
              </a:spcAft>
              <a:defRPr sz="1500">
                <a:solidFill>
                  <a:srgbClr val="EEF6FF"/>
                </a:solidFill>
                <a:latin typeface="Microsoft YaHei"/>
              </a:defRPr>
            </a:pPr>
            <a:r>
              <a:t>•  证据合并（不拼接矛盾文本）</a:t>
            </a:r>
          </a:p>
          <a:p>
            <a:pPr>
              <a:spcAft>
                <a:spcPts val="1100"/>
              </a:spcAft>
              <a:defRPr sz="1500">
                <a:solidFill>
                  <a:srgbClr val="EEF6FF"/>
                </a:solidFill>
                <a:latin typeface="Microsoft YaHei"/>
              </a:defRPr>
            </a:pPr>
            <a:r>
              <a:t>•  差异不足进入人工复核队列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54480" y="5321808"/>
            <a:ext cx="9052560" cy="621792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FF6F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>核心原则：未决知识宁可不回答，也不把冲突建议交给 OS Agent 执行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07  高效检索：候选召回 + 向量缓存 + 无答案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检索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08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2011680" cy="74980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作用域过滤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14600" y="1792224"/>
            <a:ext cx="292608" cy="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862072" y="1417320"/>
            <a:ext cx="2011680" cy="74980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词法候选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873752" y="1792224"/>
            <a:ext cx="292608" cy="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221224" y="1417320"/>
            <a:ext cx="2011680" cy="74980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查询向量 ×1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232904" y="1792224"/>
            <a:ext cx="292608" cy="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580376" y="1417320"/>
            <a:ext cx="2011680" cy="74980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语义重排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592056" y="1792224"/>
            <a:ext cx="292608" cy="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939528" y="1417320"/>
            <a:ext cx="2011680" cy="74980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阈值/空答案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2788920"/>
            <a:ext cx="10378440" cy="841248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EEF6FF"/>
                </a:solidFill>
                <a:latin typeface="Microsoft YaHei"/>
              </a:rPr>
              <a:t>score = 0.65 × semantic + 0.30 × lexical + 0.05 × authority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0120" y="4251960"/>
            <a:ext cx="3063240" cy="123444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" y="4361688"/>
            <a:ext cx="27340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3BBD2"/>
                </a:solidFill>
                <a:latin typeface="Microsoft YaHei"/>
              </a:rPr>
              <a:t>10,000 条冷查询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" y="4636008"/>
            <a:ext cx="27340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5393FF"/>
                </a:solidFill>
                <a:latin typeface="Microsoft YaHei"/>
              </a:rPr>
              <a:t>96.972 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4712" y="5120640"/>
            <a:ext cx="2734056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A3BBD2"/>
                </a:solidFill>
                <a:latin typeface="Microsoft YaHei"/>
              </a:rPr>
              <a:t>Windows / HashEmbedding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53712" y="4251960"/>
            <a:ext cx="3063240" cy="123444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8304" y="4361688"/>
            <a:ext cx="27340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3BBD2"/>
                </a:solidFill>
                <a:latin typeface="Microsoft YaHei"/>
              </a:rPr>
              <a:t>10,000 条热 p99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18304" y="4636008"/>
            <a:ext cx="27340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45DEC4"/>
                </a:solidFill>
                <a:latin typeface="Microsoft YaHei"/>
              </a:rPr>
              <a:t>129.045 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18304" y="5120640"/>
            <a:ext cx="2734056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A3BBD2"/>
                </a:solidFill>
                <a:latin typeface="Microsoft YaHei"/>
              </a:rPr>
              <a:t>门槛：≤ 500ms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47304" y="4251960"/>
            <a:ext cx="3063240" cy="123444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1896" y="4361688"/>
            <a:ext cx="27340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3BBD2"/>
                </a:solidFill>
                <a:latin typeface="Microsoft YaHei"/>
              </a:rPr>
              <a:t>SQLite 体积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11896" y="4636008"/>
            <a:ext cx="27340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FFC15C"/>
                </a:solidFill>
                <a:latin typeface="Microsoft YaHei"/>
              </a:rPr>
              <a:t>39.984 MB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11896" y="5120640"/>
            <a:ext cx="2734056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A3BBD2"/>
                </a:solidFill>
                <a:latin typeface="Microsoft YaHei"/>
              </a:rPr>
              <a:t>含缓存向量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833872"/>
            <a:ext cx="103784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C15C"/>
                </a:solidFill>
                <a:latin typeface="Microsoft YaHei"/>
              </a:rPr>
              <a:t>注意：开发机回退模型证据，不替代真实银河麒麟 SDK 性能验收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08  安全遗忘：可预览、可确认、可审计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安全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09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" y="1234440"/>
            <a:ext cx="1664208" cy="7132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EF6FF"/>
                </a:solidFill>
                <a:latin typeface="Microsoft YaHei"/>
              </a:rPr>
              <a:t>自然语言指令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48256" y="1591056"/>
            <a:ext cx="237744" cy="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340864" y="1234440"/>
            <a:ext cx="1664208" cy="7132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EF6FF"/>
                </a:solidFill>
                <a:latin typeface="Microsoft YaHei"/>
              </a:rPr>
              <a:t>作用域解析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005072" y="1591056"/>
            <a:ext cx="237744" cy="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297680" y="1234440"/>
            <a:ext cx="1664208" cy="7132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EF6FF"/>
                </a:solidFill>
                <a:latin typeface="Microsoft YaHei"/>
              </a:rPr>
              <a:t>影响预览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61888" y="1591056"/>
            <a:ext cx="237744" cy="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254496" y="1234440"/>
            <a:ext cx="1664208" cy="7132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6F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EF6FF"/>
                </a:solidFill>
                <a:latin typeface="Microsoft YaHei"/>
              </a:rPr>
              <a:t>确认令牌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918704" y="1591056"/>
            <a:ext cx="237744" cy="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211312" y="1234440"/>
            <a:ext cx="1664208" cy="7132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6F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EF6FF"/>
                </a:solidFill>
                <a:latin typeface="Microsoft YaHei"/>
              </a:rPr>
              <a:t>删除+索引同步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875520" y="1591056"/>
            <a:ext cx="237744" cy="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10168128" y="1234440"/>
            <a:ext cx="1664208" cy="7132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EF6FF"/>
                </a:solidFill>
                <a:latin typeface="Microsoft YaHei"/>
              </a:rPr>
              <a:t>审计回执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2788920"/>
            <a:ext cx="5166360" cy="960120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2935224"/>
            <a:ext cx="141732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63DE8B"/>
                </a:solidFill>
                <a:latin typeface="Microsoft YaHei"/>
              </a:rPr>
              <a:t>跨用户误删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58568" y="2935224"/>
            <a:ext cx="3337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EEF6FF"/>
                </a:solidFill>
                <a:latin typeface="Microsoft YaHei"/>
              </a:rPr>
              <a:t>tenant + user 强制绑定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2788920"/>
            <a:ext cx="5166360" cy="960120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8" y="2935224"/>
            <a:ext cx="141732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5393FF"/>
                </a:solidFill>
                <a:latin typeface="Microsoft YaHei"/>
              </a:rPr>
              <a:t>未确认删除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82128" y="2935224"/>
            <a:ext cx="3337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EEF6FF"/>
                </a:solidFill>
                <a:latin typeface="Microsoft YaHei"/>
              </a:rPr>
              <a:t>预览阶段零修改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087368"/>
            <a:ext cx="5166360" cy="960120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" y="4233672"/>
            <a:ext cx="141732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45DEC4"/>
                </a:solidFill>
                <a:latin typeface="Microsoft YaHei"/>
              </a:rPr>
              <a:t>残留向量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58568" y="4233672"/>
            <a:ext cx="3337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EEF6FF"/>
                </a:solidFill>
                <a:latin typeface="Microsoft YaHei"/>
              </a:rPr>
              <a:t>正文、状态、倒排索引、向量同步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60" y="4087368"/>
            <a:ext cx="5166360" cy="960120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10528" y="4233672"/>
            <a:ext cx="141732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FFC15C"/>
                </a:solidFill>
                <a:latin typeface="Microsoft YaHei"/>
              </a:rPr>
              <a:t>审计泄露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82128" y="4233672"/>
            <a:ext cx="3337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EEF6FF"/>
                </a:solidFill>
                <a:latin typeface="Microsoft YaHei"/>
              </a:rPr>
              <a:t>不记录原指令和原始正文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623560"/>
            <a:ext cx="106070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6F7E"/>
                </a:solidFill>
                <a:latin typeface="Microsoft YaHei"/>
              </a:rPr>
              <a:t>评测规则：授权集合之外多删任何目标，都计入误删率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09  可运行交付：核心、服务、SQLite 与本地仪表盘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078992"/>
            <a:ext cx="2148840" cy="786384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5393FF"/>
                </a:solidFill>
                <a:latin typeface="Microsoft YaHei"/>
              </a:rPr>
              <a:t>核心算法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82112" y="1078992"/>
            <a:ext cx="8046720" cy="786384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1830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EEF6FF"/>
                </a:solidFill>
                <a:latin typeface="Microsoft YaHei"/>
              </a:rPr>
              <a:t>ingestion / preference / knowledge / lifecycle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86000"/>
            <a:ext cx="2148840" cy="786384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45DEC4"/>
                </a:solidFill>
                <a:latin typeface="Microsoft YaHei"/>
              </a:rPr>
              <a:t>应用服务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82112" y="2286000"/>
            <a:ext cx="8046720" cy="786384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1830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EEF6FF"/>
                </a:solidFill>
                <a:latin typeface="Microsoft YaHei"/>
              </a:rPr>
              <a:t>ingest · search · conflicts · forget · stats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493008"/>
            <a:ext cx="2148840" cy="786384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C15C"/>
                </a:solidFill>
                <a:latin typeface="Microsoft YaHei"/>
              </a:rPr>
              <a:t>持久化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82112" y="3493008"/>
            <a:ext cx="8046720" cy="786384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1830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EEF6FF"/>
                </a:solidFill>
                <a:latin typeface="Microsoft YaHei"/>
              </a:rPr>
              <a:t>SQLite v2 + v1 迁移 + 向量 + 审计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700016"/>
            <a:ext cx="2148840" cy="786384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63DE8B"/>
                </a:solidFill>
                <a:latin typeface="Microsoft YaHei"/>
              </a:rPr>
              <a:t>演示入口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82112" y="4700016"/>
            <a:ext cx="8046720" cy="786384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1830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EEF6FF"/>
                </a:solidFill>
                <a:latin typeface="Microsoft YaHei"/>
              </a:rPr>
              <a:t>localhost Web UI + JSON API + 一键预检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25880" y="5559552"/>
            <a:ext cx="9555480" cy="530352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C15C"/>
                </a:solidFill>
                <a:latin typeface="Microsoft YaHei"/>
              </a:rPr>
              <a:t>默认监听 127.0.0.1；当前界面用于本地演示，不冒充生产级服务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10  评测体系：开始惩罚“多报、误删、乱答”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评测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143000"/>
            <a:ext cx="2606040" cy="123444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1252728"/>
            <a:ext cx="22768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3BBD2"/>
                </a:solidFill>
                <a:latin typeface="Microsoft YaHei"/>
              </a:rPr>
              <a:t>正例 Recall@3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1527048"/>
            <a:ext cx="22768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45DEC4"/>
                </a:solidFill>
                <a:latin typeface="Microsoft YaHei"/>
              </a:rPr>
              <a:t>0.8333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011680"/>
            <a:ext cx="2276856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A3BBD2"/>
                </a:solidFill>
                <a:latin typeface="Microsoft YaHei"/>
              </a:rPr>
              <a:t>v3 test · 12 正例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1143000"/>
            <a:ext cx="2606040" cy="123444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47872" y="1252728"/>
            <a:ext cx="22768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3BBD2"/>
                </a:solidFill>
                <a:latin typeface="Microsoft YaHei"/>
              </a:rPr>
              <a:t>无答案正确率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1527048"/>
            <a:ext cx="22768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5393FF"/>
                </a:solidFill>
                <a:latin typeface="Microsoft YaHei"/>
              </a:rPr>
              <a:t>0.8333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011680"/>
            <a:ext cx="2276856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A3BBD2"/>
                </a:solidFill>
                <a:latin typeface="Microsoft YaHei"/>
              </a:rPr>
              <a:t>v3 test · 6 无答案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143000"/>
            <a:ext cx="2606040" cy="123444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36792" y="1252728"/>
            <a:ext cx="22768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3BBD2"/>
                </a:solidFill>
                <a:latin typeface="Microsoft YaHei"/>
              </a:rPr>
              <a:t>平衡得分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6792" y="1527048"/>
            <a:ext cx="22768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63DE8B"/>
                </a:solidFill>
                <a:latin typeface="Microsoft YaHei"/>
              </a:rPr>
              <a:t>0.8333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2011680"/>
            <a:ext cx="2276856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A3BBD2"/>
                </a:solidFill>
                <a:latin typeface="Microsoft YaHei"/>
              </a:rPr>
              <a:t>召回与拒答平均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0" y="1143000"/>
            <a:ext cx="2606040" cy="123444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25712" y="1252728"/>
            <a:ext cx="22768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3BBD2"/>
                </a:solidFill>
                <a:latin typeface="Microsoft YaHei"/>
              </a:rPr>
              <a:t>质量目标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25712" y="1527048"/>
            <a:ext cx="22768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FFC15C"/>
                </a:solidFill>
                <a:latin typeface="Microsoft YaHei"/>
              </a:rPr>
              <a:t>尚未全满足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25712" y="2011680"/>
            <a:ext cx="2276856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A3BBD2"/>
                </a:solidFill>
                <a:latin typeface="Microsoft YaHei"/>
              </a:rPr>
              <a:t>两项分别 ≥ 0.85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2907792"/>
            <a:ext cx="5303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EEF6FF"/>
                </a:solidFill>
                <a:latin typeface="Microsoft YaHei"/>
              </a:rPr>
              <a:t>42 事件 · 18 主题 · 54 查询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401568"/>
            <a:ext cx="5303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500">
                <a:solidFill>
                  <a:srgbClr val="EEF6FF"/>
                </a:solidFill>
                <a:latin typeface="Microsoft YaHei"/>
              </a:defRPr>
            </a:pPr>
            <a:r>
              <a:t>•  正文/模板族跨分区交集为零</a:t>
            </a:r>
          </a:p>
          <a:p>
            <a:pPr>
              <a:spcAft>
                <a:spcPts val="1100"/>
              </a:spcAft>
              <a:defRPr sz="1500">
                <a:solidFill>
                  <a:srgbClr val="EEF6FF"/>
                </a:solidFill>
                <a:latin typeface="Microsoft YaHei"/>
              </a:defRPr>
            </a:pPr>
            <a:r>
              <a:t>•  统一阈值 0.24 仅由 dev 选择</a:t>
            </a:r>
          </a:p>
          <a:p>
            <a:pPr>
              <a:spcAft>
                <a:spcPts val="1100"/>
              </a:spcAft>
              <a:defRPr sz="1500">
                <a:solidFill>
                  <a:srgbClr val="EEF6FF"/>
                </a:solidFill>
                <a:latin typeface="Microsoft YaHei"/>
              </a:defRPr>
            </a:pPr>
            <a:r>
              <a:t>•  词法/向量/混合对照：不宣称全面领先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2926080"/>
            <a:ext cx="5074920" cy="219456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6F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6F7E"/>
                </a:solidFill>
                <a:latin typeface="Microsoft YaHei"/>
              </a:rPr>
              <a:t>公开 test 标签
= 冻结回归分区
≠ 第三方独立盲测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5806440"/>
            <a:ext cx="1078992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C15C"/>
                </a:solidFill>
                <a:latin typeface="Microsoft YaHei"/>
              </a:rPr>
              <a:t>合成小集上的 1.0 不能外推到开放真实数据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11  自动化与安全证据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15568"/>
            <a:ext cx="2926080" cy="123444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1225295"/>
            <a:ext cx="25968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3BBD2"/>
                </a:solidFill>
                <a:latin typeface="Microsoft YaHei"/>
              </a:rPr>
              <a:t>自动化测试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1499616"/>
            <a:ext cx="259689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63DE8B"/>
                </a:solidFill>
                <a:latin typeface="Microsoft YaHei"/>
              </a:rPr>
              <a:t>86 项通过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1984248"/>
            <a:ext cx="2596896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A3BBD2"/>
                </a:solidFill>
                <a:latin typeface="Microsoft YaHei"/>
              </a:rPr>
              <a:t>单元 + 集成 + E2E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69080" y="1115568"/>
            <a:ext cx="2926080" cy="123444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33672" y="1225295"/>
            <a:ext cx="25968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3BBD2"/>
                </a:solidFill>
                <a:latin typeface="Microsoft YaHei"/>
              </a:rPr>
              <a:t>规模覆盖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33672" y="1499616"/>
            <a:ext cx="259689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5393FF"/>
                </a:solidFill>
                <a:latin typeface="Microsoft YaHei"/>
              </a:rPr>
              <a:t>100 → 10,000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33672" y="1984248"/>
            <a:ext cx="2596896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A3BBD2"/>
                </a:solidFill>
                <a:latin typeface="Microsoft YaHei"/>
              </a:rPr>
              <a:t>冷/热/资源/磁盘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06640" y="1115568"/>
            <a:ext cx="2926080" cy="123444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71231" y="1225295"/>
            <a:ext cx="25968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3BBD2"/>
                </a:solidFill>
                <a:latin typeface="Microsoft YaHei"/>
              </a:rPr>
              <a:t>环境判定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71231" y="1499616"/>
            <a:ext cx="259689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FFC15C"/>
                </a:solidFill>
                <a:latin typeface="Microsoft YaHei"/>
              </a:rPr>
              <a:t>分层报告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71231" y="1984248"/>
            <a:ext cx="2596896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A3BBD2"/>
                </a:solidFill>
                <a:latin typeface="Microsoft YaHei"/>
              </a:rPr>
              <a:t>本地 ≠ 麒麟 ≠ SDK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2880360"/>
            <a:ext cx="5166360" cy="585216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✓  跨租户/用户串读与误删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2880360"/>
            <a:ext cx="5166360" cy="585216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✓  提示注入与记忆污染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721608"/>
            <a:ext cx="5166360" cy="585216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✓  失败工具偏好污染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3721608"/>
            <a:ext cx="5166360" cy="585216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✓  未决冲突普通检索隔离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562856"/>
            <a:ext cx="5166360" cy="585216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✓  硬删除 SQLite 重载无残留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4562856"/>
            <a:ext cx="5166360" cy="585216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✓  嵌套凭证递归脱敏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12  现场演示路径（约 2 分钟）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演示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024128"/>
            <a:ext cx="566928" cy="566928"/>
          </a:xfrm>
          <a:prstGeom prst="roundRect">
            <a:avLst/>
          </a:prstGeom>
          <a:solidFill>
            <a:srgbClr val="45DEC4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7111F"/>
                </a:solidFill>
                <a:latin typeface="Microsoft YaHe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72768" y="1024128"/>
            <a:ext cx="18288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45DEC4"/>
                </a:solidFill>
                <a:latin typeface="Microsoft YaHei"/>
              </a:rPr>
              <a:t>预检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01568" y="1024128"/>
            <a:ext cx="772667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EF6FF"/>
                </a:solidFill>
                <a:latin typeface="Microsoft YaHei"/>
              </a:rPr>
              <a:t>区分本地通过与外部未验收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856232"/>
            <a:ext cx="566928" cy="566928"/>
          </a:xfrm>
          <a:prstGeom prst="roundRect">
            <a:avLst/>
          </a:prstGeom>
          <a:solidFill>
            <a:srgbClr val="45DEC4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7111F"/>
                </a:solidFill>
                <a:latin typeface="Microsoft YaHe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72768" y="1856232"/>
            <a:ext cx="18288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45DEC4"/>
                </a:solidFill>
                <a:latin typeface="Microsoft YaHei"/>
              </a:rPr>
              <a:t>多源接入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01568" y="1856232"/>
            <a:ext cx="772667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EF6FF"/>
                </a:solidFill>
                <a:latin typeface="Microsoft YaHei"/>
              </a:rPr>
              <a:t>展示脱敏和偏好证据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688336"/>
            <a:ext cx="566928" cy="566928"/>
          </a:xfrm>
          <a:prstGeom prst="roundRect">
            <a:avLst/>
          </a:prstGeom>
          <a:solidFill>
            <a:srgbClr val="45DEC4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7111F"/>
                </a:solidFill>
                <a:latin typeface="Microsoft YaHe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2688336"/>
            <a:ext cx="18288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45DEC4"/>
                </a:solidFill>
                <a:latin typeface="Microsoft YaHei"/>
              </a:rPr>
              <a:t>知识检索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01568" y="2688336"/>
            <a:ext cx="772667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EF6FF"/>
                </a:solidFill>
                <a:latin typeface="Microsoft YaHei"/>
              </a:rPr>
              <a:t>场景过滤与无答案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520440"/>
            <a:ext cx="566928" cy="566928"/>
          </a:xfrm>
          <a:prstGeom prst="roundRect">
            <a:avLst/>
          </a:prstGeom>
          <a:solidFill>
            <a:srgbClr val="45DEC4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7111F"/>
                </a:solidFill>
                <a:latin typeface="Microsoft YaHe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520440"/>
            <a:ext cx="18288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45DEC4"/>
                </a:solidFill>
                <a:latin typeface="Microsoft YaHei"/>
              </a:rPr>
              <a:t>冲突治理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1568" y="3520440"/>
            <a:ext cx="772667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EF6FF"/>
                </a:solidFill>
                <a:latin typeface="Microsoft YaHei"/>
              </a:rPr>
              <a:t>待决隔离后自动/人工策略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352544"/>
            <a:ext cx="566928" cy="566928"/>
          </a:xfrm>
          <a:prstGeom prst="roundRect">
            <a:avLst/>
          </a:prstGeom>
          <a:solidFill>
            <a:srgbClr val="45DEC4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7111F"/>
                </a:solidFill>
                <a:latin typeface="Microsoft YaHe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4352544"/>
            <a:ext cx="18288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45DEC4"/>
                </a:solidFill>
                <a:latin typeface="Microsoft YaHei"/>
              </a:rPr>
              <a:t>安全遗忘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1568" y="4352544"/>
            <a:ext cx="772667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EF6FF"/>
                </a:solidFill>
                <a:latin typeface="Microsoft YaHei"/>
              </a:rPr>
              <a:t>预览影响范围，再确认删除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5184648"/>
            <a:ext cx="566928" cy="566928"/>
          </a:xfrm>
          <a:prstGeom prst="roundRect">
            <a:avLst/>
          </a:prstGeom>
          <a:solidFill>
            <a:srgbClr val="45DEC4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7111F"/>
                </a:solidFill>
                <a:latin typeface="Microsoft YaHei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5184648"/>
            <a:ext cx="18288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45DEC4"/>
                </a:solidFill>
                <a:latin typeface="Microsoft YaHei"/>
              </a:rPr>
              <a:t>评测证据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01568" y="5184648"/>
            <a:ext cx="772667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EF6FF"/>
                </a:solidFill>
                <a:latin typeface="Microsoft YaHei"/>
              </a:rPr>
              <a:t>v3 对照、86 测试、10k 性能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926080" y="5897880"/>
            <a:ext cx="6355080" cy="365760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5393FF"/>
                </a:solidFill>
                <a:latin typeface="Microsoft YaHei"/>
              </a:rPr>
              <a:t>一键脚本：scripts/run_demo.ps1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13  证据边界与最后一公里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计划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51663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63DE8B"/>
                </a:solidFill>
                <a:latin typeface="Microsoft YaHei"/>
              </a:rPr>
              <a:t>已完成（代码与开发机证据）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1051560"/>
            <a:ext cx="5074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FFC15C"/>
                </a:solidFill>
                <a:latin typeface="Microsoft YaHei"/>
              </a:rPr>
              <a:t>必须人工/外部完成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5166360" cy="4846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✓  统一生命周期门控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350008"/>
            <a:ext cx="5166360" cy="4846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✓  增量事务与失败回滚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008376"/>
            <a:ext cx="5166360" cy="4846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✓  服务/API/场景演示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666744"/>
            <a:ext cx="5166360" cy="4846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✓  v3 隔离分区与对照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325112"/>
            <a:ext cx="5166360" cy="4846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✓  10k 检索 + 实际服务负载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983479"/>
            <a:ext cx="5166360" cy="4846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✓  作用域与重启安全测试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691640"/>
            <a:ext cx="5074920" cy="4846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!  真实 Kylin SDK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2350008"/>
            <a:ext cx="5074920" cy="4846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!  真实银河麒麟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3008376"/>
            <a:ext cx="5074920" cy="4846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!  独立盲测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80" y="3666744"/>
            <a:ext cx="5074920" cy="4846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!  知情同意案例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4325112"/>
            <a:ext cx="5074920" cy="4846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!  最终视频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4983479"/>
            <a:ext cx="5074920" cy="4846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!  平台/邮件回执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870448"/>
            <a:ext cx="106070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45DEC4"/>
                </a:solidFill>
                <a:latin typeface="Microsoft YaHei"/>
              </a:rPr>
              <a:t>当前准确表述：核心原型与开发机验证完成，赛题指定环境待验收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14  结论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总结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143000"/>
            <a:ext cx="102870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900" b="1">
                <a:solidFill>
                  <a:srgbClr val="EEF6FF"/>
                </a:solidFill>
                <a:latin typeface="Microsoft YaHei"/>
              </a:rPr>
              <a:t>从“记住更多”走向“记得正确、找得快速、忘得安全”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423160"/>
            <a:ext cx="3429000" cy="182880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724912"/>
            <a:ext cx="2971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45DEC4"/>
                </a:solidFill>
                <a:latin typeface="Microsoft YaHei"/>
              </a:rPr>
              <a:t>正确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310128"/>
            <a:ext cx="28346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>
                <a:solidFill>
                  <a:srgbClr val="EEF6FF"/>
                </a:solidFill>
                <a:latin typeface="Microsoft YaHei"/>
              </a:rPr>
              <a:t>多维偏好 + 权威/时效证据 + 冲突隔离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35424" y="2423160"/>
            <a:ext cx="3429000" cy="182880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64024" y="2724912"/>
            <a:ext cx="2971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5393FF"/>
                </a:solidFill>
                <a:latin typeface="Microsoft YaHei"/>
              </a:rPr>
              <a:t>高效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28032" y="3310128"/>
            <a:ext cx="28346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>
                <a:solidFill>
                  <a:srgbClr val="EEF6FF"/>
                </a:solidFill>
                <a:latin typeface="Microsoft YaHei"/>
              </a:rPr>
              <a:t>候选合并 + 向量缓存；10k 开发机 p99 129.045ms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57615" y="2423160"/>
            <a:ext cx="3429000" cy="182880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2724912"/>
            <a:ext cx="2971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FFC15C"/>
                </a:solidFill>
                <a:latin typeface="Microsoft YaHei"/>
              </a:rPr>
              <a:t>安全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50224" y="3310128"/>
            <a:ext cx="28346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>
                <a:solidFill>
                  <a:srgbClr val="EEF6FF"/>
                </a:solidFill>
                <a:latin typeface="Microsoft YaHei"/>
              </a:rPr>
              <a:t>递归脱敏 + 作用域 + 两阶段遗忘 + 隐私审计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965960" y="4892040"/>
            <a:ext cx="8229600" cy="713232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45DEC4"/>
                </a:solidFill>
                <a:latin typeface="Microsoft YaHei"/>
              </a:rPr>
              <a:t>下一步：真实 SDK × 真实银河麒麟 × 独立盲测 × 授权案例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870448"/>
            <a:ext cx="101955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EEF6FF"/>
                </a:solidFill>
                <a:latin typeface="Microsoft YaHei"/>
              </a:rPr>
              <a:t>谢谢各位老师，欢迎提问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