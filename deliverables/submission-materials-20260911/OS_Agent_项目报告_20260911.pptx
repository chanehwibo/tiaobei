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Agent 多源融合记忆优化系统</a:t>
            </a:r>
          </a:p>
          <a:p>
            <a:r>
              <a:t>已完成初版，待赛事验收</a:t>
            </a:r>
          </a:p>
          <a:p>
            <a:r>
              <a:t>本报告与技术方案使用相同当前源码和固定原始证据。项目并非独立盲测或原生SDK通过，真实授权案例及目标V11仍须独立留证。本次只提供PPTX与DOCX，不打包或上传。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官方要求逐项映射：PPT系统展示；Word包含技术文档、用户手册和效果验证报告。第11章支撑创新性论证，第12至13章交代性能可信度。评分由赛事评审决定，不自行评分。</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项目目标与交付边界</a:t>
            </a:r>
          </a:p>
          <a:p>
            <a:r>
              <a:t>把分散的桌面事件转为可更新、可检索、可撤销的记忆，为 OS Agent 提供受约束的上下文。</a:t>
            </a:r>
          </a:p>
          <a:p/>
          <a:p>
            <a:r>
              <a:t>问题定义：桌面助手需要记住用户长期偏好、业务流程和故障经验，但一次性指令、失败工具输出、旧版本知识和相似设备资料可能污染后续决策。本项目研究从多源事件到记忆治理、再到证据检索的完整链路。</a:t>
            </a:r>
          </a:p>
          <a:p>
            <a:r>
              <a:t>实现范围：当前原型包含六类事件接入、偏好提取与版本、短中长期记忆、知识冲突隔离、混合检索、两阶段遗忘、SQLite 持久化和本地 HTTP 界面。另提供官方 Markdown 记忆工具及跨会话行动评测框架。</a:t>
            </a:r>
          </a:p>
          <a:p>
            <a:r>
              <a:t>验收结论：当前 Windows 公开合成回归运行 392 项测试，无失败、1 项平台跳过；冻结五项及附加安全门槛通过。复杂场景的完整召回和拒答已在原分母内修复。</a:t>
            </a:r>
          </a:p>
          <a:p>
            <a:r>
              <a:t>不能外推的结论：这些结果不是独立盲测、真实用户收益、真实 Agent 最终回答正确率或赛事认证。真实 SDK 时延为待复测风险项，当前源码的麒麟 V11 部署需要独立复验。</a:t>
            </a:r>
          </a:p>
          <a:p/>
          <a:p/>
          <a:p>
            <a:r>
              <a:t>依据：README.md；docs/45；证据 W、C、E、N（编号见证据索引）</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提交规则与章节对应</a:t>
            </a:r>
          </a:p>
          <a:p>
            <a:r>
              <a:t>以《2026挑战杯揭榜挂帅麒麟赛题作品提交规则及方式》为本次材料编制依据。</a:t>
            </a:r>
          </a:p>
          <a:p/>
          <a:p>
            <a:r>
              <a:t>材料职责：项目报告用于系统展示方案、关键实现、量化指标与案例；技术方案同时承担完整技术文档、用户手册和效果验证报告的职责。两份材料采用同一证据源，避免口径漂移。</a:t>
            </a:r>
          </a:p>
          <a:p>
            <a:r>
              <a:t>匿名与提交：正文、图形、备注和 Office 元数据不填写学校、学院、校徽、师生姓名或私人路径。正式外层命名需由提交人按“学校+作品名称+主申报人姓名”与平台信息核对，不在匿名正文中填入身份。</a:t>
            </a:r>
          </a:p>
          <a:p>
            <a:r>
              <a:t>规则优先级：最新提交规则规定演示视频为 5–10 分钟、ZIP 不超过 200M；截止时间为 2026年9月15日24:00，百度网盘扫码上传，由一人提交且以首版为准。本次仅编制 PPTX 和 DOCX，不制作视频、PDF 或压缩包，不执行上传。</a:t>
            </a:r>
          </a:p>
          <a:p/>
          <a:p>
            <a:r>
              <a:t>规则要求 | 技术方案位置 | 证据/说明</a:t>
            </a:r>
          </a:p>
          <a:p>
            <a:r>
              <a:t>总体架构、记忆流转 | 第2、5章 | 模块边界、状态与数据流框图</a:t>
            </a:r>
          </a:p>
          <a:p>
            <a:r>
              <a:t>多源、偏好版本、知识检索 | 第3、4、6、7章 | 算法、接口与实现约束</a:t>
            </a:r>
          </a:p>
          <a:p>
            <a:r>
              <a:t>端侧部署、敏感过滤 | 第8–10、15章 | 部署与安全，SDK 风险单列</a:t>
            </a:r>
          </a:p>
          <a:p>
            <a:r>
              <a:t>准确率、召回率与场景案例 | 第12–14章 | 冻结回归、复杂干扰、案例追踪</a:t>
            </a:r>
          </a:p>
          <a:p>
            <a:r>
              <a:t>用户手册与效果验证报告 | 第12–18章 | 数据、对照、复现、操作和排障</a:t>
            </a:r>
          </a:p>
          <a:p/>
          <a:p/>
          <a:p>
            <a:r>
              <a:t>依据：官方提交规则，第1–3页</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使用场景与实用价值</a:t>
            </a:r>
          </a:p>
          <a:p>
            <a:r>
              <a:t>价值定位是减少重复配置、保留正确版本、降低误用记忆风险，而不是让记忆直接替代执行授权。</a:t>
            </a:r>
          </a:p>
          <a:p/>
          <a:p>
            <a:r>
              <a:t>偏好连续性：在报告撰写、邮件整理等任务中，保留语言、详细程度、结构与安全偏好。显式修改生成新版本，后续会话读取当前有效值，旧值保留用于解释变化。</a:t>
            </a:r>
          </a:p>
          <a:p>
            <a:r>
              <a:t>流程与故障知识：对部署、备份、网络连接、打印和文档处理等 OS 场景，返回带来源的流程、条件和处置证据。遇到版本不存在或依据不足时允许空结果，不根据相似标题编造答案。</a:t>
            </a:r>
          </a:p>
          <a:p>
            <a:r>
              <a:t>用户控制：用户可查看当前偏好、知识和冲突，先预览遗忘对象再确认删除。高风险执行仍由上层 Agent 的权限与人工确认控制；检索返回不是执行许可。</a:t>
            </a:r>
          </a:p>
          <a:p>
            <a:r>
              <a:t>收益测量：当前可以验证命中、完整性、拒答、泄漏和耗时。真实效率收益应由授权用户研究测量任务完成时间、重复询问次数、返工率及满意度，现阶段不填写未经测量的节省比例。</a:t>
            </a:r>
          </a:p>
          <a:p/>
          <a:p>
            <a:r>
              <a:t>场景 | 记忆对象 | 主要风险</a:t>
            </a:r>
          </a:p>
          <a:p>
            <a:r>
              <a:t>办公输出 | 语言、格式、步骤偏好 | 临时要求覆盖长期设置</a:t>
            </a:r>
          </a:p>
          <a:p>
            <a:r>
              <a:t>终端升级 | 设备、版本、前置条件、回滚证据 | 邻机/旧版资料误用</a:t>
            </a:r>
          </a:p>
          <a:p>
            <a:r>
              <a:t>故障处置 | 日志链、状态、恢复顺序 | 失败经验当成成功经验</a:t>
            </a:r>
          </a:p>
          <a:p>
            <a:r>
              <a:t>安全与隐私 | 确认规则、脱敏要求、遗忘回执 | 越域、敏感原值和残留索引</a:t>
            </a:r>
          </a:p>
          <a:p/>
          <a:p/>
          <a:p>
            <a:r>
              <a:t>依据：src/os_agent_memory/demo.py；data/eval/complex_*</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总体架构与职责分层</a:t>
            </a:r>
          </a:p>
          <a:p>
            <a:r>
              <a:t>统一应用边界负责作用域和事务，算法层负责记忆治理，存储与模型通过明确接口组合。</a:t>
            </a:r>
          </a:p>
          <a:p/>
          <a:p>
            <a:r>
              <a:t>接入与服务：事件适配器将外部数据转为 DataRecord；MemoryService 是研究服务的统一读写入口，承接 ingest、preferences、search、冲突决策和遗忘确认。HTTP、CLI 和评测器调用同一服务方法。</a:t>
            </a:r>
          </a:p>
          <a:p>
            <a:r>
              <a:t>核心机制：DataIngestionPipeline 执行校验、清洗与脱敏；PreferenceExtractor 与 KnowledgeExtractor 提取结构；MemoryLifecycleManager 控制层间晋升；MemoryStore 管理状态、候选检索和证据策略。</a:t>
            </a:r>
          </a:p>
          <a:p>
            <a:r>
              <a:t>持久化与模型：SQLiteMemoryPersistence 保存知识、偏好历史及运行状态。Embedding provider 可替换，但模型变化必须重新校准并评测。HashEmbedding 是当前测量配置，不是原生 SDK 的替身成绩。</a:t>
            </a:r>
          </a:p>
          <a:p/>
          <a:p>
            <a:r>
              <a:t>框图：总体架构与分层职责</a:t>
            </a:r>
          </a:p>
          <a:p>
            <a:r>
              <a:t>箭头表示分层依赖；实际读写均经服务边界，原生模型另行验收。</a:t>
            </a:r>
          </a:p>
          <a:p>
            <a:r>
              <a:t> 入口层：CLI / 本地 HTTP / 逐请求评测器</a:t>
            </a:r>
          </a:p>
          <a:p>
            <a:r>
              <a:t> 服务层：MemoryService：作用域、服务锁、读写事务</a:t>
            </a:r>
          </a:p>
          <a:p>
            <a:r>
              <a:t> 机制层：接入 / 偏好 / 生命周期 / 冲突 / 检索 / 遗忘</a:t>
            </a:r>
          </a:p>
          <a:p>
            <a:r>
              <a:t> 基础层：SQLite 与索引缓存；可替换 Embedding provider</a:t>
            </a:r>
          </a:p>
          <a:p/>
          <a:p/>
          <a:p>
            <a:r>
              <a:t>依据：src/os_agent_memory/{service,memory_store,persistence,provider_config}.py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研究服务与官方工具的边界</a:t>
            </a:r>
          </a:p>
          <a:p>
            <a:r>
              <a:t>SQLite 研究路线和官方 Markdown 工具路线并行存在；当前没有自动双写、同步或导出桥接。</a:t>
            </a:r>
          </a:p>
          <a:p/>
          <a:p>
            <a:r>
              <a:t>研究路线：MemoryService 以事件和证据簇为输入，按质量、来源权威度、风险和重复证据决定晋升。其来源可信度是研究规则，不等价于真实用户明确授权；接入方必须绑定可信身份及合法数据来源。</a:t>
            </a:r>
          </a:p>
          <a:p>
            <a:r>
              <a:t>官方路线：FileMemoryStore / MemoryTools 采用 memory/MEMORY.md 索引与四类正文目录。写入、修订和删除依赖可信运行时提供的 MemoryContext，显式同意不能由模型工具参数自行伪造。</a:t>
            </a:r>
          </a:p>
          <a:p>
            <a:r>
              <a:t>集成前提：两条路线的数据结构、授权语义、容量限制和计分方式不同。后续如开发桥接，需额外定义字段映射、授权传递、版本冲突、删除传播和双端回滚；本版不把这一规划画成已实现功能。</a:t>
            </a:r>
          </a:p>
          <a:p/>
          <a:p>
            <a:r>
              <a:t>框图：两条实现路线及其独立边界</a:t>
            </a:r>
          </a:p>
          <a:p>
            <a:r>
              <a:t>上下两路无自动导出、双写或同步；需桥接时另立授权与一致性验收。</a:t>
            </a:r>
          </a:p>
          <a:p>
            <a:r>
              <a:t>A1 研究事件入口：JSONL / Python / HTTP；来源与风险字段</a:t>
            </a:r>
          </a:p>
          <a:p>
            <a:r>
              <a:t>A2 MemoryService：证据晋升 + 版本治理；混合检索与证据v2</a:t>
            </a:r>
          </a:p>
          <a:p>
            <a:r>
              <a:t>A3 SQLite研究状态：偏好 / 知识 / 历史；运行状态与索引</a:t>
            </a:r>
          </a:p>
          <a:p>
            <a:r>
              <a:t>B1 可信运行时：会话、时间、明确同意；MemoryContext</a:t>
            </a:r>
          </a:p>
          <a:p>
            <a:r>
              <a:t>B2 MemoryTools：受限读写与修订检查；0–5条受限召回</a:t>
            </a:r>
          </a:p>
          <a:p>
            <a:r>
              <a:t>B3 Markdown文件：MEMORY.md索引；四类正文目录</a:t>
            </a:r>
          </a:p>
          <a:p/>
          <a:p>
            <a:r>
              <a:t>MemoryService 的权威度分数不是官方路线的“明确记忆授权”。</a:t>
            </a:r>
          </a:p>
          <a:p>
            <a:r>
              <a:t>依据：src/os_agent_memory/{service,lifecycle,file_memory,memory_tools}.py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六类多源事件接入</a:t>
            </a:r>
          </a:p>
          <a:p>
            <a:r>
              <a:t>统一的是事件契约，不是声称已经接入所有桌面应用或自动采集个人数据。</a:t>
            </a:r>
          </a:p>
          <a:p/>
          <a:p>
            <a:r>
              <a:t>适配约定：外部适配器负责获得授权、记录时间并提供来源字段；当前支持 JSONL / Python 字典事件接入。真实应用插件、系统审计源或商业软件连接器需按各自接口另外开发和验收。</a:t>
            </a:r>
          </a:p>
          <a:p>
            <a:r>
              <a:t>质量反馈：每批返回 accepted_records、rejected_records、duplicate_records 及 issues。单条坏记录不拖垮整批，但入库失败不能从评测分母中删除。工具失败、取消、未知状态与成功状态区分处理。</a:t>
            </a:r>
          </a:p>
          <a:p>
            <a:r>
              <a:t>信任边界：authority 和 tenant/user 不能由未认证客户端自由声明；当前 localhost 原型依赖可信上层。生产适配器需由服务端从身份与源配置映射，禁止把“手工配置”标签当作权限证明。</a:t>
            </a:r>
          </a:p>
          <a:p/>
          <a:p>
            <a:r>
              <a:t>source_type | 含义/样例 | 默认权威度</a:t>
            </a:r>
          </a:p>
          <a:p>
            <a:r>
              <a:t>manual_config | 用户明确设置语言、格式 | 0.95</a:t>
            </a:r>
          </a:p>
          <a:p>
            <a:r>
              <a:t>tool_result | 工具运行结果与选择反馈 | 成功/未知 0.75；失败/取消 0.15</a:t>
            </a:r>
          </a:p>
          <a:p>
            <a:r>
              <a:t>system_event | 系统通知、状态事件 | 0.70</a:t>
            </a:r>
          </a:p>
          <a:p>
            <a:r>
              <a:t>imported_document | 获准导入的流程或模板 | 0.65</a:t>
            </a:r>
          </a:p>
          <a:p>
            <a:r>
              <a:t>user_behavior | 交互选择与行为反馈 | 0.55</a:t>
            </a:r>
          </a:p>
          <a:p>
            <a:r>
              <a:t>session_context | 当前会话上下文 | 0.45</a:t>
            </a:r>
          </a:p>
          <a:p/>
          <a:p/>
          <a:p>
            <a:r>
              <a:t>依据：src/os_agent_memory/{schemas,ingestion}.py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规范化、脱敏与跨重启去重</a:t>
            </a:r>
          </a:p>
          <a:p>
            <a:r>
              <a:t>先建立可比较的事件，再累计证据；重复上报不能人为增加长期晋升的证据量。</a:t>
            </a:r>
          </a:p>
          <a:p/>
          <a:p>
            <a:r>
              <a:t>规范化：文本压缩空白，时间转为 UTC 的 ISO 格式，工具状态别名映射为统一枚举；校验来源类型、身份、metadata 对象、隐私等级及正 TTL。内容与嵌套 metadata 都经脱敏，不只处理顶层正文。</a:t>
            </a:r>
          </a:p>
          <a:p>
            <a:r>
              <a:t>两级去重：接入层完成批内检查；服务层以 tenant/user/event_id 的稳定键及正文、场景、来源、时间指纹处理跨请求重复。相同 ID 对应不同内容记 event_id_conflict，不把后到的冲突记录默默覆盖。</a:t>
            </a:r>
          </a:p>
          <a:p>
            <a:r>
              <a:t>持久化：seen_events 随运行状态保存，重启后恢复，避免同一事件在重放时重复晋升。写失败回滚内存状态和去重集合；仅在数据库成功提交后返回已持久化的成功结果。</a:t>
            </a:r>
          </a:p>
          <a:p/>
          <a:p>
            <a:r>
              <a:t>框图：多源接入与持久化处理链</a:t>
            </a:r>
          </a:p>
          <a:p>
            <a:r>
              <a:t>记录级拒绝保留原因；系统写入异常触发回滚，不默默丢弃失败。</a:t>
            </a:r>
          </a:p>
          <a:p>
            <a:r>
              <a:t>01 事件接入：六类来源；身份、时间、工具状态</a:t>
            </a:r>
          </a:p>
          <a:p>
            <a:r>
              <a:t>02 格式规范化：字段 / 时间 / 文本；非法记录列入 issues</a:t>
            </a:r>
          </a:p>
          <a:p>
            <a:r>
              <a:t>03 脱敏与风险：正文 + metadata；递归处理、风险标记</a:t>
            </a:r>
          </a:p>
          <a:p>
            <a:r>
              <a:t>04 两级去重：事件ID + 内容指纹；跨请求、跨重启</a:t>
            </a:r>
          </a:p>
          <a:p>
            <a:r>
              <a:t>05 证据聚合：质量 / 权威 / 次数；决定长期晋升</a:t>
            </a:r>
          </a:p>
          <a:p>
            <a:r>
              <a:t>06 事务与回执：成功后保存去重状态；失败恢复业务状态</a:t>
            </a:r>
          </a:p>
          <a:p/>
          <a:p/>
          <a:p>
            <a:r>
              <a:t>依据：src/os_agent_memory/ingestion.py；service.py:ingest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偏好动态捕捉</a:t>
            </a:r>
          </a:p>
          <a:p>
            <a:r>
              <a:t>先识别有意图的偏好表达，再结合证据权重；引用、否定和失败行为不直接当成用户偏好。</a:t>
            </a:r>
          </a:p>
          <a:p/>
          <a:p>
            <a:r>
              <a:t>偏好维度：输出语言、详细程度、格式、步骤结构，以及本地处理、脱敏、执行前确认等安全偏好采用定向规则。工具选择按场景聚合，成功结果与用户主动选择获得更高权重。</a:t>
            </a:r>
          </a:p>
          <a:p>
            <a:r>
              <a:t>语境约束：规则检查意图、否定和修正位置，去除引用片段后选择有效表达；“不要英文，改用中文”不能同时形成两个有效语言偏好。该实现是保守规则提取，不是任意自然语言意图理解。</a:t>
            </a:r>
          </a:p>
          <a:p>
            <a:r>
              <a:t>聚合与解释：按 tenant/user/key 分组，对候选值累积证据；如存在显式配置，最新显式配置优先。保存 evidence_ids、适用 scenes、置信度及分项分数，使结果可回溯到具体事件。</a:t>
            </a:r>
          </a:p>
          <a:p/>
          <a:p>
            <a:r>
              <a:t>框图：偏好提取与证据聚合</a:t>
            </a:r>
          </a:p>
          <a:p>
            <a:r>
              <a:t>规则覆盖限定的偏好表达；置信分数不表示真实正确概率。</a:t>
            </a:r>
          </a:p>
          <a:p>
            <a:r>
              <a:t>01 可用事件：按租户与用户分组；跳过风险输入</a:t>
            </a:r>
          </a:p>
          <a:p>
            <a:r>
              <a:t>02 意图与语境：引用 / 否定 / 修正；选择有效表达</a:t>
            </a:r>
          </a:p>
          <a:p>
            <a:r>
              <a:t>03 偏好候选：语言、格式、安全；工具选择按场景</a:t>
            </a:r>
          </a:p>
          <a:p>
            <a:r>
              <a:t>04 事件加权：质量 + 来源 + 显式性；隐式证据时间衰减</a:t>
            </a:r>
          </a:p>
          <a:p>
            <a:r>
              <a:t>05 候选值决策：最新显式配置优先；否则比较证据权重</a:t>
            </a:r>
          </a:p>
          <a:p>
            <a:r>
              <a:t>06 偏好与解释：当前值、来源、场景；交给版本管理</a:t>
            </a:r>
          </a:p>
          <a:p/>
          <a:p/>
          <a:p>
            <a:r>
              <a:t>依据：src/os_agent_memory/preference.py；tests/test_preference_alignment.py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偏好权重与时间衰减</a:t>
            </a:r>
          </a:p>
          <a:p>
            <a:r>
              <a:t>对隐式行为引入时间权重，对显式配置保留持续性；规则权重不是模型概率。</a:t>
            </a:r>
          </a:p>
          <a:p/>
          <a:p>
            <a:r>
              <a:t>事件分数：基础权重为 0.30×quality + 0.35×authority + 0.20 + 0.15×explicitness，随后结合时间因素。工具选择另用结果状态和用户选择修正权重；失败、取消及用户拒绝的工具结果不参与成功工具偏好。</a:t>
            </a:r>
          </a:p>
          <a:p>
            <a:r>
              <a:t>时间基准：隐式证据使用 30 天半衰期，随证据相对参考时间的年龄按 2^(-age/30) 衰减；参考时间来自同域输入事件。显式设置不因普通时间流逝自动失效，后续明确修正才改变优先值。</a:t>
            </a:r>
          </a:p>
          <a:p>
            <a:r>
              <a:t>适用边界：衰减可使旧习惯逐步降低影响，但当前六组定向衰减诊断只检验特定反转、稳定和显式控制，不证明长期用户体验改善。评分不应解释成 99% 的真实偏好正确概率。</a:t>
            </a:r>
          </a:p>
          <a:p/>
          <a:p>
            <a:r>
              <a:t>变量 | 作用 | 风险控制</a:t>
            </a:r>
          </a:p>
          <a:p>
            <a:r>
              <a:t>quality / authority | 形式质量与来源权重 | 来源权重必须由可信接入方提供</a:t>
            </a:r>
          </a:p>
          <a:p>
            <a:r>
              <a:t>explicitness | 显式配置优先 | 与官方明确持久化同意不同</a:t>
            </a:r>
          </a:p>
          <a:p>
            <a:r>
              <a:t>half_life_days=30 | 隐式旧证据降权 | 可关作消融，不改历史分母</a:t>
            </a:r>
          </a:p>
          <a:p>
            <a:r>
              <a:t>selection_margin | 候选值权重占比 | 同值重复不应由重放产生</a:t>
            </a:r>
          </a:p>
          <a:p/>
          <a:p/>
          <a:p>
            <a:r>
              <a:t>依据：src/os_agent_memory/preference.py；scripts/run_ablations.py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偏好版本化与历史管理</a:t>
            </a:r>
          </a:p>
          <a:p>
            <a:r>
              <a:t>当前值与历史版本分离管理，避免更新后无法解释来源、误用旧值或丢失修正记录。</a:t>
            </a:r>
          </a:p>
          <a:p/>
          <a:p>
            <a:r>
              <a:t>更新过程：同域同 key 的新候选进入版本比较：相同值可合并证据，值发生变化时建立新版本并结束旧版本有效期。保存证据 ID、场景、更新时间和显式事件时间，支持对迟到事件进行顺序判断。</a:t>
            </a:r>
          </a:p>
          <a:p>
            <a:r>
              <a:t>读取过程：preferences 仅返回当前 active 且适用场景的偏好；overview 可查看版本历史。评测检查整个键值集合，额外键、漏键或错值都不能算正确，不能只展示命中的单个槽位。</a:t>
            </a:r>
          </a:p>
          <a:p>
            <a:r>
              <a:t>遗忘联动：遗忘确认应同时处理当前值与相应历史，并同步持久化和索引；不能通过旧版本或跨重启恢复重新暴露已确认遗忘的信息。</a:t>
            </a:r>
          </a:p>
          <a:p/>
          <a:p>
            <a:r>
              <a:t>框图：偏好版本更新与读取</a:t>
            </a:r>
          </a:p>
          <a:p>
            <a:r>
              <a:t>遗忘同时治理当前值与相关历史；重启不能恢复已遗忘内容。</a:t>
            </a:r>
          </a:p>
          <a:p>
            <a:r>
              <a:t>01 新偏好证据：同 tenant / user / key；保留事件有效时间</a:t>
            </a:r>
          </a:p>
          <a:p>
            <a:r>
              <a:t>02 比较当前值：同值合并证据；异值进入变更判断</a:t>
            </a:r>
          </a:p>
          <a:p>
            <a:r>
              <a:t>03 选择有效值：显式修正与时间顺序；不按到达顺序盲覆盖</a:t>
            </a:r>
          </a:p>
          <a:p>
            <a:r>
              <a:t>04 记录版本：新版本 + evidence_ids；旧版本结束有效期</a:t>
            </a:r>
          </a:p>
          <a:p>
            <a:r>
              <a:t>05 持久化：当前值与历史一起保存；失败回滚</a:t>
            </a:r>
          </a:p>
          <a:p>
            <a:r>
              <a:t>06 业务读取：active + scene；历史单独查看</a:t>
            </a:r>
          </a:p>
          <a:p/>
          <a:p/>
          <a:p>
            <a:r>
              <a:t>依据：src/os_agent_memory/memory_store.py；tests/test_incremental.py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短期、中期与长期记忆流转</a:t>
            </a:r>
          </a:p>
          <a:p>
            <a:r>
              <a:t>层级划分服务于生命周期治理，不把临时上下文直接等同于长期事实。</a:t>
            </a:r>
          </a:p>
          <a:p/>
          <a:p>
            <a:r>
              <a:t>短期：ShortTermMemoryBuffer 按租户、用户和会话隔离，默认 TTL 为 1800 秒，可使用单条正 TTL。过期从短期视图移除；会话切换不应把上一会话历史直接作为新会话上下文。</a:t>
            </a:r>
          </a:p>
          <a:p>
            <a:r>
              <a:t>中期：按作用域、场景及 metadata 的 intent/topic/title/event 形成证据簇；缺少显式主题时使用正文前缀。累计次数、来源种类、平均质量、平均权威度和风险标记，而不是简单复制多份相同文本。</a:t>
            </a:r>
          </a:p>
          <a:p>
            <a:r>
              <a:t>长期：通过晋升门槛后才提取偏好与知识进入 MemoryStore。待决冲突、隔离、过期和已遗忘状态不能作为普通回答证据。短期、中期状态可随 SQLite 运行状态恢复，仍按各自有效期使用。</a:t>
            </a:r>
          </a:p>
          <a:p/>
          <a:p>
            <a:r>
              <a:t>框图：短期到长期的记忆流转</a:t>
            </a:r>
          </a:p>
          <a:p>
            <a:r>
              <a:t>层间晋升为研究服务规则；官方文件路线另需明确同意。</a:t>
            </a:r>
          </a:p>
          <a:p>
            <a:r>
              <a:t>01 规范化事件：身份 / 来源 / 风险；重复不增加证据量</a:t>
            </a:r>
          </a:p>
          <a:p>
            <a:r>
              <a:t>02 短期缓冲：会话隔离；默认 TTL 1800秒</a:t>
            </a:r>
          </a:p>
          <a:p>
            <a:r>
              <a:t>03 中期证据簇：按作用域、场景和主题；累计质量与多源证据</a:t>
            </a:r>
          </a:p>
          <a:p>
            <a:r>
              <a:t>04 晋升检查：风险 + 分数 + 数量；不满足保留中期</a:t>
            </a:r>
          </a:p>
          <a:p>
            <a:r>
              <a:t>05 长期记忆：偏好版本 / 结构化知识；状态、时间和来源</a:t>
            </a:r>
          </a:p>
          <a:p>
            <a:r>
              <a:t>06 持续治理：查询 / 冲突 / 过期；降级 / 确认遗忘</a:t>
            </a:r>
          </a:p>
          <a:p/>
          <a:p/>
          <a:p>
            <a:r>
              <a:t>依据：src/os_agent_memory/lifecycle.py；service.py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晋升门槛与状态转换</a:t>
            </a:r>
          </a:p>
          <a:p>
            <a:r>
              <a:t>高分只是必要条件之一；风险标记、证据数量和权威度共同决定是否晋升。</a:t>
            </a:r>
          </a:p>
          <a:p/>
          <a:p>
            <a:r>
              <a:t>分数定义：promotion_score = 0.30×平均质量 + 0.30×平均权威度 + 0.25×min(证据数/3,1) + 0.15×min(来源类型数/3,1)。有风险时得分降低，但最终仍直接拒绝风险簇。</a:t>
            </a:r>
          </a:p>
          <a:p>
            <a:r>
              <a:t>硬条件：得分至少 0.65，无风险，且证据数至少 2 或平均权威度至少 0.9。一次普通 session_context 默认权威度不足以直接晋升；可信 manual_config 可满足高权威入口，但不替代官方文件工具的明确授权。</a:t>
            </a:r>
          </a:p>
          <a:p>
            <a:r>
              <a:t>决策留证：PromotionDecision 保留 score、accepted、from_tier、to_tier 和 reasons。风险降级进入中期/隔离；长期过期由显式生命周期操作处理，不宣称已经部署后台自动调度任务。</a:t>
            </a:r>
          </a:p>
          <a:p/>
          <a:p>
            <a:r>
              <a:t>框图：证据晋升的正向路径</a:t>
            </a:r>
          </a:p>
          <a:p>
            <a:r>
              <a:t>图示为满足条件的路径；任一硬条件失败不晋升，原因仍保留。</a:t>
            </a:r>
          </a:p>
          <a:p>
            <a:r>
              <a:t>01 聚合证据簇：平均质量与权威度；计数与来源多样性</a:t>
            </a:r>
          </a:p>
          <a:p>
            <a:r>
              <a:t>02 风险检查：风险标记必须为空；有风险则拒绝</a:t>
            </a:r>
          </a:p>
          <a:p>
            <a:r>
              <a:t>03 分数门槛：promotion_score；至少 0.65</a:t>
            </a:r>
          </a:p>
          <a:p>
            <a:r>
              <a:t>04 证据门槛：至少2条证据；或平均权威度≥0.9</a:t>
            </a:r>
          </a:p>
          <a:p>
            <a:r>
              <a:t>05 长期提取：偏好 / 知识；更新存储与版本</a:t>
            </a:r>
          </a:p>
          <a:p>
            <a:r>
              <a:t>06 决策记录：accepted + reasons；得分与层级转换</a:t>
            </a:r>
          </a:p>
          <a:p/>
          <a:p/>
          <a:p>
            <a:r>
              <a:t>依据：src/os_agent_memory/lifecycle.py</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官方 Markdown 记忆工具方案</a:t>
            </a:r>
          </a:p>
          <a:p>
            <a:r>
              <a:t>用受限索引和正文实现可审计文件记忆，写入权限来自可信运行时。</a:t>
            </a:r>
          </a:p>
          <a:p/>
          <a:p>
            <a:r>
              <a:t>布局与限制：memory/MEMORY.md 是索引；正文分 user、feedback、project、reference 四类。索引不超过 200 行或 25KiB，单行不超过 150 字符；正文不超过 4KiB 或 200 行。路径、链接及内容都校验，禁止借记忆文本执行文件指令。</a:t>
            </a:r>
          </a:p>
          <a:p>
            <a:r>
              <a:t>写删顺序：写入先正文再索引，删除先索引再正文；使用单写者约束、原子文件替换和 expected_revision 修订检查。MemoryContext 的会话、时间及明确同意由运行时绑定，不能从模型 arguments 中获取授权。</a:t>
            </a:r>
          </a:p>
          <a:p>
            <a:r>
              <a:t>召回约束：memory_recall(query) 返回 0–5 条，记录 Recall 统计；选择器超时、异常或非法结果返回空集，结果字节数有上限。现有本地选择器仅为诊断，不是官方大模型选择器的效果证明。</a:t>
            </a:r>
          </a:p>
          <a:p/>
          <a:p>
            <a:r>
              <a:t>框图：官方文件记忆写入与召回</a:t>
            </a:r>
          </a:p>
          <a:p>
            <a:r>
              <a:t>删除按索引→正文执行；文件工具不与SQLite自动同步。</a:t>
            </a:r>
          </a:p>
          <a:p>
            <a:r>
              <a:t>01 可信运行时：注入 session / time；明确同意 MemoryContext</a:t>
            </a:r>
          </a:p>
          <a:p>
            <a:r>
              <a:t>02 工具校验：路径 / 类型 / 内容；expected_revision</a:t>
            </a:r>
          </a:p>
          <a:p>
            <a:r>
              <a:t>03 正文落盘：四类正文目录；单条≤4KiB / 200行</a:t>
            </a:r>
          </a:p>
          <a:p>
            <a:r>
              <a:t>04 更新索引：MEMORY.md；≤25KiB / 200行</a:t>
            </a:r>
          </a:p>
          <a:p>
            <a:r>
              <a:t>05 受限选择：memory_recall(query)；选择器失败返回空</a:t>
            </a:r>
          </a:p>
          <a:p>
            <a:r>
              <a:t>06 有限结果：0–5条 + Recall统计；内容始终不可信</a:t>
            </a:r>
          </a:p>
          <a:p/>
          <a:p/>
          <a:p>
            <a:r>
              <a:t>依据：官方 Kylinbot记忆方案；src/os_agent_memory/{file_memory,memory_tools}.py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知识结构化与来源保留</a:t>
            </a:r>
          </a:p>
          <a:p>
            <a:r>
              <a:t>以可复用流程、模板、规则和故障经验作为知识对象，保留正文和来源而非只保存向量。</a:t>
            </a:r>
          </a:p>
          <a:p/>
          <a:p>
            <a:r>
              <a:t>提取规则：KnowledgeExtractor 处理无风险、长度至少 16 且包含流程/步骤/案例/模板/规则等提示词的事件。优先采用 metadata.title，否则取首句构造标题；依据提示词生成 workflow、case、template、tool、policy 等标签。</a:t>
            </a:r>
          </a:p>
          <a:p>
            <a:r>
              <a:t>结构与关联：每条知识带 source_ids、版本、有效区间、状态、知识类型、作用域和权威度。标题与正文构成主要内容证据；标签和 source_ids 仅用于组织与追踪，不能被当成实际正文支持。</a:t>
            </a:r>
          </a:p>
          <a:p>
            <a:r>
              <a:t>切分边界：当前没有通用长文自动分块与语义章节解析器。复杂集中的条件、主流程、证据章节由数据构建时提供独立记录；v2 补全这些已存在的同主题章节，不凭空生成缺失证据。</a:t>
            </a:r>
          </a:p>
          <a:p/>
          <a:p>
            <a:r>
              <a:t>字段组 | 内容 | 检索用途</a:t>
            </a:r>
          </a:p>
          <a:p>
            <a:r>
              <a:t>title / content | 可读原始知识与标题 | 词法、字符、向量及支持检查</a:t>
            </a:r>
          </a:p>
          <a:p>
            <a:r>
              <a:t>tags / knowledge_type | 工程分类标签 | 组织与解释，不充当答案证据</a:t>
            </a:r>
          </a:p>
          <a:p>
            <a:r>
              <a:t>source_ids / version | 来源链与变更序号 | 审计、冲突解释</a:t>
            </a:r>
          </a:p>
          <a:p>
            <a:r>
              <a:t>valid_from / valid_to / status | 当前可用状态 | 排除未来、过期、待决和遗忘</a:t>
            </a:r>
          </a:p>
          <a:p>
            <a:r>
              <a:t>tenant / user / scene | 所属域与适用范围 | 候选形成前做可见性约束</a:t>
            </a:r>
          </a:p>
          <a:p/>
          <a:p/>
          <a:p>
            <a:r>
              <a:t>依据：src/os_agent_memory/knowledge.py；schemas.py</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 知识冲突治理</a:t>
            </a:r>
          </a:p>
          <a:p>
            <a:r>
              <a:t>发现冲突先隔离，再明确处理策略，防止矛盾知识同时进入普通回答。</a:t>
            </a:r>
          </a:p>
          <a:p/>
          <a:p>
            <a:r>
              <a:t>检测范围：在同一作用域内比较知识主题和内容，保留 conflict_with 关系与 conflict_pending 状态。不同对象的相似属性不应自动合并成同一冲突；定向规则仍需通过实际领域数据验证。</a:t>
            </a:r>
          </a:p>
          <a:p>
            <a:r>
              <a:t>处理策略：支持 auto、accept_incoming、keep_existing、keep_both、merge、manual_review。自动策略参考权威度、版本与时间；人工决策应核验来源和有效条件，而非仅凭新文档到达顺序。</a:t>
            </a:r>
          </a:p>
          <a:p>
            <a:r>
              <a:t>查询边界：普通搜索 include_pending=False。诊断可显式查看待决记录，但不能把该选项用于业务回答。冲突决策改变内存状态、索引和持久化，失败回滚，避免部分更新。</a:t>
            </a:r>
          </a:p>
          <a:p/>
          <a:p>
            <a:r>
              <a:t>框图：知识冲突隔离与决策</a:t>
            </a:r>
          </a:p>
          <a:p>
            <a:r>
              <a:t>诊断可显式查看待决项；include_pending不能用于业务回答。</a:t>
            </a:r>
          </a:p>
          <a:p>
            <a:r>
              <a:t>01 新知识：带正文、来源、版本；作用域与有效时间</a:t>
            </a:r>
          </a:p>
          <a:p>
            <a:r>
              <a:t>02 同域冲突检查：主题 / 内容 / 条件；相似对象不盲合并</a:t>
            </a:r>
          </a:p>
          <a:p>
            <a:r>
              <a:t>03 待决隔离：conflict_pending；普通检索不可见</a:t>
            </a:r>
          </a:p>
          <a:p>
            <a:r>
              <a:t>04 策略选择：auto / 新旧选择；共存 / 合并 / 人工</a:t>
            </a:r>
          </a:p>
          <a:p>
            <a:r>
              <a:t>05 原子更新：状态、关系与索引；SQLite失败回滚</a:t>
            </a:r>
          </a:p>
          <a:p>
            <a:r>
              <a:t>06 结果核查：终态 + 普通检索；保留决策记录</a:t>
            </a:r>
          </a:p>
          <a:p/>
          <a:p/>
          <a:p>
            <a:r>
              <a:t>依据：src/os_agent_memory/memory_store.py；service.py:resolve_conflict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候选召回与混合评分</a:t>
            </a:r>
          </a:p>
          <a:p>
            <a:r>
              <a:t>先用倒排候选降低工作量，再统一精排；文档向量缓存与查询向量复用减少重复编码。</a:t>
            </a:r>
          </a:p>
          <a:p/>
          <a:p>
            <a:r>
              <a:t>候选阶段：维护词法、汉字及有符号向量维度的候选索引，对授权可见候选取并集后精排。文档向量随知识缓存，单次查询向量供检索与片段评分复用。HashEmbedding 使用 256 维、ngram=2。</a:t>
            </a:r>
          </a:p>
          <a:p>
            <a:r>
              <a:t>评分阶段：中文主配置：0.25×semantic + 0.25×lexical + 0.45×character + 0.05×authority；非中文配置：0.65×semantic + 0.30×lexical + 0.05×authority。character 是标题/正文汉字集合余弦覆盖，不是语义理解或置信概率。</a:t>
            </a:r>
          </a:p>
          <a:p>
            <a:r>
              <a:t>阈值与接口：本次评测统一 top_k=3、min_score=0.265；服务接口默认 top_k=5，评测显式覆盖为3。阈值来自旧 v3 dev 校准，新策略未在复杂集上逐题调整；换模型、阈值或领域后必须另立结果。</a:t>
            </a:r>
          </a:p>
          <a:p/>
          <a:p>
            <a:r>
              <a:t>框图：混合候选检索</a:t>
            </a:r>
          </a:p>
          <a:p>
            <a:r>
              <a:t>无可见候选无需调用模型；词法模式不需要查询向量。</a:t>
            </a:r>
          </a:p>
          <a:p>
            <a:r>
              <a:t>01 查询与身份：tenant / user / scene；top_k / 阈值</a:t>
            </a:r>
          </a:p>
          <a:p>
            <a:r>
              <a:t>02 可见性过滤：状态、时间与作用域；显式条件先过滤</a:t>
            </a:r>
          </a:p>
          <a:p>
            <a:r>
              <a:t>03 查询编码：单次查询向量；片段评分复用</a:t>
            </a:r>
          </a:p>
          <a:p>
            <a:r>
              <a:t>04 并集候选：词法 + 汉字 + 向量；缓存文档向量</a:t>
            </a:r>
          </a:p>
          <a:p>
            <a:r>
              <a:t>05 混合精排：分项权重 + authority；种子阈值0.265</a:t>
            </a:r>
          </a:p>
          <a:p>
            <a:r>
              <a:t>06 证据策略：v2 聚焦 / 补全 / 检查；返回正文与解释</a:t>
            </a:r>
          </a:p>
          <a:p/>
          <a:p/>
          <a:p>
            <a:r>
              <a:t>依据：src/os_agent_memory/{memory_store,embeddings}.py；config/embedding.hash.json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focused_evidence_v2 实现流程</a:t>
            </a:r>
          </a:p>
          <a:p>
            <a:r>
              <a:t>从“找到相似记录”推进到“围绕当前问题组织实际可见证据”，但不宣称语义蕴含。</a:t>
            </a:r>
          </a:p>
          <a:p/>
          <a:p>
            <a:r>
              <a:t>请求聚焦：对明确问句、指令和前置条件请求提取所问片段，保留必要主体，归一中文数量表达，不把设备编号和版本误写为数量。普通关键词查找保留原候选排序与分数。</a:t>
            </a:r>
          </a:p>
          <a:p>
            <a:r>
              <a:t>主题补全：主种子必须达到 min_score，随后只从相同精确主题中补充有新增支持的章节，最多 top_k 条。这样修复长背景稀释所问内容及只取第一份证据的失效，而不是降低全部候选门槛。</a:t>
            </a:r>
          </a:p>
          <a:p>
            <a:r>
              <a:t>返回检查：仅根据实际返回且授权可见的标题/正文检查覆盖，属性问题再检查正文片段。覆盖不足 0.5 则空返回；不使用标签、相关 ID、未返回文档或隐藏记录为结果“补证”。</a:t>
            </a:r>
          </a:p>
          <a:p/>
          <a:p>
            <a:r>
              <a:t>框图：focused_evidence_v2 证据选择</a:t>
            </a:r>
          </a:p>
          <a:p>
            <a:r>
              <a:t>仅明确请求经过支持检查；普通关键词为ranked_lookup，coverage=null。</a:t>
            </a:r>
          </a:p>
          <a:p>
            <a:r>
              <a:t>01 请求分流：明确问句/指令：聚焦；关键词：保留原排序</a:t>
            </a:r>
          </a:p>
          <a:p>
            <a:r>
              <a:t>02 主体与约束：显式条件优先；无歧义设备 / 版本</a:t>
            </a:r>
          </a:p>
          <a:p>
            <a:r>
              <a:t>03 主种子：综合分数≥0.265；必须授权可见</a:t>
            </a:r>
          </a:p>
          <a:p>
            <a:r>
              <a:t>04 互补章节：同精确主题补全；最多 top_k 条</a:t>
            </a:r>
          </a:p>
          <a:p>
            <a:r>
              <a:t>05 支持检查：实际标题与正文；覆盖≥0.5 + 属性片段</a:t>
            </a:r>
          </a:p>
          <a:p>
            <a:r>
              <a:t>06 返回或拒答：正文 + evidence；不支持则返回 []</a:t>
            </a:r>
          </a:p>
          <a:p/>
          <a:p/>
          <a:p>
            <a:r>
              <a:t>依据：src/os_agent_memory/focused_evidence.py；tests/test_focused_evidence.py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主体、版本与显式约束</a:t>
            </a:r>
          </a:p>
          <a:p>
            <a:r>
              <a:t>设备编号和版本必须按字面身份区分，近似名称不应靠高相似度穿过条件过滤。</a:t>
            </a:r>
          </a:p>
          <a:p/>
          <a:p>
            <a:r>
              <a:t>显式输入：required_terms 最多 16 项，每项 1–128 字符；所有词项必须在同一知识标题或正文中出现。全角英数字归一，英文忽略大小写并要求完整词边界；空数组等同未提供显式约束，非法类型、空白和纯标点返回参数错误。</a:t>
            </a:r>
          </a:p>
          <a:p>
            <a:r>
              <a:t>未提供约束时：v2 可从无歧义的明确请求保留格式化设备/版本，如 AE-17 与 v2.4；明确排除的设备或叙述中的邻机不作为目标，多目标歧义则拒答。能力限定为格式化身份，不是任意实体识别或指代消解。</a:t>
            </a:r>
          </a:p>
          <a:p>
            <a:r>
              <a:t>多证据请求：约束应填各证据共有的实体/版本，不能把各章节独有的答案词都塞入 required_terms，否则每条都需同时包含所有词，会损伤召回。评测约束属于事先给定输入，不能从相关 ID 或答案标签反推。</a:t>
            </a:r>
          </a:p>
          <a:p/>
          <a:p>
            <a:r>
              <a:t>输入/情况 | 处理 | 含义</a:t>
            </a:r>
          </a:p>
          <a:p>
            <a:r>
              <a:t>AE-17 vs AE-170 | 完整词边界区分 | 近邻编号不能替代</a:t>
            </a:r>
          </a:p>
          <a:p>
            <a:r>
              <a:t>v2.4 vs v2.40 / unreleased | 版本按字面身份 | 不存在版本应空返回</a:t>
            </a:r>
          </a:p>
          <a:p>
            <a:r>
              <a:t>仅 tags/source_ids 含约束 | 不作为正文命中 | 元数据不能冒充证据</a:t>
            </a:r>
          </a:p>
          <a:p>
            <a:r>
              <a:t>两个目标且无法消歧 | 保守空返回 | 不任意选择其中一个</a:t>
            </a:r>
          </a:p>
          <a:p/>
          <a:p/>
          <a:p>
            <a:r>
              <a:t>依据：docs/13；src/os_agent_memory/focused_evidence.py</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拒答、安全过滤与支持检查</a:t>
            </a:r>
          </a:p>
          <a:p>
            <a:r>
              <a:t>空返回有不同原因：无可见知识、条件不满足或正文支持不足，不能把运行异常算成正确拒答。</a:t>
            </a:r>
          </a:p>
          <a:p/>
          <a:p>
            <a:r>
              <a:t>支持规则：覆盖计算依赖规范化的所问内容与实际返回标题/正文。属性问题额外核验正文片段，减少标题碰巧含词而正文没有依据的误支持。标签、来源 ID 及未返回材料不参与支持计算。</a:t>
            </a:r>
          </a:p>
          <a:p>
            <a:r>
              <a:t>拒答边界：词面覆盖和同主题章节关联是透明启发式，不处理一般否定推理、因果蕴含、数值计算或任意多跳关系。对可回答性没有充分证据时，返回空数组交由上层澄清或请求资料。</a:t>
            </a:r>
          </a:p>
          <a:p>
            <a:r>
              <a:t>计分边界：无答案正确定义为无异常、无非法返回且结果为空；作用域负例另立分母。异常、超时或查询丢失都记失败，并使性能运行不具备通过资格。</a:t>
            </a:r>
          </a:p>
          <a:p/>
          <a:p>
            <a:r>
              <a:t>框图：拒答与错误的判断路径</a:t>
            </a:r>
          </a:p>
          <a:p>
            <a:r>
              <a:t>条件不满足可在对应阶段提前返回；空返回不天然等于正确拒答。</a:t>
            </a:r>
          </a:p>
          <a:p>
            <a:r>
              <a:t>01 合法请求：字段、类型、模式有效；非法参数返回400</a:t>
            </a:r>
          </a:p>
          <a:p>
            <a:r>
              <a:t>02 身份与可见性：不可见候选为零；则合法空返回</a:t>
            </a:r>
          </a:p>
          <a:p>
            <a:r>
              <a:t>03 主体与条件：设备/版本完整边界；歧义目标保守拒答</a:t>
            </a:r>
          </a:p>
          <a:p>
            <a:r>
              <a:t>04 证据候选：种子达阈值；真实章节可补全</a:t>
            </a:r>
          </a:p>
          <a:p>
            <a:r>
              <a:t>05 正文支持：词面覆盖与属性片段；不足则空返回</a:t>
            </a:r>
          </a:p>
          <a:p>
            <a:r>
              <a:t>06 分类计分：无答案与作用域分开；异常 / 超时记失败</a:t>
            </a:r>
          </a:p>
          <a:p/>
          <a:p/>
          <a:p>
            <a:r>
              <a:t>依据：src/os_agent_memory/{focused_evidence,complex_retrieval}.py</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 端侧轻量部署方案</a:t>
            </a:r>
          </a:p>
          <a:p>
            <a:r>
              <a:t>核心研究服务只依赖 Python 标准库，默认本机回环监听，模型和运行资源分别核算。</a:t>
            </a:r>
          </a:p>
          <a:p/>
          <a:p>
            <a:r>
              <a:t>运行组成：Python 3.10 及以上运行 CLI、HTTP 和 MemoryService，SQLite 保存本地状态。HashEmbedding 提供可离线重复的轻量回归配置；Office 生成依赖属于文档工具，不是核心运行时依赖。</a:t>
            </a:r>
          </a:p>
          <a:p>
            <a:r>
              <a:t>部署边界：默认 127.0.0.1:8765；当前没有生产登录、TLS、限流或多进程协调。单进程服务锁序列化 SQLite 读写，不支持多个写进程共享同一数据库。面向局域网前必须补齐认证授权与访问控制。</a:t>
            </a:r>
          </a:p>
          <a:p>
            <a:r>
              <a:t>资源设计：缓存文档向量并增量保存，减少查询时重复编码；查询时仍需候选处理及正文证据检查。RSS 只度量本进程，不包含独立模型服务或子进程；不能把轻量 Hash 配置外推为真实模型的内存占用。</a:t>
            </a:r>
          </a:p>
          <a:p/>
          <a:p>
            <a:r>
              <a:t>框图：端侧进程与部署职责</a:t>
            </a:r>
          </a:p>
          <a:p>
            <a:r>
              <a:t>逻辑依赖不代表生产联网能力；无认证、TLS或多进程共享写入保证。</a:t>
            </a:r>
          </a:p>
          <a:p>
            <a:r>
              <a:t> 调用端：浏览器 / CLI / 评测；本机可信身份</a:t>
            </a:r>
          </a:p>
          <a:p>
            <a:r>
              <a:t> 应用进程：127.0.0.1 HTTP + MemoryService + RLock</a:t>
            </a:r>
          </a:p>
          <a:p>
            <a:r>
              <a:t> 端侧状态：内存候选索引 / 向量缓存 / SQLite文件</a:t>
            </a:r>
          </a:p>
          <a:p>
            <a:r>
              <a:t> 模型边界：Hash在进程内；原生SDK为受限子进程，待复测</a:t>
            </a:r>
          </a:p>
          <a:p/>
          <a:p/>
          <a:p>
            <a:r>
              <a:t>依据：pyproject.toml；src/os_agent_memory/{web_server,service,persistence}.py</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 持久化、重启与失败回滚</a:t>
            </a:r>
          </a:p>
          <a:p>
            <a:r>
              <a:t>变更以事务为边界，内存状态、索引和 SQLite 不能分别宣称成功。</a:t>
            </a:r>
          </a:p>
          <a:p/>
          <a:p>
            <a:r>
              <a:t>事务流程：写操作获得服务锁后，复制可变业务状态作为回滚点，执行入库、冲突或遗忘操作，保存 SQLite，最后返回。数据库或中间步骤异常时恢复 store、lifecycle、ingestion、去重及遗忘回执状态。</a:t>
            </a:r>
          </a:p>
          <a:p>
            <a:r>
              <a:t>恢复内容：重启加载偏好、知识、版本、运行时证据、seen_events、待确认计划及已确认回执。短期内容恢复后仍执行过期检查；重复确认返回原回执，不应再次扩大删除范围。</a:t>
            </a:r>
          </a:p>
          <a:p>
            <a:r>
              <a:t>成本与边界：回滚快照和持久化会增加写入内存与耗时。现有单条增量写入不是零成本，也没有分布式事务或多写者保证；备份必须使用停止写入后的文件副本或 SQLite 在线备份机制。</a:t>
            </a:r>
          </a:p>
          <a:p/>
          <a:p>
            <a:r>
              <a:t>框图：服务写入的事务与回滚</a:t>
            </a:r>
          </a:p>
          <a:p>
            <a:r>
              <a:t>从变更到提交任一步骤异常，恢复回滚点；不返回部分成功。</a:t>
            </a:r>
          </a:p>
          <a:p>
            <a:r>
              <a:t>01 取得服务锁：单进程 RLock；序列化状态变更</a:t>
            </a:r>
          </a:p>
          <a:p>
            <a:r>
              <a:t>02 保存回滚点：store / lifecycle；去重与遗忘回执</a:t>
            </a:r>
          </a:p>
          <a:p>
            <a:r>
              <a:t>03 执行变更：导入 / 冲突 / 遗忘；同步内存索引</a:t>
            </a:r>
          </a:p>
          <a:p>
            <a:r>
              <a:t>04 SQLite提交：业务对象 + 运行状态；一次事务边界</a:t>
            </a:r>
          </a:p>
          <a:p>
            <a:r>
              <a:t>05 返回成功：仅提交后回执；附目标与状态</a:t>
            </a:r>
          </a:p>
          <a:p>
            <a:r>
              <a:t>06 重启核验：加载同一数据库；恢复版本、去重、回执</a:t>
            </a:r>
          </a:p>
          <a:p/>
          <a:p/>
          <a:p>
            <a:r>
              <a:t>依据：src/os_agent_memory/service.py:atomic_mutation；persistence.py</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 敏感信息过滤方案</a:t>
            </a:r>
          </a:p>
          <a:p>
            <a:r>
              <a:t>从输入正文到嵌套结构和输出证据都控制敏感原值，检测质量与泄漏门槛分开评价。</a:t>
            </a:r>
          </a:p>
          <a:p/>
          <a:p>
            <a:r>
              <a:t>处理链路：SensitiveFilter 对正文和 metadata 的嵌套结构执行实体检测与替换，保留命中类型而非将原值写入普通日志。提示注入及风险指令另作风险评估，不以脱敏完成作为内容可信证明。</a:t>
            </a:r>
          </a:p>
          <a:p>
            <a:r>
              <a:t>评测方式：冻结敏感集包含 50 个请求，以实体类型和精确原值出现次数做微平均 F1；重复多检计 FP、漏检计 FN。脱敏后原值泄漏另设零容忍门槛，F1 达标不能抵消泄漏。</a:t>
            </a:r>
          </a:p>
          <a:p>
            <a:r>
              <a:t>发布检查：代码、报告和公开材料另运行隐私检查；数值型耗时的精确白名单只针对明确数值键、float 类型及 [0,1] 范围。字符串、整数、未知键和其他秘密仍检查，不能全局忽略类似证件号的字段。</a:t>
            </a:r>
          </a:p>
          <a:p/>
          <a:p>
            <a:r>
              <a:t>框图：敏感过滤与发布检查</a:t>
            </a:r>
          </a:p>
          <a:p>
            <a:r>
              <a:t>F1与泄漏门槛分开；未知敏感格式和注入表达仍有风险。</a:t>
            </a:r>
          </a:p>
          <a:p>
            <a:r>
              <a:t>01 输入数据：content + metadata；视为不可信内容</a:t>
            </a:r>
          </a:p>
          <a:p>
            <a:r>
              <a:t>02 实体检测：类型与精确原值；规则识别</a:t>
            </a:r>
          </a:p>
          <a:p>
            <a:r>
              <a:t>03 递归替换：正文、嵌套对象与列表；不留原值日志</a:t>
            </a:r>
          </a:p>
          <a:p>
            <a:r>
              <a:t>04 风险评估：注入与危险记忆标记；限制长期晋升</a:t>
            </a:r>
          </a:p>
          <a:p>
            <a:r>
              <a:t>05 回归门槛：实体微F1 ≥90%；敏感原值零泄漏</a:t>
            </a:r>
          </a:p>
          <a:p>
            <a:r>
              <a:t>06 发布复核：代码 / JSON / Office；自动检查 + 人工审阅</a:t>
            </a:r>
          </a:p>
          <a:p/>
          <a:p/>
          <a:p>
            <a:r>
              <a:t>依据：src/os_agent_memory/security.py；tests/test_metric_privacy.py；证据 W</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 可确认遗忘与审计闭环</a:t>
            </a:r>
          </a:p>
          <a:p>
            <a:r>
              <a:t>预览不修改，确认才执行；删除对象、作用域、有效期和回执必须一一绑定。</a:t>
            </a:r>
          </a:p>
          <a:p/>
          <a:p>
            <a:r>
              <a:t>两阶段协议：forget_preview 接收自然语言指令及作用域，返回匹配关键词、偏好/知识 ID、计划 ID、expires_at。默认计划有效期 300 秒；预览零修改，上层必须展示匹配范围并取得明确确认。</a:t>
            </a:r>
          </a:p>
          <a:p>
            <a:r>
              <a:t>确认执行：forget_confirm 校验计划归属、有效期和确认状态，执行软/硬删除并同步索引、历史、持久化与最小审计。同作用域重复确认可返回原回执；跨域或过期计划拒绝。</a:t>
            </a:r>
          </a:p>
          <a:p>
            <a:r>
              <a:t>销毁边界：硬删除只覆盖当前管理的存储，不自动清理外部备份、导出、副本、系统日志或快照。生产部署还需独立保留期限、备份销毁和访问审计，不宣称具有介质级安全擦除。</a:t>
            </a:r>
          </a:p>
          <a:p/>
          <a:p>
            <a:r>
              <a:t>框图：两阶段遗忘与一致性</a:t>
            </a:r>
          </a:p>
          <a:p>
            <a:r>
              <a:t>硬删除不自动销毁外部备份、日志与导出副本。</a:t>
            </a:r>
          </a:p>
          <a:p>
            <a:r>
              <a:t>01 用户指令：自然语言 + 作用域；明确删除意图</a:t>
            </a:r>
          </a:p>
          <a:p>
            <a:r>
              <a:t>02 预览计划：目标IDs / 关键词；有效期；零修改</a:t>
            </a:r>
          </a:p>
          <a:p>
            <a:r>
              <a:t>03 用户确认：核对范围后确认；传真实 plan_id</a:t>
            </a:r>
          </a:p>
          <a:p>
            <a:r>
              <a:t>04 安全校验：归属、有效期、状态；重复确认返回原回执</a:t>
            </a:r>
          </a:p>
          <a:p>
            <a:r>
              <a:t>05 原子遗忘：内容 / 历史 / 索引；软删或硬删 + 保存</a:t>
            </a:r>
          </a:p>
          <a:p>
            <a:r>
              <a:t>06 审计核查：最小回执 audit_id；重启后仍不可召回</a:t>
            </a:r>
          </a:p>
          <a:p/>
          <a:p/>
          <a:p>
            <a:r>
              <a:t>依据：src/os_agent_memory/{service,memory_store,persistence}.py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 Embedding 与原生 SDK 适配</a:t>
            </a:r>
          </a:p>
          <a:p>
            <a:r>
              <a:t>模型接口与业务算法分离，真实 SDK 接入必须保留模型身份、错误和成本，不做静默降级。</a:t>
            </a:r>
          </a:p>
          <a:p/>
          <a:p>
            <a:r>
              <a:t>三种配置：hash 为轻量回归配置；kylin 为可配置 Python 模块的通用适配支架，不表示官方有同名 Python 包；kylin-native 依据公开 C ABI 管理会话、模型初始化、向量校验和释放。</a:t>
            </a:r>
          </a:p>
          <a:p>
            <a:r>
              <a:t>隔离方案：原生调用放入独立子进程，输入走标准输入，超时终止并等待回收；错误摘要不回显用户正文。每次调用重新建进程/会话，当前不能把初始化成本假定为仅首次发生。</a:t>
            </a:r>
          </a:p>
          <a:p>
            <a:r>
              <a:t>当前结论：旧 ABI 单次返回 768 维有限非零向量，耗时 13,390.615ms，包含进程、会话和初始化；新 ABI 缺符号，实际模型身份/版本、完整服务 P95 及向量库建写查删尚待核验。</a:t>
            </a:r>
          </a:p>
          <a:p/>
          <a:p>
            <a:r>
              <a:t>框图：原生模型调用隔离方案</a:t>
            </a:r>
          </a:p>
          <a:p>
            <a:r>
              <a:t>新ABI缺符号；旧ABI单探针13,390.615ms不构成原生P95。</a:t>
            </a:r>
          </a:p>
          <a:p>
            <a:r>
              <a:t>01 provider配置：库 / 模型 / 版本 / 维度；按实际安装填写</a:t>
            </a:r>
          </a:p>
          <a:p>
            <a:r>
              <a:t>02 子进程调用：输入走标准输入；超时受限</a:t>
            </a:r>
          </a:p>
          <a:p>
            <a:r>
              <a:t>03 原生会话：创建会话与模型初始化；当前每次重复成本</a:t>
            </a:r>
          </a:p>
          <a:p>
            <a:r>
              <a:t>04 取向量：检查错误码、维度；有限且非零</a:t>
            </a:r>
          </a:p>
          <a:p>
            <a:r>
              <a:t>05 释放与回收：释放结果和会话；异常终止并等待</a:t>
            </a:r>
          </a:p>
          <a:p>
            <a:r>
              <a:t>06 服务回传：成功向量或错误摘要；不回退 Hash</a:t>
            </a:r>
          </a:p>
          <a:p/>
          <a:p>
            <a:r>
              <a:t>真实 SDK 时延：待复测风险项；现有证据不支持原生 P95≤500ms。</a:t>
            </a:r>
          </a:p>
          <a:p>
            <a:r>
              <a:t>依据：docs/27；artifacts/verification/feedback/sdk_risk.json</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 银河麒麟 V11 适配结论</a:t>
            </a:r>
          </a:p>
          <a:p>
            <a:r>
              <a:t>目标系统是银河麒麟桌面 V11；Windows 通过不能替代同一源码在目标系统的验证。</a:t>
            </a:r>
          </a:p>
          <a:p/>
          <a:p>
            <a:r>
              <a:t>历史证据：曾完成 V11 磁盘安装及原生接口探针；历史接管复验的 HTTP 连接受系统网络管控拒绝，核心检查仅 7/8 通过。该结果与更早成功记录各自绑定历史源码，不能相互替换或直接升级为当前版本结论。</a:t>
            </a:r>
          </a:p>
          <a:p>
            <a:r>
              <a:t>当前边界：本版新默认检索和最终 Windows 结果均来自当前运行源码，但尚无同一源码的 V11 全量验收。虚拟机资源与口径认可按参赛者确认处理，原始认可凭证仍需归档，认可不代表 SDK 性能通过。</a:t>
            </a:r>
          </a:p>
          <a:p>
            <a:r>
              <a:t>复验输出：需保留系统/架构、Python/SQLite/FTS5、安装根文件系统、包与模型版本、源码摘要、测试日志、HTTP 调用及每项失败。未经原始记录不得把 pending 或 false 改成通过。</a:t>
            </a:r>
          </a:p>
          <a:p/>
          <a:p>
            <a:r>
              <a:t>项目 | 当前证据 | 结论</a:t>
            </a:r>
          </a:p>
          <a:p>
            <a:r>
              <a:t>Windows 当前运行代码 | 392测试，17工程检查 | 公开合成回归通过</a:t>
            </a:r>
          </a:p>
          <a:p>
            <a:r>
              <a:t>V11 历史磁盘安装 | 历史部署/探针可追溯 | 仅对应历史源码</a:t>
            </a:r>
          </a:p>
          <a:p>
            <a:r>
              <a:t>V11 当前源码全量检查 | 需要独立重跑 | 待复验</a:t>
            </a:r>
          </a:p>
          <a:p>
            <a:r>
              <a:t>真实模型/原生P95 | 单探针，不足50不同请求 | 待复测风险项</a:t>
            </a:r>
          </a:p>
          <a:p>
            <a:r>
              <a:t>向量数据库真实往返 | 服务存在，链路无完整证明 | 待复测风险项</a:t>
            </a:r>
          </a:p>
          <a:p/>
          <a:p/>
          <a:p>
            <a:r>
              <a:t>依据：docs/31；docs/35；docs/27；证据 W</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 真实 SDK 风险解除流程</a:t>
            </a:r>
          </a:p>
          <a:p>
            <a:r>
              <a:t>只有同一实际模型、系统和资源配置下质量与性能共同达标，才解除该配置的风险标记。</a:t>
            </a:r>
          </a:p>
          <a:p/>
          <a:p>
            <a:r>
              <a:t>冻结配置：记录 V11、CPU/内存、runtime、SDK、库/模型/配置摘要，验证实际使用模型及维度。冻结至少 50 个不同请求、干扰分布、top_k、阈值和预热规则，禁止复制同题凑分母。</a:t>
            </a:r>
          </a:p>
          <a:p>
            <a:r>
              <a:t>分段测量：启动、模型初始化、首查和完整 MemoryService.search 分别测量，HTTP 与 Agent 端到端另报。至少三轮，保留每题输出、错误、超时和延迟，不删除慢请求，不仅展示最快一轮。</a:t>
            </a:r>
          </a:p>
          <a:p>
            <a:r>
              <a:t>通过条件：每轮原生完整服务检索 P95≤500ms，且偏好/知识/冲突/敏感、无答案和隔离门槛都通过。若开发常驻 worker，应先验证超时隔离、重启恢复、资源释放和模型身份再重测；向量库另补建库、写入、查询、删除后不可召回的往返。</a:t>
            </a:r>
          </a:p>
          <a:p/>
          <a:p>
            <a:r>
              <a:t>框图：真实 SDK 复测闭环</a:t>
            </a:r>
          </a:p>
          <a:p>
            <a:r>
              <a:t>向量数据库建库、写入、查询、删除往返另验；不以服务active代替。</a:t>
            </a:r>
          </a:p>
          <a:p>
            <a:r>
              <a:t>01 核验身份：系统、库与实际模型；配置/二进制摘要</a:t>
            </a:r>
          </a:p>
          <a:p>
            <a:r>
              <a:t>02 冻结样本：至少50不同请求；干扰 / 阈值 / 预热</a:t>
            </a:r>
          </a:p>
          <a:p>
            <a:r>
              <a:t>03 分段执行：启动、初始化、首查；服务 / HTTP / Agent</a:t>
            </a:r>
          </a:p>
          <a:p>
            <a:r>
              <a:t>04 三轮留证：每题输出、错误与耗时；P50 / P95 / P99</a:t>
            </a:r>
          </a:p>
          <a:p>
            <a:r>
              <a:t>05 联合门槛：质量 / 拒答 / 隔离；原生服务P95≤500ms</a:t>
            </a:r>
          </a:p>
          <a:p>
            <a:r>
              <a:t>06 配置结论：仅该配置解除风险；赛事仍需正式验收</a:t>
            </a:r>
          </a:p>
          <a:p/>
          <a:p/>
          <a:p>
            <a:r>
              <a:t>依据：docs/27；scripts/check_kylin_native.py</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 相关工作对比：经典路线</a:t>
            </a:r>
          </a:p>
          <a:p>
            <a:r>
              <a:t>比较机制和适用边界，不把不同模型、数据、硬件下的数字拼成性能排行榜。</a:t>
            </a:r>
          </a:p>
          <a:p/>
          <a:p>
            <a:r>
              <a:t>定位：层级记忆、遗忘、向量检索与长期用户建模均有先例。本项目的贡献定位为面向 OS 事件的治理约束组合、可核验实现及逐请求证据链，不声称提出基础模型或全新遗忘理论。</a:t>
            </a:r>
          </a:p>
          <a:p>
            <a:r>
              <a:t>对照原则：仅词法、仅 Hash 向量、混合检索和缓存开关是本地工程对照，不等价于复现 MemGPT、LongMem 或 FAISS。没有同条件真实运行就不写“优于”相关系统。</a:t>
            </a:r>
          </a:p>
          <a:p/>
          <a:p>
            <a:r>
              <a:t>工作 | 主要机制 | 本项目差异与边界</a:t>
            </a:r>
          </a:p>
          <a:p>
            <a:r>
              <a:t>MemGPT [1] | 虚拟上下文、外存调度与中断 | 偏重OS事件治理；无其LLM调度复现</a:t>
            </a:r>
          </a:p>
          <a:p>
            <a:r>
              <a:t>MemoryBank [2] | 长期记忆、用户特征、遗忘强化 | 显式设置优先、证据版本；衰减非首创</a:t>
            </a:r>
          </a:p>
          <a:p>
            <a:r>
              <a:t>Generative Agents [3] | 观察、检索、反思、规划 | 治理工具结果；无自主反思规划证明</a:t>
            </a:r>
          </a:p>
          <a:p>
            <a:r>
              <a:t>LongMem [4] | 冻结编码器及可训练记忆侧网络 | 不训练网络；Hash不等于预训练模型</a:t>
            </a:r>
          </a:p>
          <a:p>
            <a:r>
              <a:t>FAISS [5] | 大规模向量近似/压缩检索 | 本地候选索引；不主张ANN算法创新</a:t>
            </a:r>
          </a:p>
          <a:p/>
          <a:p/>
          <a:p>
            <a:r>
              <a:t>依据：docs/38；参考文献[1]–[5]</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 相关工作对比：近期系统与基准</a:t>
            </a:r>
          </a:p>
          <a:p>
            <a:r>
              <a:t>近期研究提示，应将记忆写入、更新、召回和最终回答分层评估，并专测前提与环境变化。</a:t>
            </a:r>
          </a:p>
          <a:p/>
          <a:p>
            <a:r>
              <a:t>分析边界：下表依据仓库已记录的作者论文摘要与版本页。没有运行这些外部基准，也没有取得可与论文直接比较的得分；文献数字仅说明基准本身，不计入本项目样本数。</a:t>
            </a:r>
          </a:p>
          <a:p>
            <a:r>
              <a:t>启示：本项目新增版本不存在、关系缺证据、长背景、多文档、日志链及作用域干扰。它们覆盖部分方向，但公开回归修复仍不能替代授权真实轨迹、未见问题和独立 Judge。</a:t>
            </a:r>
          </a:p>
          <a:p/>
          <a:p>
            <a:r>
              <a:t>工作/版本 | 公开机制或评测对象 | 本项目比较</a:t>
            </a:r>
          </a:p>
          <a:p>
            <a:r>
              <a:t>Mem0 [6]，2025 v1 | 持续对话提取/整合/检索，图记忆变体 | 无图推理成绩；重在来源、授权和遗忘</a:t>
            </a:r>
          </a:p>
          <a:p>
            <a:r>
              <a:t>MemoryOS [7]，2025 v1 | 短中长期层级，存储/更新/检索/生成 | 三层划分非首创；强化事件与端侧治理</a:t>
            </a:r>
          </a:p>
          <a:p>
            <a:r>
              <a:t>LongMemEval [8]，v2 | 500问题；提取、时间、更新、跨会话、拒答 | 召回与答案分开；无该基准分数</a:t>
            </a:r>
          </a:p>
          <a:p>
            <a:r>
              <a:t>LongMemEval-V2 [9]，v1 | 451问题；Web Agent经验、状态与前提 | 仅定向OS难例；不称完整轨迹复现</a:t>
            </a:r>
          </a:p>
          <a:p/>
          <a:p/>
          <a:p>
            <a:r>
              <a:t>依据：docs/43；参考文献[6]–[9]</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 创新主张与对照证据</a:t>
            </a:r>
          </a:p>
          <a:p>
            <a:r>
              <a:t>按“已有先例—本项目机制—代码—实验—边界”组织创新论证，不自行推算竞赛得分。</a:t>
            </a:r>
          </a:p>
          <a:p/>
          <a:p>
            <a:r>
              <a:t>贡献一：将多源事件、显式偏好优先、风险门槛、冲突隔离、作用域和可确认遗忘做成一致流程，强调来源和变更的可解释性。官方文件工具另提供运行时授权及受限文件协议。</a:t>
            </a:r>
          </a:p>
          <a:p>
            <a:r>
              <a:t>贡献二：v2 聚焦所问片段、保护无歧义格式化身份、从同精确主题补全章节，并对实际返回正文做支持检查。贡献是限定范围的证据选择规则，不是语义蕴含、图推理或通用多跳。</a:t>
            </a:r>
          </a:p>
          <a:p>
            <a:r>
              <a:t>贡献三：逐请求保留结果、分母、错误、干扰、延迟及源码摘要，增加不退化比较器，在修复公开失败的同时保护原本成功请求。技术创新性与性能指标的材料重点对应研讨资料中的30分、25分项目，最终分数由评审决定。</a:t>
            </a:r>
          </a:p>
          <a:p/>
          <a:p>
            <a:r>
              <a:t>可运行对照 | 控制变量 | 支持的结论</a:t>
            </a:r>
          </a:p>
          <a:p>
            <a:r>
              <a:t>三种证据策略 | 同源码/语料/输入/参数/三轮 | 完整性、拒答、干扰及延迟取舍</a:t>
            </a:r>
          </a:p>
          <a:p>
            <a:r>
              <a:t>约束开启/关闭 | 同48题，约束属于真实输入 | 显式过滤与自动主体保护表现</a:t>
            </a:r>
          </a:p>
          <a:p>
            <a:r>
              <a:t>lexical / semantic / hybrid | v3分区与各自dev阈值 | 局部检索机制诊断，非论文复现</a:t>
            </a:r>
          </a:p>
          <a:p>
            <a:r>
              <a:t>缓存/隔离/衰减开关 | 固定事件与预期 | 组件作用，不扩大独立分母</a:t>
            </a:r>
          </a:p>
          <a:p/>
          <a:p/>
          <a:p>
            <a:r>
              <a:t>依据：docs/38、43、45；scripts/compare_evidence_policies.py</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 效果验证报告：整体设计</a:t>
            </a:r>
          </a:p>
          <a:p>
            <a:r>
              <a:t>本章至第14章组成效果验证报告；把开发、冻结回归、复杂压力与正式验收分层管理。</a:t>
            </a:r>
          </a:p>
          <a:p/>
          <a:p>
            <a:r>
              <a:t>测量对象：冻结五项通过真实 MemoryService 接入/查询/变更测量；复杂集用受控存储快照隔离检索和过滤问题。服务负载另测真实增量写入、重启、顺序/并发/HTTP 命中和 RSS。</a:t>
            </a:r>
          </a:p>
          <a:p>
            <a:r>
              <a:t>数据层次：开发20题与追加10题属于可见开发；冻结五项保持原样；复杂120题与约束48题分别报告。相同查询的规模、约束模式和三轮变化不是新的独立请求。</a:t>
            </a:r>
          </a:p>
          <a:p>
            <a:r>
              <a:t>证据链：生成器校验数据字节、已测运行源码快照、评测器和原始报告；比较器重算逐请求汇总。不修改阈值、标签、失败分母或原始历史文件。当前不是独立盲测，正式 Agent/Judge 与原生配置另立评测。</a:t>
            </a:r>
          </a:p>
          <a:p/>
          <a:p>
            <a:r>
              <a:t>框图：效果验证与证据绑定</a:t>
            </a:r>
          </a:p>
          <a:p>
            <a:r>
              <a:t>相同查询的重复轮次、规模和模式不增加独立请求数。</a:t>
            </a:r>
          </a:p>
          <a:p>
            <a:r>
              <a:t>01 确定用途：开发 / 回归 / 正式验收；不同证据不混用</a:t>
            </a:r>
          </a:p>
          <a:p>
            <a:r>
              <a:t>02 冻结输入：数据、标签、配置；不同请求分母</a:t>
            </a:r>
          </a:p>
          <a:p>
            <a:r>
              <a:t>03 绑定源码：运行代码 / 评测器；原始与LF摘要</a:t>
            </a:r>
          </a:p>
          <a:p>
            <a:r>
              <a:t>04 实际执行：接入/检索/服务负载；逐题保留失败与时延</a:t>
            </a:r>
          </a:p>
          <a:p>
            <a:r>
              <a:t>05 重算门槛：质量、完整性、干扰；作用域与性能</a:t>
            </a:r>
          </a:p>
          <a:p>
            <a:r>
              <a:t>06 材料引用：从原始JSON读取；保留限制与来源</a:t>
            </a:r>
          </a:p>
          <a:p/>
          <a:p/>
          <a:p>
            <a:r>
              <a:t>依据：docs/39；证据 W、R、C、E、N、D、H</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冻结五项的分母与失败规则</a:t>
            </a:r>
          </a:p>
          <a:p>
            <a:r>
              <a:t>主指标使用固定请求集合和严格定义，额外答案、入库失败和异常不会被排除。</a:t>
            </a:r>
          </a:p>
          <a:p/>
          <a:p>
            <a:r>
              <a:t>固定配置：request_regression_v1.json；HashEmbedding 256维/ngram=2；10,000条记录；top_k=3；min_score=0.265。质量、分母、数据摘要和附加安全条件共同参与门禁。</a:t>
            </a:r>
          </a:p>
          <a:p>
            <a:r>
              <a:t>附加门槛：8项长期持久化检查、60条标注知识完整入库、12无答案正确率至少85%、8跨域请求零泄漏及脱敏后原值零泄漏均需通过。附加检查不凑成五项各自的新独立分母。</a:t>
            </a:r>
          </a:p>
          <a:p/>
          <a:p>
            <a:r>
              <a:t>指标 | 分母/公式 | 失败与门槛</a:t>
            </a:r>
          </a:p>
          <a:p>
            <a:r>
              <a:t>偏好准确率 | 完整键值集合正确请求/68 | 多键、漏键、错值失败；≥85%</a:t>
            </a:r>
          </a:p>
          <a:p>
            <a:r>
              <a:t>知识 Recall@3 | 60正例逐题召回的宏平均 | 入库漏失仍保留题目；≥85%</a:t>
            </a:r>
          </a:p>
          <a:p>
            <a:r>
              <a:t>冲突正确率 | 60独立知识对，检测及终态均正确 | 错检/漏检/误淘汰失败；≥88%</a:t>
            </a:r>
          </a:p>
          <a:p>
            <a:r>
              <a:t>检索 P95 | 80不同查询：60正例+12无答案+8跨域 | nearest-rank，不删慢题；≤500ms</a:t>
            </a:r>
          </a:p>
          <a:p>
            <a:r>
              <a:t>敏感实体微 F1 | 50请求，2TP/(2TP+FP+FN) | 实体类型+原值次数；≥90%</a:t>
            </a:r>
          </a:p>
          <a:p/>
          <a:p/>
          <a:p>
            <a:r>
              <a:t>依据：data/eval/request_regression_v1.json；src/os_agent_memory/request_contract.py</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复杂场景与干扰数据设计</a:t>
            </a:r>
          </a:p>
          <a:p>
            <a:r>
              <a:t>复杂集独立于五项分母，包含近邻实体、版本、条件、长文及访问边界等难例。</a:t>
            </a:r>
          </a:p>
          <a:p/>
          <a:p>
            <a:r>
              <a:t>原复杂集：12场景120请求：72正例、24无答案、24作用域负例，含12个多文档正例。132条固定文档包含主流程、条件、证据、相似规则、旧/未来版本、待决/隔离以及其他租户/用户/场景记录。</a:t>
            </a:r>
          </a:p>
          <a:p>
            <a:r>
              <a:t>新增约束集：6场景48请求：24正例、12无答案、12作用域负例，含6个多文档正例。无答案细分版本不存在6题、关系缺证据6题；78条固定文档中加入近似编号、相似版本及仅元数据含词等干扰。</a:t>
            </a:r>
          </a:p>
          <a:p>
            <a:r>
              <a:t>规模与限制：每套构建1,000/10,000记录，生成填充中相似干扰占0%/75%，固定难例始终保留，0%不是无干扰。快照直接构造状态，检验检索与过滤，不额外证明真实接入和授权晋升。两套总计168个不同请求、18场景。</a:t>
            </a:r>
          </a:p>
          <a:p/>
          <a:p>
            <a:r>
              <a:t>数据 | 不同请求 | 正例/无答案/作用域 | 模式</a:t>
            </a:r>
          </a:p>
          <a:p>
            <a:r>
              <a:t>complex_retrieval_v1 | 120 | 72 / 24 / 24 | 无显式约束</a:t>
            </a:r>
          </a:p>
          <a:p>
            <a:r>
              <a:t>complex_constraints_v1 | 48 | 24 / 12 / 12 | 显式约束开、关分别报告</a:t>
            </a:r>
          </a:p>
          <a:p>
            <a:r>
              <a:t>开发 evidence_coverage | 20 | 10 / 10 / 不设该组 | 三策略；开发可见</a:t>
            </a:r>
          </a:p>
          <a:p>
            <a:r>
              <a:t>追加 challenge | 10 | 6 / 4 / 不设该组 | 同组10文档；非独立盲测</a:t>
            </a:r>
          </a:p>
          <a:p/>
          <a:p/>
          <a:p>
            <a:r>
              <a:t>依据：data/eval/complex_*；data/dev/evidence_coverage*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 召回、排序、干扰与拒答口径</a:t>
            </a:r>
          </a:p>
          <a:p>
            <a:r>
              <a:t>多个指标回答不同问题，完整召回不能替代精度、零干扰或生成答案正确率。</a:t>
            </a:r>
          </a:p>
          <a:p/>
          <a:p>
            <a:r>
              <a:t>完整性：设某正例相关ID集合为G，返回前3项为R。Recall@3=|G∩R|/|G|，先逐题计算再宏平均；完整证据正确要求G全部出现。多文档正例单独统计，防止平均召回掩盖少数缺证据题。</a:t>
            </a:r>
          </a:p>
          <a:p>
            <a:r>
              <a:t>错误处理：无答案空返回需同时无异常、无非法ID；作用域负例单独统计。错误/超时不是正确拒答，仍留在失败分母。每条额外返回均检查租户、用户、场景、状态和有效时间。</a:t>
            </a:r>
          </a:p>
          <a:p/>
          <a:p>
            <a:r>
              <a:t>指标 | 定义 | 阅读注意</a:t>
            </a:r>
          </a:p>
          <a:p>
            <a:r>
              <a:t>Precision@3 | |G∩R| / 3，正例宏平均 | 固定3槽，空槽也计入</a:t>
            </a:r>
          </a:p>
          <a:p>
            <a:r>
              <a:t>MRR@3 | 首个相关结果排名的倒数 | 只反映首相关位置</a:t>
            </a:r>
          </a:p>
          <a:p>
            <a:r>
              <a:t>nDCG@3 | 二值相关性折扣增益/理想增益 | 按min(|G|,3)归一</a:t>
            </a:r>
          </a:p>
          <a:p>
            <a:r>
              <a:t>干扰返回率 | 正例无关返回数/正例实际返回数 | 与Precision@3分母不同</a:t>
            </a:r>
          </a:p>
          <a:p>
            <a:r>
              <a:t>无答案正确率 | 正确空返回/无答案请求数 | 不混入权限必空请求</a:t>
            </a:r>
          </a:p>
          <a:p>
            <a:r>
              <a:t>泄漏与错误 | 逐请求和逐记录计数 | 相关ID命中也不能抵消泄漏</a:t>
            </a:r>
          </a:p>
          <a:p/>
          <a:p/>
          <a:p>
            <a:r>
              <a:t>依据：src/os_agent_memory/complex_retrieval.py；docs/39</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对照实验与不退化门禁</a:t>
            </a:r>
          </a:p>
          <a:p>
            <a:r>
              <a:t>修复当前失败时保护既有正确请求，不以均值提升掩盖个别题目退化。</a:t>
            </a:r>
          </a:p>
          <a:p/>
          <a:p>
            <a:r>
              <a:t>控制变量：三策略使用相同检索源码、评测器、语料摘要、provider、top_k、阈值、查询顺序和三轮配置。比较器重算每题分数、完整性、支持元数据、分层汇总及失败列表。</a:t>
            </a:r>
          </a:p>
          <a:p>
            <a:r>
              <a:t>质量与安全：保留85%召回/拒答及500ms原门槛，另要求候选100%正例完整、100%多文档完整、100%无答案正确。相对旧默认和旧实验逐题检查原本成功仍成功、每题Recall不降。</a:t>
            </a:r>
          </a:p>
          <a:p>
            <a:r>
              <a:t>比较边界：排序和干扰的汇总基准是原业务默认 similarity；旧实验可能因大量空返回获得较低干扰率，不能声称所有指标都优于它。新策略改变结果集合，不能称等输出加速或所有查询更快。</a:t>
            </a:r>
          </a:p>
          <a:p/>
          <a:p>
            <a:r>
              <a:t>框图：逐请求不退化验收</a:t>
            </a:r>
          </a:p>
          <a:p>
            <a:r>
              <a:t>旧控制组失败保留；新策略改变输出，不能宣称等输出或普遍加速。</a:t>
            </a:r>
          </a:p>
          <a:p>
            <a:r>
              <a:t>01 验证同源：数据/语料/模型/参数；源码与评测器</a:t>
            </a:r>
          </a:p>
          <a:p>
            <a:r>
              <a:t>02 重算逐题：返回、分数与支持；完整性及失败IDs</a:t>
            </a:r>
          </a:p>
          <a:p>
            <a:r>
              <a:t>03 两组成功保护：旧默认 + 旧实验；每题Recall不降低</a:t>
            </a:r>
          </a:p>
          <a:p>
            <a:r>
              <a:t>04 汇总不退化：对比旧业务默认；排序、拒答、干扰</a:t>
            </a:r>
          </a:p>
          <a:p>
            <a:r>
              <a:t>05 新策略硬门槛：完整率/拒答100%；零异常与越域</a:t>
            </a:r>
          </a:p>
          <a:p>
            <a:r>
              <a:t>06 时延与结论：每配置每轮≤500ms；七项门禁全部通过</a:t>
            </a:r>
          </a:p>
          <a:p/>
          <a:p/>
          <a:p>
            <a:r>
              <a:t>依据：scripts/compare_evidence_policies.py；证据 C/E/N 比较报告</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12.6 性能计时与环境口径</a:t>
            </a:r>
          </a:p>
          <a:p>
            <a:r>
              <a:t>记录完整服务调用，不把向量编码、HTTP、Agent 或初始化等不同边界混在一张成绩表里。</a:t>
            </a:r>
          </a:p>
          <a:p/>
          <a:p>
            <a:r>
              <a:t>计时定义：用 perf_counter 在 MemoryService.search 调用前后测量，包含服务锁、查询编码、候选检索、重排、证据检查和序列化；不包含建库、HTTP或Agent推理。本表使用Hash，无原生初始化；换原生provider时，调用内初始化成本不得剔除。nearest-rank取排序后第ceil(p×n)项。</a:t>
            </a:r>
          </a:p>
          <a:p>
            <a:r>
              <a:t>轮次规则：Windows / AMD64、Python3.14.3、8逻辑CPU；PYTHONHASHSEED=0。复杂矩阵串行执行，首轮无查询预热，但不声称操作系统冷启动；后续轮复用服务，三轮分别报告，不池化增加分母。</a:t>
            </a:r>
          </a:p>
          <a:p>
            <a:r>
              <a:t>不确定性：共享开发机未锁定CPU频率或隔离全部负载，有限题目P95不是跨设备SLA。保存首查、P50/P95/P99、构建耗时和RSS；RSS峰值是进程自启动高水位，不是单次工作负载峰值。</a:t>
            </a:r>
          </a:p>
          <a:p/>
          <a:p>
            <a:r>
              <a:t>框图：检索服务计时边界</a:t>
            </a:r>
          </a:p>
          <a:p>
            <a:r>
              <a:t>建库、HTTP和Agent推理另报；provider调用内的初始化成本不得剔除。</a:t>
            </a:r>
          </a:p>
          <a:p>
            <a:r>
              <a:t>01 开始计时：perf_counter；调用search之前</a:t>
            </a:r>
          </a:p>
          <a:p>
            <a:r>
              <a:t>02 服务锁：包含等待与作用域检查；不删除慢请求</a:t>
            </a:r>
          </a:p>
          <a:p>
            <a:r>
              <a:t>03 查询与候选：查询编码 / 候选检索；实际配置</a:t>
            </a:r>
          </a:p>
          <a:p>
            <a:r>
              <a:t>04 重排与证据：主题补全 / 片段支持；真实返回集合</a:t>
            </a:r>
          </a:p>
          <a:p>
            <a:r>
              <a:t>05 序列化返回：响应对象转换；search完整返回</a:t>
            </a:r>
          </a:p>
          <a:p>
            <a:r>
              <a:t>06 结束与统计：elapsed_ms；nearest-rank分位数</a:t>
            </a:r>
          </a:p>
          <a:p/>
          <a:p/>
          <a:p>
            <a:r>
              <a:t>依据：docs/39、45；证据 C/E/N 的 environment、method</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 效果验证结果：冻结五项</a:t>
            </a:r>
          </a:p>
          <a:p>
            <a:r>
              <a:t>当前运行源码在公开合成冻结回归上满足五项门槛，结论限定于本表配置。</a:t>
            </a:r>
          </a:p>
          <a:p/>
          <a:p>
            <a:r>
              <a:t>工程验收：392项自动化测试运行，无失败、1项平台条件跳过；17项工程检查通过。local_release_checks_passed=true，competition_submission_ready=false。</a:t>
            </a:r>
          </a:p>
          <a:p>
            <a:r>
              <a:t>安全附加项：长期持久化检查、标注知识完整入库、无答案、作用域与敏感原值泄漏门槛同时通过。原始逐请求JSON可重算，不能只依据文档中的百分比认定通过。</a:t>
            </a:r>
          </a:p>
          <a:p>
            <a:r>
              <a:t>模型与用途：HashEmbedding 256维/ngram=2，10,000条记录，top_k=3，min_score=0.265。这不是原生模型质量、独立Judge或第三方验收成绩；旧小诊断的不利结果在13.6节单列。</a:t>
            </a:r>
          </a:p>
          <a:p/>
          <a:p>
            <a:r>
              <a:t>指标 | 本次结果 | 不同请求数 | 门槛</a:t>
            </a:r>
          </a:p>
          <a:p>
            <a:r>
              <a:t>偏好准确率 | 100.00% | 68 | ≥85%</a:t>
            </a:r>
          </a:p>
          <a:p>
            <a:r>
              <a:t>知识 Recall@3 | 100.00% | 60 | ≥85%</a:t>
            </a:r>
          </a:p>
          <a:p>
            <a:r>
              <a:t>冲突正确率 | 100.00% | 60 | ≥88%</a:t>
            </a:r>
          </a:p>
          <a:p>
            <a:r>
              <a:t>检索 P95 | 48.145ms | 80 | ≤500ms</a:t>
            </a:r>
          </a:p>
          <a:p>
            <a:r>
              <a:t>敏感实体微 F1 | 100.00% | 50 | ≥90%</a:t>
            </a:r>
          </a:p>
          <a:p/>
          <a:p/>
          <a:p>
            <a:r>
              <a:t>依据：证据 W、R；HashEmbedding 公开合成冻结回归</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 效果验证结果：复杂完整性</a:t>
            </a:r>
          </a:p>
          <a:p>
            <a:r>
              <a:t>原失败题保留在固定分母内；新默认在所有规模、干扰配置和三轮中满足修复门槛。</a:t>
            </a:r>
          </a:p>
          <a:p/>
          <a:p>
            <a:r>
              <a:t>修复范围：原120请求全部72正例找齐、24无答案正确空返回；约束48请求在显式约束开启与关闭时均24正例找齐、12无答案正确空返回。原多文档12题、约束多文档6题全部完整；作用域请求均正确为空。</a:t>
            </a:r>
          </a:p>
          <a:p>
            <a:r>
              <a:t>细分负例：约束集版本不存在和关系缺证据分别6/6，开关两种模式都通过。所有候选请求无异常、无越域；三份比较报告的七项检查均通过。</a:t>
            </a:r>
          </a:p>
          <a:p>
            <a:r>
              <a:t>开发反例：开发20请求为10/10正例、10/10拒答；追加10请求为6/6正例、4/4拒答。数据和标签开发者可见，独立文件不等于独立盲测，不能将其并入168复杂请求计算泛化成绩。</a:t>
            </a:r>
          </a:p>
          <a:p/>
          <a:p>
            <a:r>
              <a:t>数据 / 条件 | 完整正例 | 多文档完整 | 正确拒答 | 作用域正确</a:t>
            </a:r>
          </a:p>
          <a:p>
            <a:r>
              <a:t>原120 / 无约束 | 72/72 | 12/12 | 24/24 | 24/24</a:t>
            </a:r>
          </a:p>
          <a:p>
            <a:r>
              <a:t>约束48 / 开启 | 24/24 | 6/6 | 12/12 | 12/12</a:t>
            </a:r>
          </a:p>
          <a:p>
            <a:r>
              <a:t>约束48 / 关闭 | 24/24 | 6/6 | 12/12 | 12/12</a:t>
            </a:r>
          </a:p>
          <a:p/>
          <a:p>
            <a:r>
              <a:t>三策略总 all_targets_met=false 包含旧对照失败；新策略看逐配置和比较器结论。</a:t>
            </a:r>
          </a:p>
          <a:p>
            <a:r>
              <a:t>依据：证据 C、E、N；三个 optimization_gates_passed=true</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 排序质量与残余干扰</a:t>
            </a:r>
          </a:p>
          <a:p>
            <a:r>
              <a:t>100%完整召回仍会返回无关片段，因此同步报告固定槽位精度、排序和干扰分子/分母。</a:t>
            </a:r>
          </a:p>
          <a:p/>
          <a:p>
            <a:r>
              <a:t>统计条件：本表固定10,000条记录、75%相似填充、首轮。原集其余轮质量相同；0%相似填充下新策略干扰为40/124（32.26%），固定难例仍存在。</a:t>
            </a:r>
          </a:p>
          <a:p>
            <a:r>
              <a:t>解释：原集新策略完整证据找齐，并将干扰从110/190降为39/123，但仍有31.71%的正例返回无关。约束集开/关均9/39（23.08%）。Precision@3以三槽计，干扰率以实际返回计，不能用两者直接做1减法。</a:t>
            </a:r>
          </a:p>
          <a:p>
            <a:r>
              <a:t>后续风险：返回中的多余片段可能让下游生成混用不同条件；真实Agent需要引用核验和权限控制。进一步压缩结果需再次保护多文档完整性，不能靠一律少返回获得表面精度。</a:t>
            </a:r>
          </a:p>
          <a:p/>
          <a:p>
            <a:r>
              <a:t>数据/策略 | Recall@3 | P@3 | MRR | nDCG | 干扰</a:t>
            </a:r>
          </a:p>
          <a:p>
            <a:r>
              <a:t>原120 / 旧默认 | 94.44% | 37.04% | 0.8773 | 0.8891 | 110/190</a:t>
            </a:r>
          </a:p>
          <a:p>
            <a:r>
              <a:t>57.89%</a:t>
            </a:r>
          </a:p>
          <a:p>
            <a:r>
              <a:t>原120 / 新默认 | 100.00% | 38.89% | 0.9444 | 0.9590 | 39/123</a:t>
            </a:r>
          </a:p>
          <a:p>
            <a:r>
              <a:t>31.71%</a:t>
            </a:r>
          </a:p>
          <a:p>
            <a:r>
              <a:t>约束48 / 开启 | 100.00% | 41.67% | 0.9583 | 0.9659 | 9/39</a:t>
            </a:r>
          </a:p>
          <a:p>
            <a:r>
              <a:t>23.08%</a:t>
            </a:r>
          </a:p>
          <a:p>
            <a:r>
              <a:t>约束48 / 关闭 | 100.00% | 41.67% | 0.9583 | 0.9659 | 9/39</a:t>
            </a:r>
          </a:p>
          <a:p>
            <a:r>
              <a:t>23.08%</a:t>
            </a:r>
          </a:p>
          <a:p/>
          <a:p/>
          <a:p>
            <a:r>
              <a:t>依据：证据 C/E/N，10,000条、75%填充、首轮</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 全矩阵检索 P95：原120请求</a:t>
            </a:r>
          </a:p>
          <a:p>
            <a:r>
              <a:t>每格按三轮顺序列出毫秒值，保留慢轮，不用最快一轮代表总体。</a:t>
            </a:r>
          </a:p>
          <a:p/>
          <a:p>
            <a:r>
              <a:t>主要观察：原120请求增加正文检查与章节补全，1万条/75%下从旧默认约39ms升至约66–68ms，仍低于500ms门槛；约束集关闭显式过滤时，自动主体保护减少候选处理，约16ms。不能宣称所有场景普遍加速。</a:t>
            </a:r>
          </a:p>
          <a:p>
            <a:r>
              <a:t>比较方式：两列为同次测量的旧默认与新默认，参数、模型、语料、顺序和三轮一致。变化包含质量与输出集合改变，不与历史等输出优化合并成一个加速比。</a:t>
            </a:r>
          </a:p>
          <a:p/>
          <a:p>
            <a:r>
              <a:t>数据/约束 | 记录/相似填充 | 旧默认 三轮P95(ms) | 新默认 三轮P95(ms)</a:t>
            </a:r>
          </a:p>
          <a:p>
            <a:r>
              <a:t>原120 / 无约束 | 1,000 / 0% | 7.996 / 7.691 / 8.063 | 12.742 / 13.971 / 12.202</a:t>
            </a:r>
          </a:p>
          <a:p>
            <a:r>
              <a:t>原120 / 无约束 | 1,000 / 75% | 8.471 / 7.985 / 8.268 | 25.850 / 25.278 / 25.889</a:t>
            </a:r>
          </a:p>
          <a:p>
            <a:r>
              <a:t>原120 / 无约束 | 10,000 / 0% | 38.909 / 39.110 / 39.592 | 46.591 / 45.838 / 39.297</a:t>
            </a:r>
          </a:p>
          <a:p>
            <a:r>
              <a:t>原120 / 无约束 | 10,000 / 75% | 39.399 / 39.311 / 38.950 | 67.605 / 66.067 / 66.724</a:t>
            </a:r>
          </a:p>
          <a:p/>
          <a:p/>
          <a:p>
            <a:r>
              <a:t>依据：证据 C/E/N；MemoryService.search，不含HTTP与Agent</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 全矩阵检索 P95：约束48请求</a:t>
            </a:r>
          </a:p>
          <a:p>
            <a:r>
              <a:t>每格按三轮顺序列出毫秒值，保留慢轮，不用最快一轮代表总体。</a:t>
            </a:r>
          </a:p>
          <a:p/>
          <a:p>
            <a:r>
              <a:t>主要观察：原120请求增加正文检查与章节补全，1万条/75%下从旧默认约39ms升至约66–68ms，仍低于500ms门槛；约束集关闭显式过滤时，自动主体保护减少候选处理，约16ms。不能宣称所有场景普遍加速。</a:t>
            </a:r>
          </a:p>
          <a:p>
            <a:r>
              <a:t>比较方式：两列为同次测量的旧默认与新默认，参数、模型、语料、顺序和三轮一致。变化包含质量与输出集合改变，不与历史等输出优化合并成一个加速比。</a:t>
            </a:r>
          </a:p>
          <a:p/>
          <a:p>
            <a:r>
              <a:t>数据/约束 | 记录/相似填充 | 旧默认 三轮P95(ms) | 新默认 三轮P95(ms)</a:t>
            </a:r>
          </a:p>
          <a:p>
            <a:r>
              <a:t>约束48 / 开启 | 1,000 / 0% | 1.556 / 1.574 / 1.662 | 3.505 / 3.338 / 3.316</a:t>
            </a:r>
          </a:p>
          <a:p>
            <a:r>
              <a:t>约束48 / 开启 | 1,000 / 75% | 2.071 / 2.230 / 2.095 | 3.494 / 4.152 / 3.506</a:t>
            </a:r>
          </a:p>
          <a:p>
            <a:r>
              <a:t>约束48 / 开启 | 10,000 / 0% | 12.075 / 11.911 / 13.094 | 12.338 / 11.480 / 12.036</a:t>
            </a:r>
          </a:p>
          <a:p>
            <a:r>
              <a:t>约束48 / 开启 | 10,000 / 75% | 16.730 / 16.497 / 15.876 | 16.150 / 15.600 / 15.456</a:t>
            </a:r>
          </a:p>
          <a:p>
            <a:r>
              <a:t>约束48 / 关闭 | 1,000 / 0% | 8.178 / 7.668 / 7.843 | 3.303 / 3.518 / 3.114</a:t>
            </a:r>
          </a:p>
          <a:p>
            <a:r>
              <a:t>约束48 / 关闭 | 1,000 / 75% | 8.845 / 8.723 / 8.614 | 3.380 / 3.878 / 3.514</a:t>
            </a:r>
          </a:p>
          <a:p>
            <a:r>
              <a:t>约束48 / 关闭 | 10,000 / 0% | 39.964 / 40.310 / 38.181 | 12.105 / 11.627 / 12.194</a:t>
            </a:r>
          </a:p>
          <a:p>
            <a:r>
              <a:t>约束48 / 关闭 | 10,000 / 75% | 43.176 / 40.597 / 40.163 | 16.447 / 15.452 / 15.696</a:t>
            </a:r>
          </a:p>
          <a:p/>
          <a:p/>
          <a:p>
            <a:r>
              <a:t>依据：证据 C/E/N；MemoryService.search，不含HTTP与Agent</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分层延迟与真实服务负载</a:t>
            </a:r>
          </a:p>
          <a:p>
            <a:r>
              <a:t>正例、无答案与作用域负例分开看，避免快速空返回掩盖实际证据检索耗时。</a:t>
            </a:r>
          </a:p>
          <a:p/>
          <a:p>
            <a:r>
              <a:t>分层P95：10,000条/75%首轮：原集正例64.735ms（72题）、无答案87.846ms（24题）、作用域4.730ms（24题）；约束开分别17.475/15.088/5.235ms，约束关18.722/14.546/5.310ms（24/12/12题）。</a:t>
            </a:r>
          </a:p>
          <a:p>
            <a:r>
              <a:t>完整性：服务混合负载的100条与1,000条配置均顺序30/30、并发30/30、HTTP10/10命中目标，重启记录数检查通过。它们是受控负载，不是70个不同真实用户任务。</a:t>
            </a:r>
          </a:p>
          <a:p>
            <a:r>
              <a:t>资源范围：1,000条负载末RSS为237,113,344字节，进程生命周期峰值701,325,312字节；SQLite为5,279,744字节。峰值包含本进程此前工作，不是该负载独立峰值，不含模型服务与子进程。</a:t>
            </a:r>
          </a:p>
          <a:p/>
          <a:p>
            <a:r>
              <a:t>服务负载 | 100条 | 1,000条 | 计时边界</a:t>
            </a:r>
          </a:p>
          <a:p>
            <a:r>
              <a:t>整批接入 ms | 211.062 | 4558.264 | MemoryService.ingest</a:t>
            </a:r>
          </a:p>
          <a:p>
            <a:r>
              <a:t>单条增量 ms | 48.868 | 350.052 | 接入、状态与持久化</a:t>
            </a:r>
          </a:p>
          <a:p>
            <a:r>
              <a:t>重启加载 ms | 30.959 | 220.942 | 恢复同一SQLite</a:t>
            </a:r>
          </a:p>
          <a:p>
            <a:r>
              <a:t>服务查询 P50 ms | 3.092 | 8.527 | 服务调用</a:t>
            </a:r>
          </a:p>
          <a:p>
            <a:r>
              <a:t>服务查询 P95 ms | 3.857 | 9.882 | 服务调用</a:t>
            </a:r>
          </a:p>
          <a:p>
            <a:r>
              <a:t>服务查询 P99 ms | 4.901 | 10.415 | 服务调用</a:t>
            </a:r>
          </a:p>
          <a:p>
            <a:r>
              <a:t>HTTP 查询 P99 ms | 16.936 | 18.543 | HTTP往返，非服务P95</a:t>
            </a:r>
          </a:p>
          <a:p/>
          <a:p/>
          <a:p>
            <a:r>
              <a:t>依据：证据 S；证据 C/E/N 的 groups</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13.6 历史诊断、失败留证与限制</a:t>
            </a:r>
          </a:p>
          <a:p>
            <a:r>
              <a:t>主回归达标不能覆盖其他诊断的低分，也不能把修复后的公开题称为未见测试。</a:t>
            </a:r>
          </a:p>
          <a:p/>
          <a:p>
            <a:r>
              <a:t>旧小诊断：最终工程报告仍保留 official_diagnostics：偏好46.15%（13个槽位，非独立请求），知识91.67%（12题），冲突100%（2对）。该套旧样例与当前晋升口径、分母不同，不能充当五项正式门槛，也不能被隐去或改成100%。</a:t>
            </a:r>
          </a:p>
          <a:p>
            <a:r>
              <a:t>首次失败：首次Windows检查因17处小于1ms的浮点耗时被隐私扫描误识为证件号而失败。修复限定数值键、类型及范围并增加重复键拒绝后，最终整套重跑通过。旧失败文件保留，不是忽略安全门禁。</a:t>
            </a:r>
          </a:p>
          <a:p>
            <a:r>
              <a:t>泛化限制：复杂集由开发者构建且标签公开；v2是在看到失败后修复。约束、标题主题和词面支持规则仍可能在陌生领域失效。没有真实Agent/Judge、真实SDK或授权业务样本的正式成绩。</a:t>
            </a:r>
          </a:p>
          <a:p/>
          <a:p>
            <a:r>
              <a:t>证据 | 保留的事实 | 不得推断</a:t>
            </a:r>
          </a:p>
          <a:p>
            <a:r>
              <a:t>旧小诊断 | 偏好46.15%，不足50独立请求 | 不能宣称所有数据集全部达标</a:t>
            </a:r>
          </a:p>
          <a:p>
            <a:r>
              <a:t>旧策略控制组 | 继续保留失败与总false标志 | 不能修改报告伪装全策略通过</a:t>
            </a:r>
          </a:p>
          <a:p>
            <a:r>
              <a:t>开发/追加反例 | 20+10题均公开可见 | 不是独立盲测</a:t>
            </a:r>
          </a:p>
          <a:p>
            <a:r>
              <a:t>真实SDK/V11 | 风险和当前源码复验单列 | 不能沿用Hash或历史部署成绩</a:t>
            </a:r>
          </a:p>
          <a:p/>
          <a:p/>
          <a:p>
            <a:r>
              <a:t>依据：证据 W 的 official_diagnostics；docs/45</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 场景案例：终端升级与回滚证据</a:t>
            </a:r>
          </a:p>
          <a:p>
            <a:r>
              <a:t>以下为公开合成的 OS 任务场景，不是已授权真实用户项目；输入、标注和返回均可复核。</a:t>
            </a:r>
          </a:p>
          <a:p/>
          <a:p>
            <a:r>
              <a:t>任务输入：rollout-q1：“AE-17 v2.4刚切换后出现unit_mismatch，先核对哪些结果，再按什么顺序恢复配置并保留证据”。目标是找到切换条件和回滚证据两份记录，不是仅返回相似升级说明。</a:t>
            </a:r>
          </a:p>
          <a:p>
            <a:r>
              <a:t>证据内容：rollout-condition 包含工单APPROVED、两名复核者签名及备份摘要变化需重验；rollout-evidence 包含核对样例行数/单位、维护写入入口、切回旧启动项、恢复配置快照，以及保留失败日志和新版本目录。</a:t>
            </a:r>
          </a:p>
          <a:p>
            <a:r>
              <a:t>实际结果：新默认在约束开启和关闭两种模式均召回全部标注证据，原 rollout-q1 漏掉第二份证据的问题在原题上修复。正文提供的是可供上层核验的操作依据，系统没有在真实终端执行升级或回滚。</a:t>
            </a:r>
          </a:p>
          <a:p/>
          <a:p>
            <a:r>
              <a:t>框图：合成案例的证据链：AE-17 v2.4</a:t>
            </a:r>
          </a:p>
          <a:p>
            <a:r>
              <a:t>公开合成案例；约束开/关均通过，不是授权真实用户部署成绩。</a:t>
            </a:r>
          </a:p>
          <a:p>
            <a:r>
              <a:t>01 用户查询：unit_mismatch后；核对、恢复、保留证据</a:t>
            </a:r>
          </a:p>
          <a:p>
            <a:r>
              <a:t>02 设备与版本：AE-17 / v2.4；排除近邻与其他版本</a:t>
            </a:r>
          </a:p>
          <a:p>
            <a:r>
              <a:t>03 条件章节：APPROVED + 双人签名；备份摘要变化需重验</a:t>
            </a:r>
          </a:p>
          <a:p>
            <a:r>
              <a:t>04 回滚章节：核对行数/单位；维护写入→旧启动项</a:t>
            </a:r>
          </a:p>
          <a:p>
            <a:r>
              <a:t>05 完整召回：condition + evidence；两份标注证据找齐</a:t>
            </a:r>
          </a:p>
          <a:p>
            <a:r>
              <a:t>06 应用边界：上层核验并执行确认；本例未操作真实设备</a:t>
            </a:r>
          </a:p>
          <a:p/>
          <a:p/>
          <a:p>
            <a:r>
              <a:t>依据：data/eval/complex_constraints_v1.json；证据 E/N：rollout-q1</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 场景案例：版本缺失与关系缺证据</a:t>
            </a:r>
          </a:p>
          <a:p>
            <a:r>
              <a:t>明确区分“有相似文档”与“文档支持所问事实”，展示负例而不是只展示成功题。</a:t>
            </a:r>
          </a:p>
          <a:p/>
          <a:p>
            <a:r>
              <a:t>版本不存在：rollout-absent-version 查询 AE-17 v2.4-unreleased 的正式发布升级条件。语料中只有既有版本与干扰版本，不能将 v2.4 或 v2.40 当作该版本的正式证据。</a:t>
            </a:r>
          </a:p>
          <a:p>
            <a:r>
              <a:t>关系缺证据：rollout-unsupported 询问断电恰在启动项切换中间时硬件控制器保证多少微秒完成原子恢复。现有流程材料没有这个硬件保证，不应凭同标题、相同设备词或回滚步骤生成数值答案。</a:t>
            </a:r>
          </a:p>
          <a:p>
            <a:r>
              <a:t>实际结果：新默认两种约束模式对两个请求均为空结果、无异常、无越域。空结果应触发上层澄清或索取正式资料，而不是补写猜测答案。本例只验证该类公开反例，不证明任意硬件关系推理。</a:t>
            </a:r>
          </a:p>
          <a:p/>
          <a:p>
            <a:r>
              <a:t>请求ID | 所问内容 | 新默认（约束开/关）</a:t>
            </a:r>
          </a:p>
          <a:p>
            <a:r>
              <a:t>rollout-absent-version | 不存在正式版本的升级条件 | 均返回 []，正确拒答</a:t>
            </a:r>
          </a:p>
          <a:p>
            <a:r>
              <a:t>rollout-unsupported | 硬件原子恢复的微秒保证 | 均返回 []，正确拒答</a:t>
            </a:r>
          </a:p>
          <a:p>
            <a:r>
              <a:t>rollout-scope-tenant | 不存在租户请求升级条件 | 均返回 []，作用域正确</a:t>
            </a:r>
          </a:p>
          <a:p>
            <a:r>
              <a:t>rollout-scope-user | 不存在用户请求升级条件 | 均返回 []，作用域正确</a:t>
            </a:r>
          </a:p>
          <a:p/>
          <a:p/>
          <a:p>
            <a:r>
              <a:t>依据：证据 E/N；上述请求在所有配置、三轮均保留</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 授权真实案例的采集与验收</a:t>
            </a:r>
          </a:p>
          <a:p>
            <a:r>
              <a:t>提交规则要求真实场景案例；当前具备可复现合成场景，真实授权业务案例仍需补证。</a:t>
            </a:r>
          </a:p>
          <a:p/>
          <a:p>
            <a:r>
              <a:t>采集范围：选择获准的办公偏好迁移、升级排障或流程问答任务，先记录用途、采集范围、匿名化与撤回约定。原始授权和私有资料只进入受控目录，不上传公开仓库。</a:t>
            </a:r>
          </a:p>
          <a:p>
            <a:r>
              <a:t>证据要求：同一案例保存版本、设备和模型配置、事件/查询、人工确认事实、真实工具文件、脱敏截图和失败轨迹。优先比较有/无记忆或不同策略下的同类任务，避免只挑顺利演示片段。</a:t>
            </a:r>
          </a:p>
          <a:p>
            <a:r>
              <a:t>分析要求：报告样本数、任务难度、干扰比例、成功/失败及耗时分布；人工核验答案是否引用真实证据，区分检索命中和任务完成。没有测量就不填效率提升、满意度或产业落地人数。</a:t>
            </a:r>
          </a:p>
          <a:p/>
          <a:p>
            <a:r>
              <a:t>记录项 | 应留存内容 | 本版状态</a:t>
            </a:r>
          </a:p>
          <a:p>
            <a:r>
              <a:t>授权与匿名化 | 用途、范围、撤回、身份隔离 | 待真实采集</a:t>
            </a:r>
          </a:p>
          <a:p>
            <a:r>
              <a:t>任务与真值 | 原任务、预期、独立人工核验 | 待真实采集</a:t>
            </a:r>
          </a:p>
          <a:p>
            <a:r>
              <a:t>执行与结果 | 工具文件、返回证据、失败轨迹 | 当前只有合成回归</a:t>
            </a:r>
          </a:p>
          <a:p>
            <a:r>
              <a:t>性能与资源 | 配置、逐任务耗时、RSS/模型资源 | 原生/真实业务另测</a:t>
            </a:r>
          </a:p>
          <a:p>
            <a:r>
              <a:t>对外展示 | 脱敏截图及非身份化说明 | 不得伪造或以合成冒充</a:t>
            </a:r>
          </a:p>
          <a:p/>
          <a:p/>
          <a:p>
            <a:r>
              <a:t>依据：官方提交规则；case_studies/；docs/16</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 用户手册：Windows 安装与启动</a:t>
            </a:r>
          </a:p>
          <a:p>
            <a:r>
              <a:t>以下命令在解压后的项目根目录执行；使用独立虚拟环境，不依赖原开发机路径。</a:t>
            </a:r>
          </a:p>
          <a:p/>
          <a:p>
            <a:r>
              <a:t>环境准备：安装Python3.10或更高版本，确认有工作目录写权限。核心模块只依赖标准库；pip安装会使用本机配置的软件源，离线环境可用PYTHONPATH直接运行。运行数据放artifacts/runtime，不混入固定证据。</a:t>
            </a:r>
          </a:p>
          <a:p>
            <a:r>
              <a:t>启动检查：先执行doctor检查路径、输入和端口，再启动serve。浏览器访问http://127.0.0.1:8765；端口占用改用8766并同步浏览器地址。按Ctrl+C停止服务，不公开监听到局域网。</a:t>
            </a:r>
          </a:p>
          <a:p>
            <a:r>
              <a:t>成功判据：服务能加载合成样例，界面能查询偏好/知识，SQLite存在且重启状态一致。doctor成功不是SDK或赛事通过，遇到错误应查看类型并按15.5节排查。</a:t>
            </a:r>
          </a:p>
          <a:p/>
          <a:p>
            <a:r>
              <a:t>python --version</a:t>
            </a:r>
          </a:p>
          <a:p>
            <a:r>
              <a:t>python -m venv .venv</a:t>
            </a:r>
          </a:p>
          <a:p>
            <a:r>
              <a:t>$py = '.\.venv\Scripts\python.exe'</a:t>
            </a:r>
          </a:p>
          <a:p>
            <a:r>
              <a:t>&amp; $py -m pip install -e .</a:t>
            </a:r>
          </a:p>
          <a:p>
            <a:r>
              <a:t>&amp; $py -m os_agent_memory.cli doctor --workspace . `</a:t>
            </a:r>
          </a:p>
          <a:p>
            <a:r>
              <a:t>  --input data/samples/events.jsonl `</a:t>
            </a:r>
          </a:p>
          <a:p>
            <a:r>
              <a:t>  --suite data/eval/office_memory_eval_v2.json</a:t>
            </a:r>
          </a:p>
          <a:p>
            <a:r>
              <a:t>&amp; $py -m os_agent_memory.cli serve `</a:t>
            </a:r>
          </a:p>
          <a:p>
            <a:r>
              <a:t>  --input data/samples/events.jsonl `</a:t>
            </a:r>
          </a:p>
          <a:p>
            <a:r>
              <a:t>  --database artifacts/runtime/memory.sqlite --port 8765</a:t>
            </a:r>
          </a:p>
          <a:p/>
          <a:p/>
          <a:p>
            <a:r>
              <a:t>依据：docs/12；src/os_agent_memory/cli.py</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15.3 用户手册：日常操作流程</a:t>
            </a:r>
          </a:p>
          <a:p>
            <a:r>
              <a:t>按“查看作用域—接入—核对版本—检索—处理冲突—预览确认遗忘”的顺序操作。</a:t>
            </a:r>
          </a:p>
          <a:p/>
          <a:p>
            <a:r>
              <a:t>查看与导入：先确认当前租户、用户和场景，再选择内置合成演示或导入合法事件。检查accepted/rejected/duplicate和issues，不把所有传入记录数当成已持久化知识数。</a:t>
            </a:r>
          </a:p>
          <a:p>
            <a:r>
              <a:t>查询与判断：用自然语言或关键词检索；需要设备/版本约束时提供真实输入条件。查看正文、来源、有效状态及evidence，空结果可能是权限、版本或支持不足，不应立即取消安全过滤。</a:t>
            </a:r>
          </a:p>
          <a:p>
            <a:r>
              <a:t>修改与撤回：偏好修改后检查版本；冲突处理后核对终态；遗忘先核对预览清单再确认。任何写入错误都应确认回滚状态，不直接重复高风险操作或批量重置整个数据库。</a:t>
            </a:r>
          </a:p>
          <a:p/>
          <a:p>
            <a:r>
              <a:t>框图：本地操作与核查</a:t>
            </a:r>
          </a:p>
          <a:p>
            <a:r>
              <a:t>演示reset仅限local-demo；生产身份、授权与执行权限由上层保障。</a:t>
            </a:r>
          </a:p>
          <a:p>
            <a:r>
              <a:t>01 确认作用域：tenant / user / scene；使用合成或授权数据</a:t>
            </a:r>
          </a:p>
          <a:p>
            <a:r>
              <a:t>02 接入事件：查看批次统计与issues；核对晋升原因</a:t>
            </a:r>
          </a:p>
          <a:p>
            <a:r>
              <a:t>03 偏好与版本：读取当前值与历史；检查显式修正</a:t>
            </a:r>
          </a:p>
          <a:p>
            <a:r>
              <a:t>04 知识检索：正文、状态、来源；空结果查原因</a:t>
            </a:r>
          </a:p>
          <a:p>
            <a:r>
              <a:t>05 处理冲突：确认策略与目标；核验终态</a:t>
            </a:r>
          </a:p>
          <a:p>
            <a:r>
              <a:t>06 确认遗忘：预览→核对→确认；保存回执并重查</a:t>
            </a:r>
          </a:p>
          <a:p/>
          <a:p/>
          <a:p>
            <a:r>
              <a:t>依据：docs/演示操作手册.md；docs/13</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 开发接口：读取与参数契约</a:t>
            </a:r>
          </a:p>
          <a:p>
            <a:r>
              <a:t>HTTP仅用于可信本机调用，外部系统集成必须先完成服务端身份绑定。</a:t>
            </a:r>
          </a:p>
          <a:p/>
          <a:p>
            <a:r>
              <a:t>检索签名：search(query, tenant_id, user_id, scene=None, top_k=5, min_score=0.265, include_pending=False, retrieval_mode='hybrid', required_terms=None, evidence_policy='focused_evidence_v2')。评测显式top_k=3，不能把接口默认5与结果表混用。</a:t>
            </a:r>
          </a:p>
          <a:p>
            <a:r>
              <a:t>响应语义：成功返回SearchResult数组；无可见证据或支持不足返回[]。包括title/content、score、lexical_score、semantic_score、character_score、status及evidence，不将任何分数解释成事实正确概率。</a:t>
            </a:r>
          </a:p>
          <a:p>
            <a:r>
              <a:t>错误契约：HTTP请求体上限1,000,000字节；响应采用UTF-8 JSON。400为格式/字段/参数错误，403为作用域或跨源写入拒绝，404路由不存在，409状态冲突，503持久化或调用超时失败。</a:t>
            </a:r>
          </a:p>
          <a:p/>
          <a:p>
            <a:r>
              <a:t>参数 | 取值/约束 | 集成注意</a:t>
            </a:r>
          </a:p>
          <a:p>
            <a:r>
              <a:t>tenant_id / user_id | 必须由可信身份系统提供 | 不是客户端任意自报的权限</a:t>
            </a:r>
          </a:p>
          <a:p>
            <a:r>
              <a:t>retrieval_mode | hybrid / lexical / semantic | 分数标度与校准需区分</a:t>
            </a:r>
          </a:p>
          <a:p>
            <a:r>
              <a:t>required_terms | 最多16字符串，每项1–128字符 | 同文档都满足；不能读取标签生成</a:t>
            </a:r>
          </a:p>
          <a:p>
            <a:r>
              <a:t>evidence_policy | v2默认；旧两策略可显式选 | 未知值返回400</a:t>
            </a:r>
          </a:p>
          <a:p>
            <a:r>
              <a:t>include_pending | 默认false | 只用于诊断，不用于业务回答</a:t>
            </a:r>
          </a:p>
          <a:p/>
          <a:p/>
          <a:p>
            <a:r>
              <a:t>依据：docs/13；src/os_agent_memory/service.py</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 官方跨会话行动评测对齐</a:t>
            </a:r>
          </a:p>
          <a:p>
            <a:r>
              <a:t>一个样本一个容器，跨会话保留长期记忆但清空短期历史，按真实行动文件而非口头承诺计分。</a:t>
            </a:r>
          </a:p>
          <a:p/>
          <a:p>
            <a:r>
              <a:t>协议结构：cross_session_v1包含5会话、每会话10轮。控制器私有oracle按object.attribute保存事实与更新轨迹；相似对象不同槽位，不应误判冲突。后续会话探测先前会话植入或更新的记忆。</a:t>
            </a:r>
          </a:p>
          <a:p>
            <a:r>
              <a:t>后验检查：公开框架自检含12个行动文件、50次原子槽位检查，探针均晚于对应最新记忆事件所在会话。文件缺失、旧值、路径越界、噪声/风险持久化均失败；50槽位不是五项各50独立请求。</a:t>
            </a:r>
          </a:p>
          <a:p>
            <a:r>
              <a:t>执行边界：FixtureAdapter只用于验证框架，虽调用真实Markdown和写真实文件，也不等于真实Agent。容器生命周期和50轮调用目前为mock契约测试；无真实容器/Agent成绩，真实采集成功仍以退出码3等待独立评分。</a:t>
            </a:r>
          </a:p>
          <a:p/>
          <a:p>
            <a:r>
              <a:t>框图：跨会话行动评测协议</a:t>
            </a:r>
          </a:p>
          <a:p>
            <a:r>
              <a:t>真实容器/Agent尚无实测成绩；单样本槽位数不是五项独立请求数。</a:t>
            </a:r>
          </a:p>
          <a:p>
            <a:r>
              <a:t>01 控制器冻结：私有object.attribute账本；Agent不可见oracle</a:t>
            </a:r>
          </a:p>
          <a:p>
            <a:r>
              <a:t>02 样本隔离：一个样本一个容器；固定镜像与源码</a:t>
            </a:r>
          </a:p>
          <a:p>
            <a:r>
              <a:t>03 5会话50轮：会话间重置短期历史；长期记忆保留</a:t>
            </a:r>
          </a:p>
          <a:p>
            <a:r>
              <a:t>04 行动文件：12文件 / 50槽位检查；探针来自后续会话</a:t>
            </a:r>
          </a:p>
          <a:p>
            <a:r>
              <a:t>05 停止与取证：冻结文件与工具轨迹；检查路径、数量、摘要</a:t>
            </a:r>
          </a:p>
          <a:p>
            <a:r>
              <a:t>06 等待独立评分：容器采集成功退出3；替身自检不是Agent成绩</a:t>
            </a:r>
          </a:p>
          <a:p/>
          <a:p/>
          <a:p>
            <a:r>
              <a:t>依据：官方记忆评测方案；docs/26；src/os_agent_memory/action_evaluation.py</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 独立 Judge 与人工复核方案</a:t>
            </a:r>
          </a:p>
          <a:p>
            <a:r>
              <a:t>模型评分也需证据绑定、失败留存和独立性核验，接口返回结构正确不等于评审独立。</a:t>
            </a:r>
          </a:p>
          <a:p/>
          <a:p>
            <a:r>
              <a:t>冻结与隔离：真实执行前固定样例、源码、模型/镜像身份；Agent和Judge独立镜像与角色，标签由控制器保管。默认受限容器无网络、只读根、非root、资源限制，不自动下载镜像或模型。</a:t>
            </a:r>
          </a:p>
          <a:p>
            <a:r>
              <a:t>评分依据：Judge接收冻结后的消息、工具轨迹、行动文件和记忆证据，逐项给出pass/fail/uncertain、理由及允许来源逐字引文。缺文件、不可读记忆等硬门槛不能由模型覆盖，uncertain留在分母记0。</a:t>
            </a:r>
          </a:p>
          <a:p>
            <a:r>
              <a:t>人工复核：复核全部0分项及由请求摘要确定的至少10%检查，保留分歧，不覆盖原模型响应、不挑选重试答案。当前尚无实际Agent/Judge模型成绩；角色声明、摘要和runtime_receipt也不是外部独立性证明。</a:t>
            </a:r>
          </a:p>
          <a:p/>
          <a:p>
            <a:r>
              <a:t>框图：独立评分与人工核验</a:t>
            </a:r>
          </a:p>
          <a:p>
            <a:r>
              <a:t>当前具备协议与检查器，没有真实Agent/Judge模型分数。</a:t>
            </a:r>
          </a:p>
          <a:p>
            <a:r>
              <a:t>01 冻结证据：绑定样例 / 源码 / 镜像；真实文件与轨迹</a:t>
            </a:r>
          </a:p>
          <a:p>
            <a:r>
              <a:t>02 构造Judge请求：标签隔离，证据不可信；不执行内容指令</a:t>
            </a:r>
          </a:p>
          <a:p>
            <a:r>
              <a:t>03 独立模型：固定身份、逐项判断；必须引用实际证据</a:t>
            </a:r>
          </a:p>
          <a:p>
            <a:r>
              <a:t>04 硬门槛复核：缺失/不可读不能放行；uncertain留分母记0</a:t>
            </a:r>
          </a:p>
          <a:p>
            <a:r>
              <a:t>05 人工抽检：全部失败 + 至少10%；保存理由与引用</a:t>
            </a:r>
          </a:p>
          <a:p>
            <a:r>
              <a:t>06 保留分歧：不覆盖原始评分；独立性与赛事另验</a:t>
            </a:r>
          </a:p>
          <a:p/>
          <a:p/>
          <a:p>
            <a:r>
              <a:t>依据：docs/26；scripts/judge_actions.py；src/os_agent_memory/local_judge.py</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17.3 赛事验收与交付检查表</a:t>
            </a:r>
          </a:p>
          <a:p>
            <a:r>
              <a:t>材料初版和正式赛事验收是两种状态，文档完善不自动关闭运行与外部证据风险。</a:t>
            </a:r>
          </a:p>
          <a:p/>
          <a:p>
            <a:r>
              <a:t>规则执行：PPT和Word内容保持匿名；外部文件夹/文件命名由提交人按平台信息统一。视频按最新规则5–10分钟、ZIP≤200M准备。2026年9月15日24:00前由指定一人扫码上传；首版为准，禁止多次提交。</a:t>
            </a:r>
          </a:p>
          <a:p>
            <a:r>
              <a:t>本次交付：本次只更新项目报告PPTX和技术方案DOCX，Word包含用户手册与效果验证报告；不打包，不上传，PDF由资料负责人自行转换。旧Office、失败证据和历史归档保持原样。</a:t>
            </a:r>
          </a:p>
          <a:p/>
          <a:p>
            <a:r>
              <a:t>验收项 | 本版结论 | 后续真实证据</a:t>
            </a:r>
          </a:p>
          <a:p>
            <a:r>
              <a:t>方案、实现、用户手册、评测说明 | 本次材料覆盖并渲染核查 | 提交前人工审阅</a:t>
            </a:r>
          </a:p>
          <a:p>
            <a:r>
              <a:t>公开合成冻结/复杂回归 | 当前运行源码通过 | 不替代独立验收</a:t>
            </a:r>
          </a:p>
          <a:p>
            <a:r>
              <a:t>真实SDK时延 | 待复测风险项 | 同配置至少50不同请求、三轮</a:t>
            </a:r>
          </a:p>
          <a:p>
            <a:r>
              <a:t>当前源码V11与HTTP | 待独立复验 | 目标机完整日志与摘要</a:t>
            </a:r>
          </a:p>
          <a:p>
            <a:r>
              <a:t>真实Agent/Judge与授权案例 | 协议与采集路径具备 | 真实执行、独立评分和授权</a:t>
            </a:r>
          </a:p>
          <a:p>
            <a:r>
              <a:t>视频/命名/首版上传 | 本次不执行 | 最终人工检查和正式回执</a:t>
            </a:r>
          </a:p>
          <a:p/>
          <a:p/>
          <a:p>
            <a:r>
              <a:t>依据：官方提交规则；docs/26、27、45</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58368" y="612648"/>
            <a:ext cx="73152" cy="329184"/>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630936"/>
            <a:ext cx="10515600" cy="301752"/>
          </a:xfrm>
          <a:prstGeom prst="rect">
            <a:avLst/>
          </a:prstGeom>
          <a:noFill/>
        </p:spPr>
        <p:txBody>
          <a:bodyPr wrap="none" lIns="0" rIns="0" tIns="0" bIns="0" anchor="t">
            <a:noAutofit/>
          </a:bodyPr>
          <a:lstStyle/>
          <a:p>
            <a:pPr algn="l">
              <a:lnSpc>
                <a:spcPts val="1725"/>
              </a:lnSpc>
              <a:spcBef>
                <a:spcPts val="0"/>
              </a:spcBef>
              <a:spcAft>
                <a:spcPts val="0"/>
              </a:spcAft>
            </a:pPr>
            <a:r>
              <a:rPr sz="1500" b="1" lang="zh-CN">
                <a:solidFill>
                  <a:srgbClr val="006D77"/>
                </a:solidFill>
                <a:latin typeface="Microsoft YaHei"/>
                <a:ea typeface="Microsoft YaHei"/>
                <a:cs typeface="Microsoft YaHei"/>
              </a:rPr>
              <a:t>挑战杯 · 揭榜挂帅  |  麒麟赛题  |  匿名项目报告</a:t>
            </a:r>
          </a:p>
        </p:txBody>
      </p:sp>
      <p:sp>
        <p:nvSpPr>
          <p:cNvPr id="4" name="TextBox 3"/>
          <p:cNvSpPr txBox="1"/>
          <p:nvPr/>
        </p:nvSpPr>
        <p:spPr>
          <a:xfrm>
            <a:off x="722376" y="1307592"/>
            <a:ext cx="10744200" cy="1508760"/>
          </a:xfrm>
          <a:prstGeom prst="rect">
            <a:avLst/>
          </a:prstGeom>
          <a:noFill/>
        </p:spPr>
        <p:txBody>
          <a:bodyPr wrap="none" lIns="0" rIns="0" tIns="0" bIns="0" anchor="t">
            <a:noAutofit/>
          </a:bodyPr>
          <a:lstStyle/>
          <a:p>
            <a:pPr algn="l">
              <a:lnSpc>
                <a:spcPts val="5208"/>
              </a:lnSpc>
              <a:spcBef>
                <a:spcPts val="0"/>
              </a:spcBef>
              <a:spcAft>
                <a:spcPts val="0"/>
              </a:spcAft>
            </a:pPr>
            <a:r>
              <a:rPr sz="4200" b="1" lang="zh-CN">
                <a:solidFill>
                  <a:srgbClr val="172629"/>
                </a:solidFill>
                <a:latin typeface="Microsoft YaHei"/>
                <a:ea typeface="Microsoft YaHei"/>
                <a:cs typeface="Microsoft YaHei"/>
              </a:rPr>
              <a:t>OS Agent</a:t>
            </a:r>
          </a:p>
          <a:p>
            <a:pPr algn="l">
              <a:lnSpc>
                <a:spcPts val="5208"/>
              </a:lnSpc>
              <a:spcBef>
                <a:spcPts val="0"/>
              </a:spcBef>
              <a:spcAft>
                <a:spcPts val="0"/>
              </a:spcAft>
            </a:pPr>
            <a:r>
              <a:rPr sz="4200" b="1" lang="zh-CN">
                <a:solidFill>
                  <a:srgbClr val="172629"/>
                </a:solidFill>
                <a:latin typeface="Microsoft YaHei"/>
                <a:ea typeface="Microsoft YaHei"/>
                <a:cs typeface="Microsoft YaHei"/>
              </a:rPr>
              <a:t>多源融合记忆优化系统</a:t>
            </a:r>
          </a:p>
        </p:txBody>
      </p:sp>
      <p:sp>
        <p:nvSpPr>
          <p:cNvPr id="5" name="TextBox 4"/>
          <p:cNvSpPr txBox="1"/>
          <p:nvPr/>
        </p:nvSpPr>
        <p:spPr>
          <a:xfrm>
            <a:off x="768096" y="3099816"/>
            <a:ext cx="10698480" cy="384048"/>
          </a:xfrm>
          <a:prstGeom prst="rect">
            <a:avLst/>
          </a:prstGeom>
          <a:noFill/>
        </p:spPr>
        <p:txBody>
          <a:bodyPr wrap="none" lIns="0" rIns="0" tIns="0" bIns="0" anchor="t">
            <a:noAutofit/>
          </a:bodyPr>
          <a:lstStyle/>
          <a:p>
            <a:pPr algn="l">
              <a:lnSpc>
                <a:spcPts val="2415"/>
              </a:lnSpc>
              <a:spcBef>
                <a:spcPts val="0"/>
              </a:spcBef>
              <a:spcAft>
                <a:spcPts val="0"/>
              </a:spcAft>
            </a:pPr>
            <a:r>
              <a:rPr sz="2100" b="0" lang="zh-CN">
                <a:solidFill>
                  <a:srgbClr val="52666A"/>
                </a:solidFill>
                <a:latin typeface="Microsoft YaHei"/>
                <a:ea typeface="Microsoft YaHei"/>
                <a:cs typeface="Microsoft YaHei"/>
              </a:rPr>
              <a:t>方案架构 · 关键实现 · 效果验证 · 部署与验收</a:t>
            </a:r>
          </a:p>
        </p:txBody>
      </p:sp>
      <p:sp>
        <p:nvSpPr>
          <p:cNvPr id="6" name="Rectangle 5"/>
          <p:cNvSpPr/>
          <p:nvPr/>
        </p:nvSpPr>
        <p:spPr>
          <a:xfrm>
            <a:off x="777240" y="4096512"/>
            <a:ext cx="3383280" cy="32004"/>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343400"/>
            <a:ext cx="3383280" cy="329184"/>
          </a:xfrm>
          <a:prstGeom prst="rect">
            <a:avLst/>
          </a:prstGeom>
          <a:noFill/>
        </p:spPr>
        <p:txBody>
          <a:bodyPr wrap="none" lIns="0" rIns="0" tIns="0" bIns="0" anchor="t">
            <a:noAutofit/>
          </a:bodyPr>
          <a:lstStyle/>
          <a:p>
            <a:pPr algn="l">
              <a:lnSpc>
                <a:spcPts val="2300"/>
              </a:lnSpc>
              <a:spcBef>
                <a:spcPts val="0"/>
              </a:spcBef>
              <a:spcAft>
                <a:spcPts val="0"/>
              </a:spcAft>
            </a:pPr>
            <a:r>
              <a:rPr sz="2000" b="1" lang="zh-CN">
                <a:solidFill>
                  <a:srgbClr val="006D77"/>
                </a:solidFill>
                <a:latin typeface="Microsoft YaHei"/>
                <a:ea typeface="Microsoft YaHei"/>
                <a:cs typeface="Microsoft YaHei"/>
              </a:rPr>
              <a:t>记忆治理</a:t>
            </a:r>
          </a:p>
        </p:txBody>
      </p:sp>
      <p:sp>
        <p:nvSpPr>
          <p:cNvPr id="8" name="TextBox 7"/>
          <p:cNvSpPr txBox="1"/>
          <p:nvPr/>
        </p:nvSpPr>
        <p:spPr>
          <a:xfrm>
            <a:off x="777240" y="4818888"/>
            <a:ext cx="3383280" cy="649224"/>
          </a:xfrm>
          <a:prstGeom prst="rect">
            <a:avLst/>
          </a:prstGeom>
          <a:noFill/>
        </p:spPr>
        <p:txBody>
          <a:bodyPr wrap="none" lIns="0" rIns="0" tIns="0" bIns="0" anchor="t">
            <a:noAutofit/>
          </a:bodyPr>
          <a:lstStyle/>
          <a:p>
            <a:pPr algn="l">
              <a:lnSpc>
                <a:spcPts val="2070"/>
              </a:lnSpc>
              <a:spcBef>
                <a:spcPts val="0"/>
              </a:spcBef>
              <a:spcAft>
                <a:spcPts val="0"/>
              </a:spcAft>
            </a:pPr>
            <a:r>
              <a:rPr sz="1800" b="0" lang="zh-CN">
                <a:solidFill>
                  <a:srgbClr val="172629"/>
                </a:solidFill>
                <a:latin typeface="Microsoft YaHei"/>
                <a:ea typeface="Microsoft YaHei"/>
                <a:cs typeface="Microsoft YaHei"/>
              </a:rPr>
              <a:t>多源接入、动态偏好</a:t>
            </a:r>
          </a:p>
          <a:p>
            <a:pPr algn="l">
              <a:lnSpc>
                <a:spcPts val="2070"/>
              </a:lnSpc>
              <a:spcBef>
                <a:spcPts val="0"/>
              </a:spcBef>
              <a:spcAft>
                <a:spcPts val="0"/>
              </a:spcAft>
            </a:pPr>
            <a:r>
              <a:rPr sz="1800" b="0" lang="zh-CN">
                <a:solidFill>
                  <a:srgbClr val="172629"/>
                </a:solidFill>
                <a:latin typeface="Microsoft YaHei"/>
                <a:ea typeface="Microsoft YaHei"/>
                <a:cs typeface="Microsoft YaHei"/>
              </a:rPr>
              <a:t>版本、冲突与可确认遗忘</a:t>
            </a:r>
          </a:p>
        </p:txBody>
      </p:sp>
      <p:sp>
        <p:nvSpPr>
          <p:cNvPr id="9" name="Rectangle 8"/>
          <p:cNvSpPr/>
          <p:nvPr/>
        </p:nvSpPr>
        <p:spPr>
          <a:xfrm>
            <a:off x="4498848" y="4096512"/>
            <a:ext cx="3383280" cy="32004"/>
          </a:xfrm>
          <a:prstGeom prst="rect">
            <a:avLst/>
          </a:prstGeom>
          <a:solidFill>
            <a:srgbClr val="285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4343400"/>
            <a:ext cx="3383280" cy="329184"/>
          </a:xfrm>
          <a:prstGeom prst="rect">
            <a:avLst/>
          </a:prstGeom>
          <a:noFill/>
        </p:spPr>
        <p:txBody>
          <a:bodyPr wrap="none" lIns="0" rIns="0" tIns="0" bIns="0" anchor="t">
            <a:noAutofit/>
          </a:bodyPr>
          <a:lstStyle/>
          <a:p>
            <a:pPr algn="l">
              <a:lnSpc>
                <a:spcPts val="2300"/>
              </a:lnSpc>
              <a:spcBef>
                <a:spcPts val="0"/>
              </a:spcBef>
              <a:spcAft>
                <a:spcPts val="0"/>
              </a:spcAft>
            </a:pPr>
            <a:r>
              <a:rPr sz="2000" b="1" lang="zh-CN">
                <a:solidFill>
                  <a:srgbClr val="2857A5"/>
                </a:solidFill>
                <a:latin typeface="Microsoft YaHei"/>
                <a:ea typeface="Microsoft YaHei"/>
                <a:cs typeface="Microsoft YaHei"/>
              </a:rPr>
              <a:t>证据检索</a:t>
            </a:r>
          </a:p>
        </p:txBody>
      </p:sp>
      <p:sp>
        <p:nvSpPr>
          <p:cNvPr id="11" name="TextBox 10"/>
          <p:cNvSpPr txBox="1"/>
          <p:nvPr/>
        </p:nvSpPr>
        <p:spPr>
          <a:xfrm>
            <a:off x="4498848" y="4818888"/>
            <a:ext cx="3383280" cy="649224"/>
          </a:xfrm>
          <a:prstGeom prst="rect">
            <a:avLst/>
          </a:prstGeom>
          <a:noFill/>
        </p:spPr>
        <p:txBody>
          <a:bodyPr wrap="none" lIns="0" rIns="0" tIns="0" bIns="0" anchor="t">
            <a:noAutofit/>
          </a:bodyPr>
          <a:lstStyle/>
          <a:p>
            <a:pPr algn="l">
              <a:lnSpc>
                <a:spcPts val="2070"/>
              </a:lnSpc>
              <a:spcBef>
                <a:spcPts val="0"/>
              </a:spcBef>
              <a:spcAft>
                <a:spcPts val="0"/>
              </a:spcAft>
            </a:pPr>
            <a:r>
              <a:rPr sz="1800" b="0" lang="zh-CN">
                <a:solidFill>
                  <a:srgbClr val="172629"/>
                </a:solidFill>
                <a:latin typeface="Microsoft YaHei"/>
                <a:ea typeface="Microsoft YaHei"/>
                <a:cs typeface="Microsoft YaHei"/>
              </a:rPr>
              <a:t>聚焦问题、保护主体</a:t>
            </a:r>
          </a:p>
          <a:p>
            <a:pPr algn="l">
              <a:lnSpc>
                <a:spcPts val="2070"/>
              </a:lnSpc>
              <a:spcBef>
                <a:spcPts val="0"/>
              </a:spcBef>
              <a:spcAft>
                <a:spcPts val="0"/>
              </a:spcAft>
            </a:pPr>
            <a:r>
              <a:rPr sz="1800" b="0" lang="zh-CN">
                <a:solidFill>
                  <a:srgbClr val="172629"/>
                </a:solidFill>
                <a:latin typeface="Microsoft YaHei"/>
                <a:ea typeface="Microsoft YaHei"/>
                <a:cs typeface="Microsoft YaHei"/>
              </a:rPr>
              <a:t>补齐章节、检查正文支持</a:t>
            </a:r>
          </a:p>
        </p:txBody>
      </p:sp>
      <p:sp>
        <p:nvSpPr>
          <p:cNvPr id="12" name="Rectangle 11"/>
          <p:cNvSpPr/>
          <p:nvPr/>
        </p:nvSpPr>
        <p:spPr>
          <a:xfrm>
            <a:off x="8220456" y="4096512"/>
            <a:ext cx="3383280" cy="32004"/>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0456" y="4343400"/>
            <a:ext cx="3383280" cy="329184"/>
          </a:xfrm>
          <a:prstGeom prst="rect">
            <a:avLst/>
          </a:prstGeom>
          <a:noFill/>
        </p:spPr>
        <p:txBody>
          <a:bodyPr wrap="none" lIns="0" rIns="0" tIns="0" bIns="0" anchor="t">
            <a:noAutofit/>
          </a:bodyPr>
          <a:lstStyle/>
          <a:p>
            <a:pPr algn="l">
              <a:lnSpc>
                <a:spcPts val="2300"/>
              </a:lnSpc>
              <a:spcBef>
                <a:spcPts val="0"/>
              </a:spcBef>
              <a:spcAft>
                <a:spcPts val="0"/>
              </a:spcAft>
            </a:pPr>
            <a:r>
              <a:rPr sz="2000" b="1" lang="zh-CN">
                <a:solidFill>
                  <a:srgbClr val="006D77"/>
                </a:solidFill>
                <a:latin typeface="Microsoft YaHei"/>
                <a:ea typeface="Microsoft YaHei"/>
                <a:cs typeface="Microsoft YaHei"/>
              </a:rPr>
              <a:t>可核验证据</a:t>
            </a:r>
          </a:p>
        </p:txBody>
      </p:sp>
      <p:sp>
        <p:nvSpPr>
          <p:cNvPr id="14" name="TextBox 13"/>
          <p:cNvSpPr txBox="1"/>
          <p:nvPr/>
        </p:nvSpPr>
        <p:spPr>
          <a:xfrm>
            <a:off x="8220456" y="4818888"/>
            <a:ext cx="3383280" cy="649224"/>
          </a:xfrm>
          <a:prstGeom prst="rect">
            <a:avLst/>
          </a:prstGeom>
          <a:noFill/>
        </p:spPr>
        <p:txBody>
          <a:bodyPr wrap="none" lIns="0" rIns="0" tIns="0" bIns="0" anchor="t">
            <a:noAutofit/>
          </a:bodyPr>
          <a:lstStyle/>
          <a:p>
            <a:pPr algn="l">
              <a:lnSpc>
                <a:spcPts val="2070"/>
              </a:lnSpc>
              <a:spcBef>
                <a:spcPts val="0"/>
              </a:spcBef>
              <a:spcAft>
                <a:spcPts val="0"/>
              </a:spcAft>
            </a:pPr>
            <a:r>
              <a:rPr sz="1800" b="0" lang="zh-CN">
                <a:solidFill>
                  <a:srgbClr val="172629"/>
                </a:solidFill>
                <a:latin typeface="Microsoft YaHei"/>
                <a:ea typeface="Microsoft YaHei"/>
                <a:cs typeface="Microsoft YaHei"/>
              </a:rPr>
              <a:t>392项测试无失败</a:t>
            </a:r>
          </a:p>
          <a:p>
            <a:pPr algn="l">
              <a:lnSpc>
                <a:spcPts val="2070"/>
              </a:lnSpc>
              <a:spcBef>
                <a:spcPts val="0"/>
              </a:spcBef>
              <a:spcAft>
                <a:spcPts val="0"/>
              </a:spcAft>
            </a:pPr>
            <a:r>
              <a:rPr sz="1800" b="0" lang="zh-CN">
                <a:solidFill>
                  <a:srgbClr val="172629"/>
                </a:solidFill>
                <a:latin typeface="Microsoft YaHei"/>
                <a:ea typeface="Microsoft YaHei"/>
                <a:cs typeface="Microsoft YaHei"/>
              </a:rPr>
              <a:t>168个不同复杂请求分层回归</a:t>
            </a:r>
          </a:p>
        </p:txBody>
      </p:sp>
      <p:sp>
        <p:nvSpPr>
          <p:cNvPr id="15" name="TextBox 14"/>
          <p:cNvSpPr txBox="1"/>
          <p:nvPr/>
        </p:nvSpPr>
        <p:spPr>
          <a:xfrm>
            <a:off x="786384" y="5952744"/>
            <a:ext cx="10607040" cy="310896"/>
          </a:xfrm>
          <a:prstGeom prst="rect">
            <a:avLst/>
          </a:prstGeom>
          <a:noFill/>
        </p:spPr>
        <p:txBody>
          <a:bodyPr wrap="none" lIns="0" rIns="0" tIns="0" bIns="0" anchor="t">
            <a:noAutofit/>
          </a:bodyPr>
          <a:lstStyle/>
          <a:p>
            <a:pPr algn="l">
              <a:lnSpc>
                <a:spcPts val="1839"/>
              </a:lnSpc>
              <a:spcBef>
                <a:spcPts val="0"/>
              </a:spcBef>
              <a:spcAft>
                <a:spcPts val="0"/>
              </a:spcAft>
            </a:pPr>
            <a:r>
              <a:rPr sz="1600" b="1" lang="zh-CN">
                <a:solidFill>
                  <a:srgbClr val="006D77"/>
                </a:solidFill>
                <a:latin typeface="Microsoft YaHei"/>
                <a:ea typeface="Microsoft YaHei"/>
                <a:cs typeface="Microsoft YaHei"/>
              </a:rPr>
              <a:t>已完成初版，待赛事验收  |  2026-09-11</a:t>
            </a:r>
          </a:p>
        </p:txBody>
      </p:sp>
      <p:sp>
        <p:nvSpPr>
          <p:cNvPr id="16" name="TextBox 15"/>
          <p:cNvSpPr txBox="1"/>
          <p:nvPr/>
        </p:nvSpPr>
        <p:spPr>
          <a:xfrm>
            <a:off x="786384" y="6437376"/>
            <a:ext cx="10561320" cy="237744"/>
          </a:xfrm>
          <a:prstGeom prst="rect">
            <a:avLst/>
          </a:prstGeom>
          <a:noFill/>
        </p:spPr>
        <p:txBody>
          <a:bodyPr wrap="none" lIns="0" rIns="0" tIns="0" bIns="0" anchor="t">
            <a:noAutofit/>
          </a:bodyPr>
          <a:lstStyle/>
          <a:p>
            <a:pPr algn="l">
              <a:lnSpc>
                <a:spcPts val="1264"/>
              </a:lnSpc>
              <a:spcBef>
                <a:spcPts val="0"/>
              </a:spcBef>
              <a:spcAft>
                <a:spcPts val="0"/>
              </a:spcAft>
            </a:pPr>
            <a:r>
              <a:rPr sz="1100" b="0" lang="zh-CN">
                <a:solidFill>
                  <a:srgbClr val="52666A"/>
                </a:solidFill>
                <a:latin typeface="Microsoft YaHei"/>
                <a:ea typeface="Microsoft YaHei"/>
                <a:cs typeface="Microsoft YaHei"/>
              </a:rPr>
              <a:t>Windows / HashEmbedding 公开合成回归；真实SDK为待复测风险项，正式赛事验收另行完成。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阅读路径</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报告结构与重点</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报告按技术方案章节编号组织；完整参数、用户手册和原始证据索引保留在配套Word。</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依据：官方提交规则；配套技术方案目录</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02 / 53</a:t>
            </a:r>
          </a:p>
        </p:txBody>
      </p:sp>
      <p:sp>
        <p:nvSpPr>
          <p:cNvPr id="9" name="TextBox 8"/>
          <p:cNvSpPr txBox="1"/>
          <p:nvPr/>
        </p:nvSpPr>
        <p:spPr>
          <a:xfrm>
            <a:off x="722376" y="1920240"/>
            <a:ext cx="640080" cy="411480"/>
          </a:xfrm>
          <a:prstGeom prst="rect">
            <a:avLst/>
          </a:prstGeom>
          <a:noFill/>
        </p:spPr>
        <p:txBody>
          <a:bodyPr wrap="none" lIns="0" rIns="0" tIns="0" bIns="0" anchor="t">
            <a:noAutofit/>
          </a:bodyPr>
          <a:lstStyle/>
          <a:p>
            <a:pPr algn="l">
              <a:lnSpc>
                <a:spcPts val="2990"/>
              </a:lnSpc>
              <a:spcBef>
                <a:spcPts val="0"/>
              </a:spcBef>
              <a:spcAft>
                <a:spcPts val="0"/>
              </a:spcAft>
            </a:pPr>
            <a:r>
              <a:rPr sz="2600" b="1" lang="zh-CN">
                <a:solidFill>
                  <a:srgbClr val="006D77"/>
                </a:solidFill>
                <a:latin typeface="Microsoft YaHei"/>
                <a:ea typeface="Microsoft YaHei"/>
                <a:cs typeface="Microsoft YaHei"/>
              </a:rPr>
              <a:t>01</a:t>
            </a:r>
          </a:p>
        </p:txBody>
      </p:sp>
      <p:sp>
        <p:nvSpPr>
          <p:cNvPr id="10" name="TextBox 9"/>
          <p:cNvSpPr txBox="1"/>
          <p:nvPr/>
        </p:nvSpPr>
        <p:spPr>
          <a:xfrm>
            <a:off x="1527048" y="1920240"/>
            <a:ext cx="7132320" cy="356616"/>
          </a:xfrm>
          <a:prstGeom prst="rect">
            <a:avLst/>
          </a:prstGeom>
          <a:noFill/>
        </p:spPr>
        <p:txBody>
          <a:bodyPr wrap="none" lIns="0" rIns="0" tIns="0" bIns="0" anchor="t">
            <a:noAutofit/>
          </a:bodyPr>
          <a:lstStyle/>
          <a:p>
            <a:pPr algn="l">
              <a:lnSpc>
                <a:spcPts val="2529"/>
              </a:lnSpc>
              <a:spcBef>
                <a:spcPts val="0"/>
              </a:spcBef>
              <a:spcAft>
                <a:spcPts val="0"/>
              </a:spcAft>
            </a:pPr>
            <a:r>
              <a:rPr sz="2200" b="1" lang="zh-CN">
                <a:solidFill>
                  <a:srgbClr val="172629"/>
                </a:solidFill>
                <a:latin typeface="Microsoft YaHei"/>
                <a:ea typeface="Microsoft YaHei"/>
                <a:cs typeface="Microsoft YaHei"/>
              </a:rPr>
              <a:t>目标与总体方案</a:t>
            </a:r>
          </a:p>
        </p:txBody>
      </p:sp>
      <p:sp>
        <p:nvSpPr>
          <p:cNvPr id="11" name="TextBox 10"/>
          <p:cNvSpPr txBox="1"/>
          <p:nvPr/>
        </p:nvSpPr>
        <p:spPr>
          <a:xfrm>
            <a:off x="1545336" y="2359152"/>
            <a:ext cx="8961120" cy="292608"/>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问题、数据模型、分层架构与两条实现路线</a:t>
            </a:r>
          </a:p>
        </p:txBody>
      </p:sp>
      <p:sp>
        <p:nvSpPr>
          <p:cNvPr id="12" name="TextBox 11"/>
          <p:cNvSpPr txBox="1"/>
          <p:nvPr/>
        </p:nvSpPr>
        <p:spPr>
          <a:xfrm>
            <a:off x="9646920" y="1938528"/>
            <a:ext cx="1691640" cy="292608"/>
          </a:xfrm>
          <a:prstGeom prst="rect">
            <a:avLst/>
          </a:prstGeom>
          <a:noFill/>
        </p:spPr>
        <p:txBody>
          <a:bodyPr wrap="none" lIns="0" rIns="0" tIns="0" bIns="0" anchor="t">
            <a:noAutofit/>
          </a:bodyPr>
          <a:lstStyle/>
          <a:p>
            <a:pPr algn="r">
              <a:lnSpc>
                <a:spcPts val="1839"/>
              </a:lnSpc>
              <a:spcBef>
                <a:spcPts val="0"/>
              </a:spcBef>
              <a:spcAft>
                <a:spcPts val="0"/>
              </a:spcAft>
            </a:pPr>
            <a:r>
              <a:rPr sz="1600" b="0" lang="zh-CN">
                <a:solidFill>
                  <a:srgbClr val="2857A5"/>
                </a:solidFill>
                <a:latin typeface="Microsoft YaHei"/>
                <a:ea typeface="Microsoft YaHei"/>
                <a:cs typeface="Microsoft YaHei"/>
              </a:rPr>
              <a:t>第1–2章</a:t>
            </a:r>
          </a:p>
        </p:txBody>
      </p:sp>
      <p:sp>
        <p:nvSpPr>
          <p:cNvPr id="13" name="TextBox 12"/>
          <p:cNvSpPr txBox="1"/>
          <p:nvPr/>
        </p:nvSpPr>
        <p:spPr>
          <a:xfrm>
            <a:off x="722376" y="2889504"/>
            <a:ext cx="640080" cy="411480"/>
          </a:xfrm>
          <a:prstGeom prst="rect">
            <a:avLst/>
          </a:prstGeom>
          <a:noFill/>
        </p:spPr>
        <p:txBody>
          <a:bodyPr wrap="none" lIns="0" rIns="0" tIns="0" bIns="0" anchor="t">
            <a:noAutofit/>
          </a:bodyPr>
          <a:lstStyle/>
          <a:p>
            <a:pPr algn="l">
              <a:lnSpc>
                <a:spcPts val="2990"/>
              </a:lnSpc>
              <a:spcBef>
                <a:spcPts val="0"/>
              </a:spcBef>
              <a:spcAft>
                <a:spcPts val="0"/>
              </a:spcAft>
            </a:pPr>
            <a:r>
              <a:rPr sz="2600" b="1" lang="zh-CN">
                <a:solidFill>
                  <a:srgbClr val="006D77"/>
                </a:solidFill>
                <a:latin typeface="Microsoft YaHei"/>
                <a:ea typeface="Microsoft YaHei"/>
                <a:cs typeface="Microsoft YaHei"/>
              </a:rPr>
              <a:t>02</a:t>
            </a:r>
          </a:p>
        </p:txBody>
      </p:sp>
      <p:sp>
        <p:nvSpPr>
          <p:cNvPr id="14" name="TextBox 13"/>
          <p:cNvSpPr txBox="1"/>
          <p:nvPr/>
        </p:nvSpPr>
        <p:spPr>
          <a:xfrm>
            <a:off x="1527048" y="2889504"/>
            <a:ext cx="7132320" cy="356616"/>
          </a:xfrm>
          <a:prstGeom prst="rect">
            <a:avLst/>
          </a:prstGeom>
          <a:noFill/>
        </p:spPr>
        <p:txBody>
          <a:bodyPr wrap="none" lIns="0" rIns="0" tIns="0" bIns="0" anchor="t">
            <a:noAutofit/>
          </a:bodyPr>
          <a:lstStyle/>
          <a:p>
            <a:pPr algn="l">
              <a:lnSpc>
                <a:spcPts val="2529"/>
              </a:lnSpc>
              <a:spcBef>
                <a:spcPts val="0"/>
              </a:spcBef>
              <a:spcAft>
                <a:spcPts val="0"/>
              </a:spcAft>
            </a:pPr>
            <a:r>
              <a:rPr sz="2200" b="1" lang="zh-CN">
                <a:solidFill>
                  <a:srgbClr val="172629"/>
                </a:solidFill>
                <a:latin typeface="Microsoft YaHei"/>
                <a:ea typeface="Microsoft YaHei"/>
                <a:cs typeface="Microsoft YaHei"/>
              </a:rPr>
              <a:t>关键机制与适配</a:t>
            </a:r>
          </a:p>
        </p:txBody>
      </p:sp>
      <p:sp>
        <p:nvSpPr>
          <p:cNvPr id="15" name="TextBox 14"/>
          <p:cNvSpPr txBox="1"/>
          <p:nvPr/>
        </p:nvSpPr>
        <p:spPr>
          <a:xfrm>
            <a:off x="1545336" y="3328416"/>
            <a:ext cx="8961120" cy="292608"/>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多源、偏好、流转、冲突、检索、端侧与安全</a:t>
            </a:r>
          </a:p>
        </p:txBody>
      </p:sp>
      <p:sp>
        <p:nvSpPr>
          <p:cNvPr id="16" name="TextBox 15"/>
          <p:cNvSpPr txBox="1"/>
          <p:nvPr/>
        </p:nvSpPr>
        <p:spPr>
          <a:xfrm>
            <a:off x="9646920" y="2907792"/>
            <a:ext cx="1691640" cy="292608"/>
          </a:xfrm>
          <a:prstGeom prst="rect">
            <a:avLst/>
          </a:prstGeom>
          <a:noFill/>
        </p:spPr>
        <p:txBody>
          <a:bodyPr wrap="none" lIns="0" rIns="0" tIns="0" bIns="0" anchor="t">
            <a:noAutofit/>
          </a:bodyPr>
          <a:lstStyle/>
          <a:p>
            <a:pPr algn="r">
              <a:lnSpc>
                <a:spcPts val="1839"/>
              </a:lnSpc>
              <a:spcBef>
                <a:spcPts val="0"/>
              </a:spcBef>
              <a:spcAft>
                <a:spcPts val="0"/>
              </a:spcAft>
            </a:pPr>
            <a:r>
              <a:rPr sz="1600" b="0" lang="zh-CN">
                <a:solidFill>
                  <a:srgbClr val="2857A5"/>
                </a:solidFill>
                <a:latin typeface="Microsoft YaHei"/>
                <a:ea typeface="Microsoft YaHei"/>
                <a:cs typeface="Microsoft YaHei"/>
              </a:rPr>
              <a:t>第3–10章</a:t>
            </a:r>
          </a:p>
        </p:txBody>
      </p:sp>
      <p:sp>
        <p:nvSpPr>
          <p:cNvPr id="17" name="TextBox 16"/>
          <p:cNvSpPr txBox="1"/>
          <p:nvPr/>
        </p:nvSpPr>
        <p:spPr>
          <a:xfrm>
            <a:off x="722376" y="3858768"/>
            <a:ext cx="640080" cy="411480"/>
          </a:xfrm>
          <a:prstGeom prst="rect">
            <a:avLst/>
          </a:prstGeom>
          <a:noFill/>
        </p:spPr>
        <p:txBody>
          <a:bodyPr wrap="none" lIns="0" rIns="0" tIns="0" bIns="0" anchor="t">
            <a:noAutofit/>
          </a:bodyPr>
          <a:lstStyle/>
          <a:p>
            <a:pPr algn="l">
              <a:lnSpc>
                <a:spcPts val="2990"/>
              </a:lnSpc>
              <a:spcBef>
                <a:spcPts val="0"/>
              </a:spcBef>
              <a:spcAft>
                <a:spcPts val="0"/>
              </a:spcAft>
            </a:pPr>
            <a:r>
              <a:rPr sz="2600" b="1" lang="zh-CN">
                <a:solidFill>
                  <a:srgbClr val="006D77"/>
                </a:solidFill>
                <a:latin typeface="Microsoft YaHei"/>
                <a:ea typeface="Microsoft YaHei"/>
                <a:cs typeface="Microsoft YaHei"/>
              </a:rPr>
              <a:t>03</a:t>
            </a:r>
          </a:p>
        </p:txBody>
      </p:sp>
      <p:sp>
        <p:nvSpPr>
          <p:cNvPr id="18" name="TextBox 17"/>
          <p:cNvSpPr txBox="1"/>
          <p:nvPr/>
        </p:nvSpPr>
        <p:spPr>
          <a:xfrm>
            <a:off x="1527048" y="3858768"/>
            <a:ext cx="7132320" cy="356616"/>
          </a:xfrm>
          <a:prstGeom prst="rect">
            <a:avLst/>
          </a:prstGeom>
          <a:noFill/>
        </p:spPr>
        <p:txBody>
          <a:bodyPr wrap="none" lIns="0" rIns="0" tIns="0" bIns="0" anchor="t">
            <a:noAutofit/>
          </a:bodyPr>
          <a:lstStyle/>
          <a:p>
            <a:pPr algn="l">
              <a:lnSpc>
                <a:spcPts val="2529"/>
              </a:lnSpc>
              <a:spcBef>
                <a:spcPts val="0"/>
              </a:spcBef>
              <a:spcAft>
                <a:spcPts val="0"/>
              </a:spcAft>
            </a:pPr>
            <a:r>
              <a:rPr sz="2200" b="1" lang="zh-CN">
                <a:solidFill>
                  <a:srgbClr val="172629"/>
                </a:solidFill>
                <a:latin typeface="Microsoft YaHei"/>
                <a:ea typeface="Microsoft YaHei"/>
                <a:cs typeface="Microsoft YaHei"/>
              </a:rPr>
              <a:t>创新与效果验证</a:t>
            </a:r>
          </a:p>
        </p:txBody>
      </p:sp>
      <p:sp>
        <p:nvSpPr>
          <p:cNvPr id="19" name="TextBox 18"/>
          <p:cNvSpPr txBox="1"/>
          <p:nvPr/>
        </p:nvSpPr>
        <p:spPr>
          <a:xfrm>
            <a:off x="1545336" y="4297680"/>
            <a:ext cx="8961120" cy="292608"/>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相关工作、固定分母、对照、干扰与全矩阵时延</a:t>
            </a:r>
          </a:p>
        </p:txBody>
      </p:sp>
      <p:sp>
        <p:nvSpPr>
          <p:cNvPr id="20" name="TextBox 19"/>
          <p:cNvSpPr txBox="1"/>
          <p:nvPr/>
        </p:nvSpPr>
        <p:spPr>
          <a:xfrm>
            <a:off x="9646920" y="3877056"/>
            <a:ext cx="1691640" cy="292608"/>
          </a:xfrm>
          <a:prstGeom prst="rect">
            <a:avLst/>
          </a:prstGeom>
          <a:noFill/>
        </p:spPr>
        <p:txBody>
          <a:bodyPr wrap="none" lIns="0" rIns="0" tIns="0" bIns="0" anchor="t">
            <a:noAutofit/>
          </a:bodyPr>
          <a:lstStyle/>
          <a:p>
            <a:pPr algn="r">
              <a:lnSpc>
                <a:spcPts val="1839"/>
              </a:lnSpc>
              <a:spcBef>
                <a:spcPts val="0"/>
              </a:spcBef>
              <a:spcAft>
                <a:spcPts val="0"/>
              </a:spcAft>
            </a:pPr>
            <a:r>
              <a:rPr sz="1600" b="0" lang="zh-CN">
                <a:solidFill>
                  <a:srgbClr val="2857A5"/>
                </a:solidFill>
                <a:latin typeface="Microsoft YaHei"/>
                <a:ea typeface="Microsoft YaHei"/>
                <a:cs typeface="Microsoft YaHei"/>
              </a:rPr>
              <a:t>第11–13章</a:t>
            </a:r>
          </a:p>
        </p:txBody>
      </p:sp>
      <p:sp>
        <p:nvSpPr>
          <p:cNvPr id="21" name="TextBox 20"/>
          <p:cNvSpPr txBox="1"/>
          <p:nvPr/>
        </p:nvSpPr>
        <p:spPr>
          <a:xfrm>
            <a:off x="722376" y="4828032"/>
            <a:ext cx="640080" cy="411480"/>
          </a:xfrm>
          <a:prstGeom prst="rect">
            <a:avLst/>
          </a:prstGeom>
          <a:noFill/>
        </p:spPr>
        <p:txBody>
          <a:bodyPr wrap="none" lIns="0" rIns="0" tIns="0" bIns="0" anchor="t">
            <a:noAutofit/>
          </a:bodyPr>
          <a:lstStyle/>
          <a:p>
            <a:pPr algn="l">
              <a:lnSpc>
                <a:spcPts val="2990"/>
              </a:lnSpc>
              <a:spcBef>
                <a:spcPts val="0"/>
              </a:spcBef>
              <a:spcAft>
                <a:spcPts val="0"/>
              </a:spcAft>
            </a:pPr>
            <a:r>
              <a:rPr sz="2600" b="1" lang="zh-CN">
                <a:solidFill>
                  <a:srgbClr val="006D77"/>
                </a:solidFill>
                <a:latin typeface="Microsoft YaHei"/>
                <a:ea typeface="Microsoft YaHei"/>
                <a:cs typeface="Microsoft YaHei"/>
              </a:rPr>
              <a:t>04</a:t>
            </a:r>
          </a:p>
        </p:txBody>
      </p:sp>
      <p:sp>
        <p:nvSpPr>
          <p:cNvPr id="22" name="TextBox 21"/>
          <p:cNvSpPr txBox="1"/>
          <p:nvPr/>
        </p:nvSpPr>
        <p:spPr>
          <a:xfrm>
            <a:off x="1527048" y="4828032"/>
            <a:ext cx="7132320" cy="356616"/>
          </a:xfrm>
          <a:prstGeom prst="rect">
            <a:avLst/>
          </a:prstGeom>
          <a:noFill/>
        </p:spPr>
        <p:txBody>
          <a:bodyPr wrap="none" lIns="0" rIns="0" tIns="0" bIns="0" anchor="t">
            <a:noAutofit/>
          </a:bodyPr>
          <a:lstStyle/>
          <a:p>
            <a:pPr algn="l">
              <a:lnSpc>
                <a:spcPts val="2529"/>
              </a:lnSpc>
              <a:spcBef>
                <a:spcPts val="0"/>
              </a:spcBef>
              <a:spcAft>
                <a:spcPts val="0"/>
              </a:spcAft>
            </a:pPr>
            <a:r>
              <a:rPr sz="2200" b="1" lang="zh-CN">
                <a:solidFill>
                  <a:srgbClr val="172629"/>
                </a:solidFill>
                <a:latin typeface="Microsoft YaHei"/>
                <a:ea typeface="Microsoft YaHei"/>
                <a:cs typeface="Microsoft YaHei"/>
              </a:rPr>
              <a:t>应用、操作与验收</a:t>
            </a:r>
          </a:p>
        </p:txBody>
      </p:sp>
      <p:sp>
        <p:nvSpPr>
          <p:cNvPr id="23" name="TextBox 22"/>
          <p:cNvSpPr txBox="1"/>
          <p:nvPr/>
        </p:nvSpPr>
        <p:spPr>
          <a:xfrm>
            <a:off x="1545336" y="5266944"/>
            <a:ext cx="8961120" cy="292608"/>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合成场景、真实案例边界、用户操作及独立评测</a:t>
            </a:r>
          </a:p>
        </p:txBody>
      </p:sp>
      <p:sp>
        <p:nvSpPr>
          <p:cNvPr id="24" name="TextBox 23"/>
          <p:cNvSpPr txBox="1"/>
          <p:nvPr/>
        </p:nvSpPr>
        <p:spPr>
          <a:xfrm>
            <a:off x="9646920" y="4846320"/>
            <a:ext cx="1691640" cy="292608"/>
          </a:xfrm>
          <a:prstGeom prst="rect">
            <a:avLst/>
          </a:prstGeom>
          <a:noFill/>
        </p:spPr>
        <p:txBody>
          <a:bodyPr wrap="none" lIns="0" rIns="0" tIns="0" bIns="0" anchor="t">
            <a:noAutofit/>
          </a:bodyPr>
          <a:lstStyle/>
          <a:p>
            <a:pPr algn="r">
              <a:lnSpc>
                <a:spcPts val="1839"/>
              </a:lnSpc>
              <a:spcBef>
                <a:spcPts val="0"/>
              </a:spcBef>
              <a:spcAft>
                <a:spcPts val="0"/>
              </a:spcAft>
            </a:pPr>
            <a:r>
              <a:rPr sz="1600" b="0" lang="zh-CN">
                <a:solidFill>
                  <a:srgbClr val="2857A5"/>
                </a:solidFill>
                <a:latin typeface="Microsoft YaHei"/>
                <a:ea typeface="Microsoft YaHei"/>
                <a:cs typeface="Microsoft YaHei"/>
              </a:rPr>
              <a:t>第14–18章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第1章  项目综述与规则</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1.1  项目目标与交付边界</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把分散的桌面事件转为可更新、可检索、可撤销的记忆，为 OS Agent 提供受约束的上下文。</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依据：README.md；docs/45；证据 W、C、E、N（编号见证据索引）</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03 / 53</a:t>
            </a:r>
          </a:p>
        </p:txBody>
      </p:sp>
      <p:sp>
        <p:nvSpPr>
          <p:cNvPr id="9" name="TextBox 8"/>
          <p:cNvSpPr txBox="1"/>
          <p:nvPr/>
        </p:nvSpPr>
        <p:spPr>
          <a:xfrm>
            <a:off x="713232" y="1920240"/>
            <a:ext cx="649224" cy="393192"/>
          </a:xfrm>
          <a:prstGeom prst="rect">
            <a:avLst/>
          </a:prstGeom>
          <a:noFill/>
        </p:spPr>
        <p:txBody>
          <a:bodyPr wrap="none" lIns="0" rIns="0" tIns="0" bIns="0" anchor="t">
            <a:noAutofit/>
          </a:bodyPr>
          <a:lstStyle/>
          <a:p>
            <a:pPr algn="l">
              <a:lnSpc>
                <a:spcPts val="2874"/>
              </a:lnSpc>
              <a:spcBef>
                <a:spcPts val="0"/>
              </a:spcBef>
              <a:spcAft>
                <a:spcPts val="0"/>
              </a:spcAft>
            </a:pPr>
            <a:r>
              <a:rPr sz="2500" b="1" lang="zh-CN">
                <a:solidFill>
                  <a:srgbClr val="006D77"/>
                </a:solidFill>
                <a:latin typeface="Microsoft YaHei"/>
                <a:ea typeface="Microsoft YaHei"/>
                <a:cs typeface="Microsoft YaHei"/>
              </a:rPr>
              <a:t>01</a:t>
            </a:r>
          </a:p>
        </p:txBody>
      </p:sp>
      <p:sp>
        <p:nvSpPr>
          <p:cNvPr id="10" name="TextBox 9"/>
          <p:cNvSpPr txBox="1"/>
          <p:nvPr/>
        </p:nvSpPr>
        <p:spPr>
          <a:xfrm>
            <a:off x="1517904" y="1920240"/>
            <a:ext cx="9875520" cy="393192"/>
          </a:xfrm>
          <a:prstGeom prst="rect">
            <a:avLst/>
          </a:prstGeom>
          <a:noFill/>
        </p:spPr>
        <p:txBody>
          <a:bodyPr wrap="none" lIns="0" rIns="0" tIns="0" bIns="0" anchor="t">
            <a:noAutofit/>
          </a:bodyPr>
          <a:lstStyle/>
          <a:p>
            <a:pPr algn="l">
              <a:lnSpc>
                <a:spcPts val="2415"/>
              </a:lnSpc>
              <a:spcBef>
                <a:spcPts val="0"/>
              </a:spcBef>
              <a:spcAft>
                <a:spcPts val="0"/>
              </a:spcAft>
            </a:pPr>
            <a:r>
              <a:rPr sz="2100" b="1" lang="zh-CN">
                <a:solidFill>
                  <a:srgbClr val="172629"/>
                </a:solidFill>
                <a:latin typeface="Microsoft YaHei"/>
                <a:ea typeface="Microsoft YaHei"/>
                <a:cs typeface="Microsoft YaHei"/>
              </a:rPr>
              <a:t>六类事件接入与可追溯记忆治理</a:t>
            </a:r>
          </a:p>
        </p:txBody>
      </p:sp>
      <p:sp>
        <p:nvSpPr>
          <p:cNvPr id="11" name="TextBox 10"/>
          <p:cNvSpPr txBox="1"/>
          <p:nvPr/>
        </p:nvSpPr>
        <p:spPr>
          <a:xfrm>
            <a:off x="1536192" y="2395728"/>
            <a:ext cx="9802368" cy="704088"/>
          </a:xfrm>
          <a:prstGeom prst="rect">
            <a:avLst/>
          </a:prstGeom>
          <a:noFill/>
        </p:spPr>
        <p:txBody>
          <a:bodyPr wrap="none" lIns="0" rIns="0" tIns="0" bIns="0" anchor="t">
            <a:noAutofit/>
          </a:bodyPr>
          <a:lstStyle/>
          <a:p>
            <a:pPr algn="l">
              <a:lnSpc>
                <a:spcPts val="1897"/>
              </a:lnSpc>
              <a:spcBef>
                <a:spcPts val="0"/>
              </a:spcBef>
              <a:spcAft>
                <a:spcPts val="0"/>
              </a:spcAft>
            </a:pPr>
            <a:r>
              <a:rPr sz="1650" b="0" lang="zh-CN">
                <a:solidFill>
                  <a:srgbClr val="52666A"/>
                </a:solidFill>
                <a:latin typeface="Microsoft YaHei"/>
                <a:ea typeface="Microsoft YaHei"/>
                <a:cs typeface="Microsoft YaHei"/>
              </a:rPr>
              <a:t>桌面助手需要记住用户长期偏好、业务流程和故障经验，但一次性指令、失败工具输出、旧版本知识和相</a:t>
            </a:r>
          </a:p>
          <a:p>
            <a:pPr algn="l">
              <a:lnSpc>
                <a:spcPts val="1897"/>
              </a:lnSpc>
              <a:spcBef>
                <a:spcPts val="0"/>
              </a:spcBef>
              <a:spcAft>
                <a:spcPts val="0"/>
              </a:spcAft>
            </a:pPr>
            <a:r>
              <a:rPr sz="1650" b="0" lang="zh-CN">
                <a:solidFill>
                  <a:srgbClr val="52666A"/>
                </a:solidFill>
                <a:latin typeface="Microsoft YaHei"/>
                <a:ea typeface="Microsoft YaHei"/>
                <a:cs typeface="Microsoft YaHei"/>
              </a:rPr>
              <a:t>似设备资料可能污染后续决策。本项目研究从多源事件到记忆治理、再到证据检索的完整链路。</a:t>
            </a:r>
          </a:p>
        </p:txBody>
      </p:sp>
      <p:sp>
        <p:nvSpPr>
          <p:cNvPr id="12" name="TextBox 11"/>
          <p:cNvSpPr txBox="1"/>
          <p:nvPr/>
        </p:nvSpPr>
        <p:spPr>
          <a:xfrm>
            <a:off x="713232" y="3200400"/>
            <a:ext cx="649224" cy="393192"/>
          </a:xfrm>
          <a:prstGeom prst="rect">
            <a:avLst/>
          </a:prstGeom>
          <a:noFill/>
        </p:spPr>
        <p:txBody>
          <a:bodyPr wrap="none" lIns="0" rIns="0" tIns="0" bIns="0" anchor="t">
            <a:noAutofit/>
          </a:bodyPr>
          <a:lstStyle/>
          <a:p>
            <a:pPr algn="l">
              <a:lnSpc>
                <a:spcPts val="2874"/>
              </a:lnSpc>
              <a:spcBef>
                <a:spcPts val="0"/>
              </a:spcBef>
              <a:spcAft>
                <a:spcPts val="0"/>
              </a:spcAft>
            </a:pPr>
            <a:r>
              <a:rPr sz="2500" b="1" lang="zh-CN">
                <a:solidFill>
                  <a:srgbClr val="006D77"/>
                </a:solidFill>
                <a:latin typeface="Microsoft YaHei"/>
                <a:ea typeface="Microsoft YaHei"/>
                <a:cs typeface="Microsoft YaHei"/>
              </a:rPr>
              <a:t>02</a:t>
            </a:r>
          </a:p>
        </p:txBody>
      </p:sp>
      <p:sp>
        <p:nvSpPr>
          <p:cNvPr id="13" name="TextBox 12"/>
          <p:cNvSpPr txBox="1"/>
          <p:nvPr/>
        </p:nvSpPr>
        <p:spPr>
          <a:xfrm>
            <a:off x="1517904" y="3200400"/>
            <a:ext cx="9875520" cy="393192"/>
          </a:xfrm>
          <a:prstGeom prst="rect">
            <a:avLst/>
          </a:prstGeom>
          <a:noFill/>
        </p:spPr>
        <p:txBody>
          <a:bodyPr wrap="none" lIns="0" rIns="0" tIns="0" bIns="0" anchor="t">
            <a:noAutofit/>
          </a:bodyPr>
          <a:lstStyle/>
          <a:p>
            <a:pPr algn="l">
              <a:lnSpc>
                <a:spcPts val="2415"/>
              </a:lnSpc>
              <a:spcBef>
                <a:spcPts val="0"/>
              </a:spcBef>
              <a:spcAft>
                <a:spcPts val="0"/>
              </a:spcAft>
            </a:pPr>
            <a:r>
              <a:rPr sz="2100" b="1" lang="zh-CN">
                <a:solidFill>
                  <a:srgbClr val="172629"/>
                </a:solidFill>
                <a:latin typeface="Microsoft YaHei"/>
                <a:ea typeface="Microsoft YaHei"/>
                <a:cs typeface="Microsoft YaHei"/>
              </a:rPr>
              <a:t>复杂召回、拒答和既有指标共同回归</a:t>
            </a:r>
          </a:p>
        </p:txBody>
      </p:sp>
      <p:sp>
        <p:nvSpPr>
          <p:cNvPr id="14" name="TextBox 13"/>
          <p:cNvSpPr txBox="1"/>
          <p:nvPr/>
        </p:nvSpPr>
        <p:spPr>
          <a:xfrm>
            <a:off x="1536192" y="3675887"/>
            <a:ext cx="9802368" cy="704088"/>
          </a:xfrm>
          <a:prstGeom prst="rect">
            <a:avLst/>
          </a:prstGeom>
          <a:noFill/>
        </p:spPr>
        <p:txBody>
          <a:bodyPr wrap="none" lIns="0" rIns="0" tIns="0" bIns="0" anchor="t">
            <a:noAutofit/>
          </a:bodyPr>
          <a:lstStyle/>
          <a:p>
            <a:pPr algn="l">
              <a:lnSpc>
                <a:spcPts val="1897"/>
              </a:lnSpc>
              <a:spcBef>
                <a:spcPts val="0"/>
              </a:spcBef>
              <a:spcAft>
                <a:spcPts val="0"/>
              </a:spcAft>
            </a:pPr>
            <a:r>
              <a:rPr sz="1650" b="0" lang="zh-CN">
                <a:solidFill>
                  <a:srgbClr val="52666A"/>
                </a:solidFill>
                <a:latin typeface="Microsoft YaHei"/>
                <a:ea typeface="Microsoft YaHei"/>
                <a:cs typeface="Microsoft YaHei"/>
              </a:rPr>
              <a:t>当前原型包含六类事件接入、偏好提取与版本、短中长期记忆、知识冲突隔离、混合检索、两阶段遗忘、</a:t>
            </a:r>
          </a:p>
          <a:p>
            <a:pPr algn="l">
              <a:lnSpc>
                <a:spcPts val="1897"/>
              </a:lnSpc>
              <a:spcBef>
                <a:spcPts val="0"/>
              </a:spcBef>
              <a:spcAft>
                <a:spcPts val="0"/>
              </a:spcAft>
            </a:pPr>
            <a:r>
              <a:rPr sz="1650" b="0" lang="zh-CN">
                <a:solidFill>
                  <a:srgbClr val="52666A"/>
                </a:solidFill>
                <a:latin typeface="Microsoft YaHei"/>
                <a:ea typeface="Microsoft YaHei"/>
                <a:cs typeface="Microsoft YaHei"/>
              </a:rPr>
              <a:t>SQLite 持久化和本地 HTTP 界面。另提供官方 Markdown 记忆工具及跨会话行动评测框架。</a:t>
            </a:r>
          </a:p>
        </p:txBody>
      </p:sp>
      <p:sp>
        <p:nvSpPr>
          <p:cNvPr id="15" name="TextBox 14"/>
          <p:cNvSpPr txBox="1"/>
          <p:nvPr/>
        </p:nvSpPr>
        <p:spPr>
          <a:xfrm>
            <a:off x="713232" y="4480560"/>
            <a:ext cx="649224" cy="393192"/>
          </a:xfrm>
          <a:prstGeom prst="rect">
            <a:avLst/>
          </a:prstGeom>
          <a:noFill/>
        </p:spPr>
        <p:txBody>
          <a:bodyPr wrap="none" lIns="0" rIns="0" tIns="0" bIns="0" anchor="t">
            <a:noAutofit/>
          </a:bodyPr>
          <a:lstStyle/>
          <a:p>
            <a:pPr algn="l">
              <a:lnSpc>
                <a:spcPts val="2874"/>
              </a:lnSpc>
              <a:spcBef>
                <a:spcPts val="0"/>
              </a:spcBef>
              <a:spcAft>
                <a:spcPts val="0"/>
              </a:spcAft>
            </a:pPr>
            <a:r>
              <a:rPr sz="2500" b="1" lang="zh-CN">
                <a:solidFill>
                  <a:srgbClr val="006D77"/>
                </a:solidFill>
                <a:latin typeface="Microsoft YaHei"/>
                <a:ea typeface="Microsoft YaHei"/>
                <a:cs typeface="Microsoft YaHei"/>
              </a:rPr>
              <a:t>03</a:t>
            </a:r>
          </a:p>
        </p:txBody>
      </p:sp>
      <p:sp>
        <p:nvSpPr>
          <p:cNvPr id="16" name="TextBox 15"/>
          <p:cNvSpPr txBox="1"/>
          <p:nvPr/>
        </p:nvSpPr>
        <p:spPr>
          <a:xfrm>
            <a:off x="1517904" y="4480560"/>
            <a:ext cx="9875520" cy="393192"/>
          </a:xfrm>
          <a:prstGeom prst="rect">
            <a:avLst/>
          </a:prstGeom>
          <a:noFill/>
        </p:spPr>
        <p:txBody>
          <a:bodyPr wrap="none" lIns="0" rIns="0" tIns="0" bIns="0" anchor="t">
            <a:noAutofit/>
          </a:bodyPr>
          <a:lstStyle/>
          <a:p>
            <a:pPr algn="l">
              <a:lnSpc>
                <a:spcPts val="2415"/>
              </a:lnSpc>
              <a:spcBef>
                <a:spcPts val="0"/>
              </a:spcBef>
              <a:spcAft>
                <a:spcPts val="0"/>
              </a:spcAft>
            </a:pPr>
            <a:r>
              <a:rPr sz="2100" b="1" lang="zh-CN">
                <a:solidFill>
                  <a:srgbClr val="172629"/>
                </a:solidFill>
                <a:latin typeface="Microsoft YaHei"/>
                <a:ea typeface="Microsoft YaHei"/>
                <a:cs typeface="Microsoft YaHei"/>
              </a:rPr>
              <a:t>本地回归通过，正式验收证据分开管理</a:t>
            </a:r>
          </a:p>
        </p:txBody>
      </p:sp>
      <p:sp>
        <p:nvSpPr>
          <p:cNvPr id="17" name="TextBox 16"/>
          <p:cNvSpPr txBox="1"/>
          <p:nvPr/>
        </p:nvSpPr>
        <p:spPr>
          <a:xfrm>
            <a:off x="1536192" y="4956048"/>
            <a:ext cx="9802368" cy="704088"/>
          </a:xfrm>
          <a:prstGeom prst="rect">
            <a:avLst/>
          </a:prstGeom>
          <a:noFill/>
        </p:spPr>
        <p:txBody>
          <a:bodyPr wrap="none" lIns="0" rIns="0" tIns="0" bIns="0" anchor="t">
            <a:noAutofit/>
          </a:bodyPr>
          <a:lstStyle/>
          <a:p>
            <a:pPr algn="l">
              <a:lnSpc>
                <a:spcPts val="1897"/>
              </a:lnSpc>
              <a:spcBef>
                <a:spcPts val="0"/>
              </a:spcBef>
              <a:spcAft>
                <a:spcPts val="0"/>
              </a:spcAft>
            </a:pPr>
            <a:r>
              <a:rPr sz="1650" b="0" lang="zh-CN">
                <a:solidFill>
                  <a:srgbClr val="52666A"/>
                </a:solidFill>
                <a:latin typeface="Microsoft YaHei"/>
                <a:ea typeface="Microsoft YaHei"/>
                <a:cs typeface="Microsoft YaHei"/>
              </a:rPr>
              <a:t>当前 Windows 公开合成回归运行 392 项测试，无失败、1 项平台跳过；冻结五项及附加安全门槛通过。</a:t>
            </a:r>
          </a:p>
          <a:p>
            <a:pPr algn="l">
              <a:lnSpc>
                <a:spcPts val="1897"/>
              </a:lnSpc>
              <a:spcBef>
                <a:spcPts val="0"/>
              </a:spcBef>
              <a:spcAft>
                <a:spcPts val="0"/>
              </a:spcAft>
            </a:pPr>
            <a:r>
              <a:rPr sz="1650" b="0" lang="zh-CN">
                <a:solidFill>
                  <a:srgbClr val="52666A"/>
                </a:solidFill>
                <a:latin typeface="Microsoft YaHei"/>
                <a:ea typeface="Microsoft YaHei"/>
                <a:cs typeface="Microsoft YaHei"/>
              </a:rPr>
              <a:t>复杂场景的完整召回和拒答已在原分母内修复。</a:t>
            </a:r>
          </a:p>
        </p:txBody>
      </p:sp>
      <p:sp>
        <p:nvSpPr>
          <p:cNvPr id="18" name="TextBox 17"/>
          <p:cNvSpPr txBox="1"/>
          <p:nvPr/>
        </p:nvSpPr>
        <p:spPr>
          <a:xfrm>
            <a:off x="740664" y="6080760"/>
            <a:ext cx="10735056" cy="310896"/>
          </a:xfrm>
          <a:prstGeom prst="rect">
            <a:avLst/>
          </a:prstGeom>
          <a:noFill/>
        </p:spPr>
        <p:txBody>
          <a:bodyPr wrap="none" lIns="0" rIns="0" tIns="0" bIns="0" anchor="t">
            <a:noAutofit/>
          </a:bodyPr>
          <a:lstStyle/>
          <a:p>
            <a:pPr algn="l">
              <a:lnSpc>
                <a:spcPts val="1667"/>
              </a:lnSpc>
              <a:spcBef>
                <a:spcPts val="0"/>
              </a:spcBef>
              <a:spcAft>
                <a:spcPts val="0"/>
              </a:spcAft>
            </a:pPr>
            <a:r>
              <a:rPr sz="1450" b="0" lang="zh-CN">
                <a:solidFill>
                  <a:srgbClr val="9D4B28"/>
                </a:solidFill>
                <a:latin typeface="Microsoft YaHei"/>
                <a:ea typeface="Microsoft YaHei"/>
                <a:cs typeface="Microsoft YaHei"/>
              </a:rPr>
              <a:t>证据边界：公开合成Windows回归；真实SDK、V11与独立Agent/Judge另验。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第1章  项目综述与规则</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  提交规则与章节对应</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以《2026挑战杯揭榜挂帅麒麟赛题作品提交规则及方式》为本次材料编制依据。</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依据：官方提交规则，第1–3页</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04 / 53</a:t>
            </a:r>
          </a:p>
        </p:txBody>
      </p:sp>
      <p:graphicFrame>
        <p:nvGraphicFramePr>
          <p:cNvPr id="9" name="editable_table:1.2"/>
          <p:cNvGraphicFramePr>
            <a:graphicFrameLocks noGrp="1"/>
          </p:cNvGraphicFramePr>
          <p:nvPr/>
        </p:nvGraphicFramePr>
        <p:xfrm>
          <a:off x="612648" y="1847088"/>
          <a:ext cx="10972799" cy="2918964"/>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规则要求</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技术方案位置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证据/说明</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总体架构、记忆流转</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第2、5章</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模块边界、状态与数据流框图</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多源、偏好版本、知识检</a:t>
                      </a:r>
                    </a:p>
                    <a:p>
                      <a:pPr>
                        <a:lnSpc>
                          <a:spcPts val="1954"/>
                        </a:lnSpc>
                        <a:spcBef>
                          <a:spcPts val="0"/>
                        </a:spcBef>
                        <a:spcAft>
                          <a:spcPts val="0"/>
                        </a:spcAft>
                      </a:pPr>
                      <a:r>
                        <a:rPr sz="1700" b="0" lang="zh-CN">
                          <a:solidFill>
                            <a:srgbClr val="172629"/>
                          </a:solidFill>
                          <a:latin typeface="Microsoft YaHei"/>
                          <a:ea typeface="Microsoft YaHei"/>
                          <a:cs typeface="Microsoft YaHei"/>
                        </a:rPr>
                        <a:t>索</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第3、4、6、7章</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算法、接口与实现约束</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端侧部署、敏感过滤</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第8–10、15章</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部署与安全，SDK 风险单列</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准确率、召回率与场景案</a:t>
                      </a:r>
                    </a:p>
                    <a:p>
                      <a:pPr>
                        <a:lnSpc>
                          <a:spcPts val="1954"/>
                        </a:lnSpc>
                        <a:spcBef>
                          <a:spcPts val="0"/>
                        </a:spcBef>
                        <a:spcAft>
                          <a:spcPts val="0"/>
                        </a:spcAft>
                      </a:pPr>
                      <a:r>
                        <a:rPr sz="1700" b="0" lang="zh-CN">
                          <a:solidFill>
                            <a:srgbClr val="172629"/>
                          </a:solidFill>
                          <a:latin typeface="Microsoft YaHei"/>
                          <a:ea typeface="Microsoft YaHei"/>
                          <a:cs typeface="Microsoft YaHei"/>
                        </a:rPr>
                        <a:t>例</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第12–14章</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冻结回归、复杂干扰、案例追踪</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用户手册与效果验证报告</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第12–18章</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数据、对照、复现、操作和排障</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架构与实现：第2–10章</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效果验证与真实场景边界：第12–14章</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安装、操作、API 与验收：第15–18章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第1章  项目综述与规则</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  使用场景与实用价值</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价值定位是减少重复配置、保留正确版本、降低误用记忆风险，而不是让记忆直接替代执行授权。</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依据：src/os_agent_memory/demo.py；data/eval/complex_*</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05 / 53</a:t>
            </a:r>
          </a:p>
        </p:txBody>
      </p:sp>
      <p:graphicFrame>
        <p:nvGraphicFramePr>
          <p:cNvPr id="9" name="editable_table:1.3"/>
          <p:cNvGraphicFramePr>
            <a:graphicFrameLocks noGrp="1"/>
          </p:cNvGraphicFramePr>
          <p:nvPr/>
        </p:nvGraphicFramePr>
        <p:xfrm>
          <a:off x="612648" y="1847088"/>
          <a:ext cx="10972799" cy="2018660"/>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场景</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记忆对象</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主要风险</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办公输出</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语言、格式、步骤偏好</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临时要求覆盖长期设置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终端升级</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设备、版本、前置条件、回滚证据</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邻机/旧版资料误用</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故障处置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日志链、状态、恢复顺序</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失败经验当成成功经验</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安全与隐私</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确认规则、脱敏要求、遗忘回执</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越域、敏感原值和残留索引</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偏好跨会话连续，变更可解释</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流程、条件与证据共同检索</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遗忘可确认，风险执行仍需授权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第2章  总体方案</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2.1  总体架构与职责分层</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统一应用边界负责作用域和事务，算法层负责记忆治理，存储与模型通过明确接口组合。</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依据：src/os_agent_memory/{service,memory_store,persistence,provider_config}.py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06 / 53</a:t>
            </a:r>
          </a:p>
        </p:txBody>
      </p:sp>
      <p:cxnSp>
        <p:nvCxnSpPr>
          <p:cNvPr id="9" name="Connector 8"/>
          <p:cNvCxnSpPr/>
          <p:nvPr/>
        </p:nvCxnSpPr>
        <p:spPr>
          <a:xfrm>
            <a:off x="6096304" y="2519438"/>
            <a:ext cx="0" cy="190272"/>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6304" y="3453498"/>
            <a:ext cx="0" cy="190271"/>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6304" y="4387557"/>
            <a:ext cx="0" cy="190272"/>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2" name="diagram:architecture:node:1"/>
          <p:cNvSpPr/>
          <p:nvPr/>
        </p:nvSpPr>
        <p:spPr>
          <a:xfrm>
            <a:off x="1080058" y="1775650"/>
            <a:ext cx="10032492" cy="743788"/>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0330" y="1948624"/>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入口层</a:t>
            </a:r>
          </a:p>
        </p:txBody>
      </p:sp>
      <p:sp>
        <p:nvSpPr>
          <p:cNvPr id="14" name="TextBox 13"/>
          <p:cNvSpPr txBox="1"/>
          <p:nvPr/>
        </p:nvSpPr>
        <p:spPr>
          <a:xfrm>
            <a:off x="3112503" y="1957273"/>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CLI / 本地 HTTP / 逐请求评测器</a:t>
            </a:r>
          </a:p>
        </p:txBody>
      </p:sp>
      <p:sp>
        <p:nvSpPr>
          <p:cNvPr id="15" name="diagram:architecture:node:2"/>
          <p:cNvSpPr/>
          <p:nvPr/>
        </p:nvSpPr>
        <p:spPr>
          <a:xfrm>
            <a:off x="1080058" y="2709710"/>
            <a:ext cx="10032492" cy="743788"/>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70330" y="2882684"/>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服务层</a:t>
            </a:r>
          </a:p>
        </p:txBody>
      </p:sp>
      <p:sp>
        <p:nvSpPr>
          <p:cNvPr id="17" name="TextBox 16"/>
          <p:cNvSpPr txBox="1"/>
          <p:nvPr/>
        </p:nvSpPr>
        <p:spPr>
          <a:xfrm>
            <a:off x="3112503" y="2891332"/>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MemoryService：作用域、服务锁、读写事务</a:t>
            </a:r>
          </a:p>
        </p:txBody>
      </p:sp>
      <p:sp>
        <p:nvSpPr>
          <p:cNvPr id="18" name="diagram:architecture:node:3"/>
          <p:cNvSpPr/>
          <p:nvPr/>
        </p:nvSpPr>
        <p:spPr>
          <a:xfrm>
            <a:off x="1080058" y="3643769"/>
            <a:ext cx="10032492" cy="743788"/>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70330" y="3816743"/>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机制层</a:t>
            </a:r>
          </a:p>
        </p:txBody>
      </p:sp>
      <p:sp>
        <p:nvSpPr>
          <p:cNvPr id="20" name="TextBox 19"/>
          <p:cNvSpPr txBox="1"/>
          <p:nvPr/>
        </p:nvSpPr>
        <p:spPr>
          <a:xfrm>
            <a:off x="3112503" y="3825392"/>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接入 / 偏好 / 生命周期 / 冲突 / 检索 / 遗忘</a:t>
            </a:r>
          </a:p>
        </p:txBody>
      </p:sp>
      <p:sp>
        <p:nvSpPr>
          <p:cNvPr id="21" name="diagram:architecture:node:4"/>
          <p:cNvSpPr/>
          <p:nvPr/>
        </p:nvSpPr>
        <p:spPr>
          <a:xfrm>
            <a:off x="1080058" y="4577829"/>
            <a:ext cx="10032492" cy="743788"/>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70330" y="4750803"/>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基础层</a:t>
            </a:r>
          </a:p>
        </p:txBody>
      </p:sp>
      <p:sp>
        <p:nvSpPr>
          <p:cNvPr id="23" name="TextBox 22"/>
          <p:cNvSpPr txBox="1"/>
          <p:nvPr/>
        </p:nvSpPr>
        <p:spPr>
          <a:xfrm>
            <a:off x="3112503" y="4759452"/>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SQLite 与索引缓存；可替换 Embedding provider</a:t>
            </a:r>
          </a:p>
        </p:txBody>
      </p:sp>
      <p:sp>
        <p:nvSpPr>
          <p:cNvPr id="24" name="TextBox 23"/>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箭头表示分层依赖；实际读写均经服务边界，原生模型另行验收。</a:t>
            </a:r>
          </a:p>
        </p:txBody>
      </p:sp>
      <p:sp>
        <p:nvSpPr>
          <p:cNvPr id="25" name="Rectangle 24"/>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入口一致：CLI / HTTP / 评测均调用</a:t>
            </a:r>
          </a:p>
          <a:p>
            <a:pPr algn="l">
              <a:lnSpc>
                <a:spcPts val="1798"/>
              </a:lnSpc>
              <a:spcBef>
                <a:spcPts val="0"/>
              </a:spcBef>
              <a:spcAft>
                <a:spcPts val="0"/>
              </a:spcAft>
            </a:pPr>
            <a:r>
              <a:rPr sz="1550" b="0" lang="zh-CN">
                <a:solidFill>
                  <a:srgbClr val="172629"/>
                </a:solidFill>
                <a:latin typeface="Microsoft YaHei"/>
                <a:ea typeface="Microsoft YaHei"/>
                <a:cs typeface="Microsoft YaHei"/>
              </a:rPr>
              <a:t>MemoryService</a:t>
            </a:r>
          </a:p>
        </p:txBody>
      </p:sp>
      <p:sp>
        <p:nvSpPr>
          <p:cNvPr id="27" name="Rectangle 26"/>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治理一致：版本、作用域、冲突、遗忘</a:t>
            </a:r>
          </a:p>
          <a:p>
            <a:pPr algn="l">
              <a:lnSpc>
                <a:spcPts val="1798"/>
              </a:lnSpc>
              <a:spcBef>
                <a:spcPts val="0"/>
              </a:spcBef>
              <a:spcAft>
                <a:spcPts val="0"/>
              </a:spcAft>
            </a:pPr>
            <a:r>
              <a:rPr sz="1550" b="0" lang="zh-CN">
                <a:solidFill>
                  <a:srgbClr val="172629"/>
                </a:solidFill>
                <a:latin typeface="Microsoft YaHei"/>
                <a:ea typeface="Microsoft YaHei"/>
                <a:cs typeface="Microsoft YaHei"/>
              </a:rPr>
              <a:t>贯穿检索</a:t>
            </a:r>
          </a:p>
        </p:txBody>
      </p:sp>
      <p:sp>
        <p:nvSpPr>
          <p:cNvPr id="29" name="Rectangle 28"/>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provider 可替换，测量结论不可直接迁</a:t>
            </a:r>
          </a:p>
          <a:p>
            <a:pPr algn="l">
              <a:lnSpc>
                <a:spcPts val="1798"/>
              </a:lnSpc>
              <a:spcBef>
                <a:spcPts val="0"/>
              </a:spcBef>
              <a:spcAft>
                <a:spcPts val="0"/>
              </a:spcAft>
            </a:pPr>
            <a:r>
              <a:rPr sz="1550" b="0" lang="zh-CN">
                <a:solidFill>
                  <a:srgbClr val="172629"/>
                </a:solidFill>
                <a:latin typeface="Microsoft YaHei"/>
                <a:ea typeface="Microsoft YaHei"/>
                <a:cs typeface="Microsoft YaHei"/>
              </a:rPr>
              <a:t>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第2章  总体方案</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2.2  研究服务与官方工具的边界</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SQLite 研究路线和官方 Markdown 工具路线并行存在；当前没有自动双写、同步或导出桥接。</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依据：src/os_agent_memory/{service,lifecycle,file_memory,memory_tools}.py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07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3" name="diagram:two_routes:node:1"/>
          <p:cNvSpPr/>
          <p:nvPr/>
        </p:nvSpPr>
        <p:spPr>
          <a:xfrm>
            <a:off x="1080058"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研究事件入口</a:t>
            </a:r>
          </a:p>
        </p:txBody>
      </p:sp>
      <p:sp>
        <p:nvSpPr>
          <p:cNvPr id="15" name="TextBox 14"/>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A1</a:t>
            </a:r>
          </a:p>
        </p:txBody>
      </p:sp>
      <p:sp>
        <p:nvSpPr>
          <p:cNvPr id="16" name="TextBox 15"/>
          <p:cNvSpPr txBox="1"/>
          <p:nvPr/>
        </p:nvSpPr>
        <p:spPr>
          <a:xfrm>
            <a:off x="1235735" y="2519438"/>
            <a:ext cx="2681096" cy="674598"/>
          </a:xfrm>
          <a:prstGeom prst="rect">
            <a:avLst/>
          </a:prstGeom>
          <a:noFill/>
        </p:spPr>
        <p:txBody>
          <a:bodyPr wrap="none" lIns="0" rIns="0" tIns="0" bIns="0" anchor="t">
            <a:noAutofit/>
          </a:bodyPr>
          <a:lstStyle/>
          <a:p>
            <a:pPr algn="ctr">
              <a:lnSpc>
                <a:spcPts val="2288"/>
              </a:lnSpc>
              <a:spcBef>
                <a:spcPts val="0"/>
              </a:spcBef>
              <a:spcAft>
                <a:spcPts val="0"/>
              </a:spcAft>
            </a:pPr>
            <a:r>
              <a:rPr sz="1906" b="0" lang="zh-CN">
                <a:solidFill>
                  <a:srgbClr val="172629"/>
                </a:solidFill>
                <a:latin typeface="Microsoft YaHei"/>
                <a:ea typeface="Microsoft YaHei"/>
                <a:cs typeface="Microsoft YaHei"/>
              </a:rPr>
              <a:t>JSONL / Python / HTTP</a:t>
            </a:r>
          </a:p>
          <a:p>
            <a:pPr algn="ctr">
              <a:lnSpc>
                <a:spcPts val="2288"/>
              </a:lnSpc>
              <a:spcBef>
                <a:spcPts val="0"/>
              </a:spcBef>
              <a:spcAft>
                <a:spcPts val="0"/>
              </a:spcAft>
            </a:pPr>
            <a:r>
              <a:rPr sz="1906" b="0" lang="zh-CN">
                <a:solidFill>
                  <a:srgbClr val="172629"/>
                </a:solidFill>
                <a:latin typeface="Microsoft YaHei"/>
                <a:ea typeface="Microsoft YaHei"/>
                <a:cs typeface="Microsoft YaHei"/>
              </a:rPr>
              <a:t>来源与风险字段</a:t>
            </a:r>
          </a:p>
        </p:txBody>
      </p:sp>
      <p:sp>
        <p:nvSpPr>
          <p:cNvPr id="17" name="diagram:two_routes: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MemoryService</a:t>
            </a:r>
          </a:p>
        </p:txBody>
      </p:sp>
      <p:sp>
        <p:nvSpPr>
          <p:cNvPr id="19" name="TextBox 18"/>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A2</a:t>
            </a:r>
          </a:p>
        </p:txBody>
      </p:sp>
      <p:sp>
        <p:nvSpPr>
          <p:cNvPr id="20" name="TextBox 19"/>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证据晋升 + 版本治理</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混合检索与证据v2</a:t>
            </a:r>
          </a:p>
        </p:txBody>
      </p:sp>
      <p:sp>
        <p:nvSpPr>
          <p:cNvPr id="21" name="diagram:two_routes: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SQLite研究状态</a:t>
            </a:r>
          </a:p>
        </p:txBody>
      </p:sp>
      <p:sp>
        <p:nvSpPr>
          <p:cNvPr id="23" name="TextBox 22"/>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A3</a:t>
            </a:r>
          </a:p>
        </p:txBody>
      </p:sp>
      <p:sp>
        <p:nvSpPr>
          <p:cNvPr id="24" name="TextBox 23"/>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偏好 / 知识 / 历史</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运行状态与索引</a:t>
            </a:r>
          </a:p>
        </p:txBody>
      </p:sp>
      <p:sp>
        <p:nvSpPr>
          <p:cNvPr id="25" name="diagram:two_routes:node:4"/>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可信运行时</a:t>
            </a:r>
          </a:p>
        </p:txBody>
      </p:sp>
      <p:sp>
        <p:nvSpPr>
          <p:cNvPr id="27" name="TextBox 26"/>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B1</a:t>
            </a:r>
          </a:p>
        </p:txBody>
      </p:sp>
      <p:sp>
        <p:nvSpPr>
          <p:cNvPr id="28" name="TextBox 27"/>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会话、时间、明确同意</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MemoryContext</a:t>
            </a:r>
          </a:p>
        </p:txBody>
      </p:sp>
      <p:sp>
        <p:nvSpPr>
          <p:cNvPr id="29" name="diagram:two_routes:node:5"/>
          <p:cNvSpPr/>
          <p:nvPr/>
        </p:nvSpPr>
        <p:spPr>
          <a:xfrm>
            <a:off x="4600079"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MemoryTools</a:t>
            </a:r>
          </a:p>
        </p:txBody>
      </p:sp>
      <p:sp>
        <p:nvSpPr>
          <p:cNvPr id="31" name="TextBox 30"/>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B2</a:t>
            </a:r>
          </a:p>
        </p:txBody>
      </p:sp>
      <p:sp>
        <p:nvSpPr>
          <p:cNvPr id="32" name="TextBox 31"/>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受限读写与修订检查</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0–5条受限召回</a:t>
            </a:r>
          </a:p>
        </p:txBody>
      </p:sp>
      <p:sp>
        <p:nvSpPr>
          <p:cNvPr id="33" name="diagram:two_routes:node:6"/>
          <p:cNvSpPr/>
          <p:nvPr/>
        </p:nvSpPr>
        <p:spPr>
          <a:xfrm>
            <a:off x="8120100"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Markdown文件</a:t>
            </a:r>
          </a:p>
        </p:txBody>
      </p:sp>
      <p:sp>
        <p:nvSpPr>
          <p:cNvPr id="35" name="TextBox 34"/>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B3</a:t>
            </a:r>
          </a:p>
        </p:txBody>
      </p:sp>
      <p:sp>
        <p:nvSpPr>
          <p:cNvPr id="36" name="TextBox 35"/>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MEMORY.md索引</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四类正文目录</a:t>
            </a:r>
          </a:p>
        </p:txBody>
      </p:sp>
      <p:sp>
        <p:nvSpPr>
          <p:cNvPr id="37" name="TextBox 36"/>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9D4B28"/>
                </a:solidFill>
                <a:latin typeface="Microsoft YaHei"/>
                <a:ea typeface="Microsoft YaHei"/>
                <a:cs typeface="Microsoft YaHei"/>
              </a:rPr>
              <a:t>上下两路无自动导出、双写或同步；需桥接时另立授权与一致性验收。</a:t>
            </a:r>
          </a:p>
        </p:txBody>
      </p:sp>
      <p:sp>
        <p:nvSpPr>
          <p:cNvPr id="38" name="Rectangle 37"/>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SQLite：事件、证据晋升、混合检索</a:t>
            </a:r>
          </a:p>
        </p:txBody>
      </p:sp>
      <p:sp>
        <p:nvSpPr>
          <p:cNvPr id="40" name="Rectangle 39"/>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Markdown：明确同意、受限索引、官</a:t>
            </a:r>
          </a:p>
          <a:p>
            <a:pPr algn="l">
              <a:lnSpc>
                <a:spcPts val="1798"/>
              </a:lnSpc>
              <a:spcBef>
                <a:spcPts val="0"/>
              </a:spcBef>
              <a:spcAft>
                <a:spcPts val="0"/>
              </a:spcAft>
            </a:pPr>
            <a:r>
              <a:rPr sz="1550" b="0" lang="zh-CN">
                <a:solidFill>
                  <a:srgbClr val="172629"/>
                </a:solidFill>
                <a:latin typeface="Microsoft YaHei"/>
                <a:ea typeface="Microsoft YaHei"/>
                <a:cs typeface="Microsoft YaHei"/>
              </a:rPr>
              <a:t>方工具契约</a:t>
            </a:r>
          </a:p>
        </p:txBody>
      </p:sp>
      <p:sp>
        <p:nvSpPr>
          <p:cNvPr id="42" name="Rectangle 41"/>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无自动同步，不能用一条路线证明另一</a:t>
            </a:r>
          </a:p>
          <a:p>
            <a:pPr algn="l">
              <a:lnSpc>
                <a:spcPts val="1798"/>
              </a:lnSpc>
              <a:spcBef>
                <a:spcPts val="0"/>
              </a:spcBef>
              <a:spcAft>
                <a:spcPts val="0"/>
              </a:spcAft>
            </a:pPr>
            <a:r>
              <a:rPr sz="1550" b="0" lang="zh-CN">
                <a:solidFill>
                  <a:srgbClr val="172629"/>
                </a:solidFill>
                <a:latin typeface="Microsoft YaHei"/>
                <a:ea typeface="Microsoft YaHei"/>
                <a:cs typeface="Microsoft YaHei"/>
              </a:rPr>
              <a:t>条已验收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第3章  多源数据整合</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3.1  六类多源事件接入</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统一的是事件契约，不是声称已经接入所有桌面应用或自动采集个人数据。</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依据：src/os_agent_memory/{schemas,ingestion}.py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08 / 53</a:t>
            </a:r>
          </a:p>
        </p:txBody>
      </p:sp>
      <p:graphicFrame>
        <p:nvGraphicFramePr>
          <p:cNvPr id="9" name="editable_table:3.1"/>
          <p:cNvGraphicFramePr>
            <a:graphicFrameLocks noGrp="1"/>
          </p:cNvGraphicFramePr>
          <p:nvPr/>
        </p:nvGraphicFramePr>
        <p:xfrm>
          <a:off x="612648" y="1847088"/>
          <a:ext cx="10972800" cy="2826124"/>
        </p:xfrm>
        <a:graphic>
          <a:graphicData uri="http://schemas.openxmlformats.org/drawingml/2006/table">
            <a:tbl>
              <a:tblPr firstRow="1" bandRow="1">
                <a:tableStyleId>{5C22544A-7EE6-4342-B048-85BDC9FD1C3A}</a:tableStyleId>
              </a:tblPr>
              <a:tblGrid>
                <a:gridCol w="2743200"/>
                <a:gridCol w="4718304"/>
                <a:gridCol w="3511296"/>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source_type</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含义/样例</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默认权威度</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manual_config</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用户明确设置语言、格式</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0.95</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tool_result</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工具运行结果与选择反馈</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成功/未知 0.75；失败/取消 0.15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system_event</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系统通知、状态事件</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0.70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imported_document</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获准导入的流程或模板</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0.65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user_behavior</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交互选择与行为反馈</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0.55</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session_context</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当前会话上下文</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0.45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六类来源统一事件契约</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时间、身份、质量、工具状态保留</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实际应用连接器与生产认证需另验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第3章  多源数据整合</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3.2  规范化、脱敏与跨重启去重</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先建立可比较的事件，再累计证据；重复上报不能人为增加长期晋升的证据量。</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依据：src/os_agent_memory/ingestion.py；service.py:ingest</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09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ingestion: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事件接入</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六类来源</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身份、时间、工具状态</a:t>
            </a:r>
          </a:p>
        </p:txBody>
      </p:sp>
      <p:sp>
        <p:nvSpPr>
          <p:cNvPr id="18" name="diagram:ingestion: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格式规范化</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字段 / 时间 / 文本</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非法记录列入 issues</a:t>
            </a:r>
          </a:p>
        </p:txBody>
      </p:sp>
      <p:sp>
        <p:nvSpPr>
          <p:cNvPr id="22" name="diagram:ingestion: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脱敏与风险</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正文 + metadata</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递归处理、风险标记</a:t>
            </a:r>
          </a:p>
        </p:txBody>
      </p:sp>
      <p:sp>
        <p:nvSpPr>
          <p:cNvPr id="26" name="diagram:ingestion: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两级去重</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事件ID + 内容指纹</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跨请求、跨重启</a:t>
            </a:r>
          </a:p>
        </p:txBody>
      </p:sp>
      <p:sp>
        <p:nvSpPr>
          <p:cNvPr id="30" name="diagram:ingestion: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证据聚合</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质量 / 权威 / 次数</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决定长期晋升</a:t>
            </a:r>
          </a:p>
        </p:txBody>
      </p:sp>
      <p:sp>
        <p:nvSpPr>
          <p:cNvPr id="34" name="diagram:ingestion: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事务与回执</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成功后保存去重状态</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失败恢复业务状态</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记录级拒绝保留原因；系统写入异常触发回滚，不默默丢弃失败。</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正文与 metadata 递归脱敏</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ID + 指纹去重，冲突明确报错</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去重状态持久化，写失败整体回滚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第4章  偏好动态捕捉与版本</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4.1  偏好动态捕捉</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先识别有意图的偏好表达，再结合证据权重；引用、否定和失败行为不直接当成用户偏好。</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依据：src/os_agent_memory/preference.py；tests/test_preference_alignment.py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10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preference: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可用事件</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按租户与用户分组</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跳过风险输入</a:t>
            </a:r>
          </a:p>
        </p:txBody>
      </p:sp>
      <p:sp>
        <p:nvSpPr>
          <p:cNvPr id="18" name="diagram:preference: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意图与语境</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引用 / 否定 / 修正</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选择有效表达</a:t>
            </a:r>
          </a:p>
        </p:txBody>
      </p:sp>
      <p:sp>
        <p:nvSpPr>
          <p:cNvPr id="22" name="diagram:preference: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偏好候选</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语言、格式、安全</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工具选择按场景</a:t>
            </a:r>
          </a:p>
        </p:txBody>
      </p:sp>
      <p:sp>
        <p:nvSpPr>
          <p:cNvPr id="26" name="diagram:preference: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事件加权</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质量 + 来源 + 显式性</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隐式证据时间衰减</a:t>
            </a:r>
          </a:p>
        </p:txBody>
      </p:sp>
      <p:sp>
        <p:nvSpPr>
          <p:cNvPr id="30" name="diagram:preference: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候选值决策</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最新显式配置优先</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否则比较证据权重</a:t>
            </a:r>
          </a:p>
        </p:txBody>
      </p:sp>
      <p:sp>
        <p:nvSpPr>
          <p:cNvPr id="34" name="diagram:preference: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偏好与解释</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当前值、来源、场景</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交给版本管理</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规则覆盖限定的偏好表达；置信分数不表示真实正确概率。</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意图、否定、引用与修正位置共同约束</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最新显式配置优先于弱行为</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证据、场景、版本和分项分数可追踪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第4章  偏好动态捕捉与版本</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4.2  偏好权重与时间衰减</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对隐式行为引入时间权重，对显式配置保留持续性；规则权重不是模型概率。</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依据：src/os_agent_memory/preference.py；scripts/run_ablations.py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11 / 53</a:t>
            </a:r>
          </a:p>
        </p:txBody>
      </p:sp>
      <p:graphicFrame>
        <p:nvGraphicFramePr>
          <p:cNvPr id="9" name="editable_table:4.2"/>
          <p:cNvGraphicFramePr>
            <a:graphicFrameLocks noGrp="1"/>
          </p:cNvGraphicFramePr>
          <p:nvPr/>
        </p:nvGraphicFramePr>
        <p:xfrm>
          <a:off x="612648" y="1847088"/>
          <a:ext cx="10972799" cy="2018660"/>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变量</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作用</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风险控制</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quality / authority</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形式质量与来源权重</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来源权重必须由可信接入方提供</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explicitness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显式配置优先</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与官方明确持久化同意不同</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half_life_days=30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隐式旧证据降权</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可关作消融，不改历史分母</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selection_margin</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候选值权重占比</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同值重复不应由重放产生</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隐式行为：30天半衰期</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显式设置：持续有效，最新修正优先</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置信度是启发式分数，不是概率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第4章  偏好动态捕捉与版本</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4.3  偏好版本化与历史管理</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当前值与历史版本分离管理，避免更新后无法解释来源、误用旧值或丢失修正记录。</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依据：src/os_agent_memory/memory_store.py；tests/test_incremental.py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12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versions: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新偏好证据</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同 tenant / user / key</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保留事件有效时间</a:t>
            </a:r>
          </a:p>
        </p:txBody>
      </p:sp>
      <p:sp>
        <p:nvSpPr>
          <p:cNvPr id="18" name="diagram:versions: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比较当前值</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同值合并证据</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异值进入变更判断</a:t>
            </a:r>
          </a:p>
        </p:txBody>
      </p:sp>
      <p:sp>
        <p:nvSpPr>
          <p:cNvPr id="22" name="diagram:versions: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选择有效值</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显式修正与时间顺序</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不按到达顺序盲覆盖</a:t>
            </a:r>
          </a:p>
        </p:txBody>
      </p:sp>
      <p:sp>
        <p:nvSpPr>
          <p:cNvPr id="26" name="diagram:versions: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记录版本</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新版本 + evidence_ids</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旧版本结束有效期</a:t>
            </a:r>
          </a:p>
        </p:txBody>
      </p:sp>
      <p:sp>
        <p:nvSpPr>
          <p:cNvPr id="30" name="diagram:versions: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持久化</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当前值与历史一起保存</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失败回滚</a:t>
            </a:r>
          </a:p>
        </p:txBody>
      </p:sp>
      <p:sp>
        <p:nvSpPr>
          <p:cNvPr id="34" name="diagram:versions: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业务读取</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active + scene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历史单独查看</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遗忘同时治理当前值与相关历史；重启不能恢复已遗忘内容。</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变更生成版本，旧值结束有效期</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读取只用 active 与适用场景</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历史、遗忘与重启保持一致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第5章  记忆流转与官方工具</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5.1  短期、中期与长期记忆流转</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层级划分服务于生命周期治理，不把临时上下文直接等同于长期事实。</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依据：src/os_agent_memory/lifecycle.py；service.py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13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lifecycle: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规范化事件</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身份 / 来源 / 风险</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重复不增加证据量</a:t>
            </a:r>
          </a:p>
        </p:txBody>
      </p:sp>
      <p:sp>
        <p:nvSpPr>
          <p:cNvPr id="18" name="diagram:lifecycle: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短期缓冲</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会话隔离</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默认 TTL 1800秒</a:t>
            </a:r>
          </a:p>
        </p:txBody>
      </p:sp>
      <p:sp>
        <p:nvSpPr>
          <p:cNvPr id="22" name="diagram:lifecycle: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中期证据簇</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按作用域、场景和主题</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累计质量与多源证据</a:t>
            </a:r>
          </a:p>
        </p:txBody>
      </p:sp>
      <p:sp>
        <p:nvSpPr>
          <p:cNvPr id="26" name="diagram:lifecycle: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晋升检查</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风险 + 分数 + 数量</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不满足保留中期</a:t>
            </a:r>
          </a:p>
        </p:txBody>
      </p:sp>
      <p:sp>
        <p:nvSpPr>
          <p:cNvPr id="30" name="diagram:lifecycle: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长期记忆</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偏好版本 / 结构化知识</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状态、时间和来源</a:t>
            </a:r>
          </a:p>
        </p:txBody>
      </p:sp>
      <p:sp>
        <p:nvSpPr>
          <p:cNvPr id="34" name="diagram:lifecycle: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持续治理</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查询 / 冲突 / 过期</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降级 / 确认遗忘</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层间晋升为研究服务规则；官方文件路线另需明确同意。</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短期：会话隔离与 TTL</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中期：同主题证据累计</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长期：晋升门槛与状态治理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第5章  记忆流转与官方工具</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5.2  晋升门槛与状态转换</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高分只是必要条件之一；风险标记、证据数量和权威度共同决定是否晋升。</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依据：src/os_agent_memory/lifecycle.py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14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promotion: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聚合证据簇</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平均质量与权威度</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计数与来源多样性</a:t>
            </a:r>
          </a:p>
        </p:txBody>
      </p:sp>
      <p:sp>
        <p:nvSpPr>
          <p:cNvPr id="18" name="diagram:promotion: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风险检查</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风险标记必须为空</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有风险则拒绝</a:t>
            </a:r>
          </a:p>
        </p:txBody>
      </p:sp>
      <p:sp>
        <p:nvSpPr>
          <p:cNvPr id="22" name="diagram:promotion: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分数门槛</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promotion_score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至少 0.65</a:t>
            </a:r>
          </a:p>
        </p:txBody>
      </p:sp>
      <p:sp>
        <p:nvSpPr>
          <p:cNvPr id="26" name="diagram:promotion: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证据门槛</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至少2条证据</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或平均权威度≥0.9</a:t>
            </a:r>
          </a:p>
        </p:txBody>
      </p:sp>
      <p:sp>
        <p:nvSpPr>
          <p:cNvPr id="30" name="diagram:promotion: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长期提取</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偏好 / 知识</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更新存储与版本</a:t>
            </a:r>
          </a:p>
        </p:txBody>
      </p:sp>
      <p:sp>
        <p:nvSpPr>
          <p:cNvPr id="34" name="diagram:promotion: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决策记录</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accepted + reasons</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得分与层级转换</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图示为满足条件的路径；任一硬条件失败不晋升，原因仍保留。</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阈值 0.65 + 无风险</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至少2条证据，或权威度至少0.9</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决策有原因；自动后台调度不在当前范</a:t>
            </a:r>
          </a:p>
          <a:p>
            <a:pPr algn="l">
              <a:lnSpc>
                <a:spcPts val="1798"/>
              </a:lnSpc>
              <a:spcBef>
                <a:spcPts val="0"/>
              </a:spcBef>
              <a:spcAft>
                <a:spcPts val="0"/>
              </a:spcAft>
            </a:pPr>
            <a:r>
              <a:rPr sz="1550" b="0" lang="zh-CN">
                <a:solidFill>
                  <a:srgbClr val="172629"/>
                </a:solidFill>
                <a:latin typeface="Microsoft YaHei"/>
                <a:ea typeface="Microsoft YaHei"/>
                <a:cs typeface="Microsoft YaHei"/>
              </a:rPr>
              <a:t>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第5章  记忆流转与官方工具</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5.3  官方 Markdown 记忆工具方案</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用受限索引和正文实现可审计文件记忆，写入权限来自可信运行时。</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依据：官方 Kylinbot记忆方案；src/os_agent_memory/{file_memory,memory_tools}.py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15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file_memory: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可信运行时</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083"/>
              </a:lnSpc>
              <a:spcBef>
                <a:spcPts val="0"/>
              </a:spcBef>
              <a:spcAft>
                <a:spcPts val="0"/>
              </a:spcAft>
            </a:pPr>
            <a:r>
              <a:rPr sz="1736" b="0" lang="zh-CN">
                <a:solidFill>
                  <a:srgbClr val="172629"/>
                </a:solidFill>
                <a:latin typeface="Microsoft YaHei"/>
                <a:ea typeface="Microsoft YaHei"/>
                <a:cs typeface="Microsoft YaHei"/>
              </a:rPr>
              <a:t>注入 session / time</a:t>
            </a:r>
          </a:p>
          <a:p>
            <a:pPr algn="ctr">
              <a:lnSpc>
                <a:spcPts val="2083"/>
              </a:lnSpc>
              <a:spcBef>
                <a:spcPts val="0"/>
              </a:spcBef>
              <a:spcAft>
                <a:spcPts val="0"/>
              </a:spcAft>
            </a:pPr>
            <a:r>
              <a:rPr sz="1736" b="0" lang="zh-CN">
                <a:solidFill>
                  <a:srgbClr val="172629"/>
                </a:solidFill>
                <a:latin typeface="Microsoft YaHei"/>
                <a:ea typeface="Microsoft YaHei"/>
                <a:cs typeface="Microsoft YaHei"/>
              </a:rPr>
              <a:t>明确同意 MemoryContext</a:t>
            </a:r>
          </a:p>
        </p:txBody>
      </p:sp>
      <p:sp>
        <p:nvSpPr>
          <p:cNvPr id="18" name="diagram:file_memory: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工具校验</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路径 / 类型 / 内容</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expected_revision</a:t>
            </a:r>
          </a:p>
        </p:txBody>
      </p:sp>
      <p:sp>
        <p:nvSpPr>
          <p:cNvPr id="22" name="diagram:file_memory: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正文落盘</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四类正文目录</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单条≤4KiB / 200行</a:t>
            </a:r>
          </a:p>
        </p:txBody>
      </p:sp>
      <p:sp>
        <p:nvSpPr>
          <p:cNvPr id="26" name="diagram:file_memory: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更新索引</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MEMORY.md</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≤25KiB / 200行</a:t>
            </a:r>
          </a:p>
        </p:txBody>
      </p:sp>
      <p:sp>
        <p:nvSpPr>
          <p:cNvPr id="30" name="diagram:file_memory: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受限选择</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memory_recall(query)</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选择器失败返回空</a:t>
            </a:r>
          </a:p>
        </p:txBody>
      </p:sp>
      <p:sp>
        <p:nvSpPr>
          <p:cNvPr id="34" name="diagram:file_memory: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有限结果</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0–5条 + Recall统计</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内容始终不可信</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删除按索引→正文执行；文件工具不与SQLite自动同步。</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MEMORY.md 索引 + 四类正文</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明确同意、修订检查、受限文件大小</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0–5条召回；选择器失败返回空集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第6章  知识结构化与冲突</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6.1  知识结构化与来源保留</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以可复用流程、模板、规则和故障经验作为知识对象，保留正文和来源而非只保存向量。</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依据：src/os_agent_memory/knowledge.py；schemas.py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16 / 53</a:t>
            </a:r>
          </a:p>
        </p:txBody>
      </p:sp>
      <p:graphicFrame>
        <p:nvGraphicFramePr>
          <p:cNvPr id="9" name="editable_table:6.1"/>
          <p:cNvGraphicFramePr>
            <a:graphicFrameLocks noGrp="1"/>
          </p:cNvGraphicFramePr>
          <p:nvPr/>
        </p:nvGraphicFramePr>
        <p:xfrm>
          <a:off x="612648" y="1847088"/>
          <a:ext cx="10972799" cy="2670678"/>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字段组</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内容</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检索用途</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title / content</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可读原始知识与标题</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词法、字符、向量及支持检查</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tags / knowledge_type</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工程分类标签</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组织与解释，不充当答案证据</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source_ids / version</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来源链与变更序号</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审计、冲突解释</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valid_from / valid_to /</a:t>
                      </a:r>
                    </a:p>
                    <a:p>
                      <a:pPr>
                        <a:lnSpc>
                          <a:spcPts val="1954"/>
                        </a:lnSpc>
                        <a:spcBef>
                          <a:spcPts val="0"/>
                        </a:spcBef>
                        <a:spcAft>
                          <a:spcPts val="0"/>
                        </a:spcAft>
                      </a:pPr>
                      <a:r>
                        <a:rPr sz="1700" b="0" lang="zh-CN">
                          <a:solidFill>
                            <a:srgbClr val="172629"/>
                          </a:solidFill>
                          <a:latin typeface="Microsoft YaHei"/>
                          <a:ea typeface="Microsoft YaHei"/>
                          <a:cs typeface="Microsoft YaHei"/>
                        </a:rPr>
                        <a:t>status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当前可用状态</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排除未来、过期、待决和遗忘</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tenant / user / scene</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所属域与适用范围</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候选形成前做可见性约束</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正文、来源、版本与状态一起保存</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标签不是答案证据</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同主题补全依赖已有章节，不自动生成</a:t>
            </a:r>
          </a:p>
          <a:p>
            <a:pPr algn="l">
              <a:lnSpc>
                <a:spcPts val="1798"/>
              </a:lnSpc>
              <a:spcBef>
                <a:spcPts val="0"/>
              </a:spcBef>
              <a:spcAft>
                <a:spcPts val="0"/>
              </a:spcAft>
            </a:pPr>
            <a:r>
              <a:rPr sz="1550" b="0" lang="zh-CN">
                <a:solidFill>
                  <a:srgbClr val="172629"/>
                </a:solidFill>
                <a:latin typeface="Microsoft YaHei"/>
                <a:ea typeface="Microsoft YaHei"/>
                <a:cs typeface="Microsoft YaHei"/>
              </a:rPr>
              <a:t>知识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第6章  知识结构化与冲突</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6.2  知识冲突治理</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发现冲突先隔离，再明确处理策略，防止矛盾知识同时进入普通回答。</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依据：src/os_agent_memory/memory_store.py；service.py:resolve_conflict</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17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conflicts: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新知识</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带正文、来源、版本</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作用域与有效时间</a:t>
            </a:r>
          </a:p>
        </p:txBody>
      </p:sp>
      <p:sp>
        <p:nvSpPr>
          <p:cNvPr id="18" name="diagram:conflicts: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同域冲突检查</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主题 / 内容 / 条件</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相似对象不盲合并</a:t>
            </a:r>
          </a:p>
        </p:txBody>
      </p:sp>
      <p:sp>
        <p:nvSpPr>
          <p:cNvPr id="22" name="diagram:conflicts: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待决隔离</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conflict_pending</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普通检索不可见</a:t>
            </a:r>
          </a:p>
        </p:txBody>
      </p:sp>
      <p:sp>
        <p:nvSpPr>
          <p:cNvPr id="26" name="diagram:conflicts: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策略选择</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auto / 新旧选择</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共存 / 合并 / 人工</a:t>
            </a:r>
          </a:p>
        </p:txBody>
      </p:sp>
      <p:sp>
        <p:nvSpPr>
          <p:cNvPr id="30" name="diagram:conflicts: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原子更新</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状态、关系与索引</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SQLite失败回滚</a:t>
            </a:r>
          </a:p>
        </p:txBody>
      </p:sp>
      <p:sp>
        <p:nvSpPr>
          <p:cNvPr id="34" name="diagram:conflicts: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结果核查</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终态 + 普通检索</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保留决策记录</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诊断可显式查看待决项；include_pending不能用于业务回答。</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同域比较，矛盾先进入待决隔离</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六类显式策略，可保留人工复核</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普通检索默认不返回 conflict_pending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第7章  检索算法与证据策略</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7.1  候选召回与混合评分</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先用倒排候选降低工作量，再统一精排；文档向量缓存与查询向量复用减少重复编码。</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依据：src/os_agent_memory/{memory_store,embeddings}.py；config/embedding.hash.json</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18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retrieval: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查询与身份</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tenant / user / scene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top_k / 阈值</a:t>
            </a:r>
          </a:p>
        </p:txBody>
      </p:sp>
      <p:sp>
        <p:nvSpPr>
          <p:cNvPr id="18" name="diagram:retrieval: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可见性过滤</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状态、时间与作用域</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显式条件先过滤</a:t>
            </a:r>
          </a:p>
        </p:txBody>
      </p:sp>
      <p:sp>
        <p:nvSpPr>
          <p:cNvPr id="22" name="diagram:retrieval: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查询编码</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单次查询向量</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片段评分复用</a:t>
            </a:r>
          </a:p>
        </p:txBody>
      </p:sp>
      <p:sp>
        <p:nvSpPr>
          <p:cNvPr id="26" name="diagram:retrieval: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并集候选</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词法 + 汉字 + 向量</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缓存文档向量</a:t>
            </a:r>
          </a:p>
        </p:txBody>
      </p:sp>
      <p:sp>
        <p:nvSpPr>
          <p:cNvPr id="30" name="diagram:retrieval: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混合精排</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分项权重 + authority</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种子阈值0.265</a:t>
            </a:r>
          </a:p>
        </p:txBody>
      </p:sp>
      <p:sp>
        <p:nvSpPr>
          <p:cNvPr id="34" name="diagram:retrieval: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证据策略</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v2 聚焦 / 补全 / 检查</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返回正文与解释</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无可见候选无需调用模型；词法模式不需要查询向量。</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授权过滤后形成词法、字符与向量候选</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文档向量缓存，查询向量复用</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评测 top_k=3、阈值0.265，SDK需重</a:t>
            </a:r>
          </a:p>
          <a:p>
            <a:pPr algn="l">
              <a:lnSpc>
                <a:spcPts val="1798"/>
              </a:lnSpc>
              <a:spcBef>
                <a:spcPts val="0"/>
              </a:spcBef>
              <a:spcAft>
                <a:spcPts val="0"/>
              </a:spcAft>
            </a:pPr>
            <a:r>
              <a:rPr sz="1550" b="0" lang="zh-CN">
                <a:solidFill>
                  <a:srgbClr val="172629"/>
                </a:solidFill>
                <a:latin typeface="Microsoft YaHei"/>
                <a:ea typeface="Microsoft YaHei"/>
                <a:cs typeface="Microsoft YaHei"/>
              </a:rPr>
              <a:t>校准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第7章  检索算法与证据策略</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7.2  focused_evidence_v2 实现流程</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从“找到相似记录”推进到“围绕当前问题组织实际可见证据”，但不宣称语义蕴含。</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依据：src/os_agent_memory/focused_evidence.py；tests/test_focused_evidence.py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19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focused: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请求分流</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明确问句/指令：聚焦</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关键词：保留原排序</a:t>
            </a:r>
          </a:p>
        </p:txBody>
      </p:sp>
      <p:sp>
        <p:nvSpPr>
          <p:cNvPr id="18" name="diagram:focused: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主体与约束</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显式条件优先</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无歧义设备 / 版本</a:t>
            </a:r>
          </a:p>
        </p:txBody>
      </p:sp>
      <p:sp>
        <p:nvSpPr>
          <p:cNvPr id="22" name="diagram:focused: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主种子</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综合分数≥0.265</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必须授权可见</a:t>
            </a:r>
          </a:p>
        </p:txBody>
      </p:sp>
      <p:sp>
        <p:nvSpPr>
          <p:cNvPr id="26" name="diagram:focused: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互补章节</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同精确主题补全</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最多 top_k 条</a:t>
            </a:r>
          </a:p>
        </p:txBody>
      </p:sp>
      <p:sp>
        <p:nvSpPr>
          <p:cNvPr id="30" name="diagram:focused: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支持检查</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实际标题与正文</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覆盖≥0.5 + 属性片段</a:t>
            </a:r>
          </a:p>
        </p:txBody>
      </p:sp>
      <p:sp>
        <p:nvSpPr>
          <p:cNvPr id="34" name="diagram:focused: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返回或拒答</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正文 + evidence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不支持则返回 []</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仅明确请求经过支持检查；普通关键词为ranked_lookup，coverage=null。</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聚焦所问内容，保留主体和数量语义</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达标种子 + 同精确主题互补章节</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实际返回正文覆盖不足即拒答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第7章  检索算法与证据策略</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7.3  主体、版本与显式约束</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设备编号和版本必须按字面身份区分，近似名称不应靠高相似度穿过条件过滤。</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依据：docs/13；src/os_agent_memory/focused_evidence.py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20 / 53</a:t>
            </a:r>
          </a:p>
        </p:txBody>
      </p:sp>
      <p:graphicFrame>
        <p:nvGraphicFramePr>
          <p:cNvPr id="9" name="editable_table:7.3"/>
          <p:cNvGraphicFramePr>
            <a:graphicFrameLocks noGrp="1"/>
          </p:cNvGraphicFramePr>
          <p:nvPr/>
        </p:nvGraphicFramePr>
        <p:xfrm>
          <a:off x="612648" y="1847088"/>
          <a:ext cx="10972799" cy="2515232"/>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输入/情况</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处理</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含义</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AE-17 vs AE-170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完整词边界区分</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近邻编号不能替代</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v2.4 vs v2.40 /</a:t>
                      </a:r>
                    </a:p>
                    <a:p>
                      <a:pPr>
                        <a:lnSpc>
                          <a:spcPts val="1954"/>
                        </a:lnSpc>
                        <a:spcBef>
                          <a:spcPts val="0"/>
                        </a:spcBef>
                        <a:spcAft>
                          <a:spcPts val="0"/>
                        </a:spcAft>
                      </a:pPr>
                      <a:r>
                        <a:rPr sz="1700" b="0" lang="zh-CN">
                          <a:solidFill>
                            <a:srgbClr val="172629"/>
                          </a:solidFill>
                          <a:latin typeface="Microsoft YaHei"/>
                          <a:ea typeface="Microsoft YaHei"/>
                          <a:cs typeface="Microsoft YaHei"/>
                        </a:rPr>
                        <a:t>unreleased</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版本按字面身份</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不存在版本应空返回</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仅 tags/source_ids 含约</a:t>
                      </a:r>
                    </a:p>
                    <a:p>
                      <a:pPr>
                        <a:lnSpc>
                          <a:spcPts val="1954"/>
                        </a:lnSpc>
                        <a:spcBef>
                          <a:spcPts val="0"/>
                        </a:spcBef>
                        <a:spcAft>
                          <a:spcPts val="0"/>
                        </a:spcAft>
                      </a:pPr>
                      <a:r>
                        <a:rPr sz="1700" b="0" lang="zh-CN">
                          <a:solidFill>
                            <a:srgbClr val="172629"/>
                          </a:solidFill>
                          <a:latin typeface="Microsoft YaHei"/>
                          <a:ea typeface="Microsoft YaHei"/>
                          <a:cs typeface="Microsoft YaHei"/>
                        </a:rPr>
                        <a:t>束</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不作为正文命中</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元数据不能冒充证据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两个目标且无法消歧</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保守空返回</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不任意选择其中一个</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显式约束优先，来自真实请求输入</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无约束时保护无歧义的格式化主体</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过滤不是关系推理或事实真实性判断</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第7章  检索算法与证据策略</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7.4  拒答、安全过滤与支持检查</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空返回有不同原因：无可见知识、条件不满足或正文支持不足，不能把运行异常算成正确拒答。</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依据：src/os_agent_memory/{focused_evidence,complex_retrieval}.py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21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abstention: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合法请求</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字段、类型、模式有效</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非法参数返回400</a:t>
            </a:r>
          </a:p>
        </p:txBody>
      </p:sp>
      <p:sp>
        <p:nvSpPr>
          <p:cNvPr id="18" name="diagram:abstention: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身份与可见性</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不可见候选为零</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则合法空返回</a:t>
            </a:r>
          </a:p>
        </p:txBody>
      </p:sp>
      <p:sp>
        <p:nvSpPr>
          <p:cNvPr id="22" name="diagram:abstention: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主体与条件</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设备/版本完整边界</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歧义目标保守拒答</a:t>
            </a:r>
          </a:p>
        </p:txBody>
      </p:sp>
      <p:sp>
        <p:nvSpPr>
          <p:cNvPr id="26" name="diagram:abstention: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证据候选</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种子达阈值</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真实章节可补全</a:t>
            </a:r>
          </a:p>
        </p:txBody>
      </p:sp>
      <p:sp>
        <p:nvSpPr>
          <p:cNvPr id="30" name="diagram:abstention: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正文支持</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词面覆盖与属性片段</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不足则空返回</a:t>
            </a:r>
          </a:p>
        </p:txBody>
      </p:sp>
      <p:sp>
        <p:nvSpPr>
          <p:cNvPr id="34" name="diagram:abstention:node:6"/>
          <p:cNvSpPr/>
          <p:nvPr/>
        </p:nvSpPr>
        <p:spPr>
          <a:xfrm>
            <a:off x="1080058" y="3877284"/>
            <a:ext cx="2992450" cy="1418386"/>
          </a:xfrm>
          <a:prstGeom prst="rect">
            <a:avLst/>
          </a:prstGeom>
          <a:solidFill>
            <a:srgbClr val="FFF3EB"/>
          </a:solidFill>
          <a:ln w="12700">
            <a:solidFill>
              <a:srgbClr val="9D4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9D4B28"/>
                </a:solidFill>
                <a:latin typeface="Microsoft YaHei"/>
                <a:ea typeface="Microsoft YaHei"/>
                <a:cs typeface="Microsoft YaHei"/>
              </a:rPr>
              <a:t>分类计分</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无答案与作用域分开</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异常 / 超时记失败</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条件不满足可在对应阶段提前返回；空返回不天然等于正确拒答。</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无可见候选：直接空返回</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有候选但正文支持不足：拒答</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异常与超时：失败，不能计为正确拒答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第8章  端侧部署与一致性</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8.1  端侧轻量部署方案</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核心研究服务只依赖 Python 标准库，默认本机回环监听，模型和运行资源分别核算。</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依据：pyproject.toml；src/os_agent_memory/{web_server,service,persistence}.py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22 / 53</a:t>
            </a:r>
          </a:p>
        </p:txBody>
      </p:sp>
      <p:cxnSp>
        <p:nvCxnSpPr>
          <p:cNvPr id="9" name="Connector 8"/>
          <p:cNvCxnSpPr/>
          <p:nvPr/>
        </p:nvCxnSpPr>
        <p:spPr>
          <a:xfrm>
            <a:off x="6096304" y="2519438"/>
            <a:ext cx="0" cy="190272"/>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6304" y="3453498"/>
            <a:ext cx="0" cy="190271"/>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6304" y="4387557"/>
            <a:ext cx="0" cy="190272"/>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2" name="diagram:deployment:node:1"/>
          <p:cNvSpPr/>
          <p:nvPr/>
        </p:nvSpPr>
        <p:spPr>
          <a:xfrm>
            <a:off x="1080058" y="1775650"/>
            <a:ext cx="10032492" cy="743788"/>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0330" y="1948624"/>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调用端</a:t>
            </a:r>
          </a:p>
        </p:txBody>
      </p:sp>
      <p:sp>
        <p:nvSpPr>
          <p:cNvPr id="14" name="TextBox 13"/>
          <p:cNvSpPr txBox="1"/>
          <p:nvPr/>
        </p:nvSpPr>
        <p:spPr>
          <a:xfrm>
            <a:off x="3112503" y="1957273"/>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浏览器 / CLI / 评测；本机可信身份</a:t>
            </a:r>
          </a:p>
        </p:txBody>
      </p:sp>
      <p:sp>
        <p:nvSpPr>
          <p:cNvPr id="15" name="diagram:deployment:node:2"/>
          <p:cNvSpPr/>
          <p:nvPr/>
        </p:nvSpPr>
        <p:spPr>
          <a:xfrm>
            <a:off x="1080058" y="2709710"/>
            <a:ext cx="10032492" cy="743788"/>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70330" y="2882684"/>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应用进程</a:t>
            </a:r>
          </a:p>
        </p:txBody>
      </p:sp>
      <p:sp>
        <p:nvSpPr>
          <p:cNvPr id="17" name="TextBox 16"/>
          <p:cNvSpPr txBox="1"/>
          <p:nvPr/>
        </p:nvSpPr>
        <p:spPr>
          <a:xfrm>
            <a:off x="3112503" y="2891332"/>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127.0.0.1 HTTP + MemoryService + RLock</a:t>
            </a:r>
          </a:p>
        </p:txBody>
      </p:sp>
      <p:sp>
        <p:nvSpPr>
          <p:cNvPr id="18" name="diagram:deployment:node:3"/>
          <p:cNvSpPr/>
          <p:nvPr/>
        </p:nvSpPr>
        <p:spPr>
          <a:xfrm>
            <a:off x="1080058" y="3643769"/>
            <a:ext cx="10032492" cy="743788"/>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70330" y="3816743"/>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端侧状态</a:t>
            </a:r>
          </a:p>
        </p:txBody>
      </p:sp>
      <p:sp>
        <p:nvSpPr>
          <p:cNvPr id="20" name="TextBox 19"/>
          <p:cNvSpPr txBox="1"/>
          <p:nvPr/>
        </p:nvSpPr>
        <p:spPr>
          <a:xfrm>
            <a:off x="3112503" y="3825392"/>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内存候选索引 / 向量缓存 / SQLite文件</a:t>
            </a:r>
          </a:p>
        </p:txBody>
      </p:sp>
      <p:sp>
        <p:nvSpPr>
          <p:cNvPr id="21" name="diagram:deployment:node:4"/>
          <p:cNvSpPr/>
          <p:nvPr/>
        </p:nvSpPr>
        <p:spPr>
          <a:xfrm>
            <a:off x="1080058" y="4577829"/>
            <a:ext cx="10032492" cy="743788"/>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70330" y="4750803"/>
            <a:ext cx="1772983" cy="415137"/>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模型边界</a:t>
            </a:r>
          </a:p>
        </p:txBody>
      </p:sp>
      <p:sp>
        <p:nvSpPr>
          <p:cNvPr id="23" name="TextBox 22"/>
          <p:cNvSpPr txBox="1"/>
          <p:nvPr/>
        </p:nvSpPr>
        <p:spPr>
          <a:xfrm>
            <a:off x="3112503" y="4759452"/>
            <a:ext cx="7792478" cy="423786"/>
          </a:xfrm>
          <a:prstGeom prst="rect">
            <a:avLst/>
          </a:prstGeom>
          <a:noFill/>
        </p:spPr>
        <p:txBody>
          <a:bodyPr wrap="none" lIns="0" rIns="0" tIns="0" bIns="0" anchor="t">
            <a:noAutofit/>
          </a:bodyPr>
          <a:lstStyle/>
          <a:p>
            <a:pPr algn="l">
              <a:lnSpc>
                <a:spcPts val="2271"/>
              </a:lnSpc>
              <a:spcBef>
                <a:spcPts val="0"/>
              </a:spcBef>
              <a:spcAft>
                <a:spcPts val="0"/>
              </a:spcAft>
            </a:pPr>
            <a:r>
              <a:rPr sz="1974" b="0" lang="zh-CN">
                <a:solidFill>
                  <a:srgbClr val="172629"/>
                </a:solidFill>
                <a:latin typeface="Microsoft YaHei"/>
                <a:ea typeface="Microsoft YaHei"/>
                <a:cs typeface="Microsoft YaHei"/>
              </a:rPr>
              <a:t>Hash在进程内；原生SDK为受限子进程，待复测</a:t>
            </a:r>
          </a:p>
        </p:txBody>
      </p:sp>
      <p:sp>
        <p:nvSpPr>
          <p:cNvPr id="24" name="TextBox 23"/>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逻辑依赖不代表生产联网能力；无认证、TLS或多进程共享写入保证。</a:t>
            </a:r>
          </a:p>
        </p:txBody>
      </p:sp>
      <p:sp>
        <p:nvSpPr>
          <p:cNvPr id="25" name="Rectangle 24"/>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标准库核心 + SQLite，本地可运行</a:t>
            </a:r>
          </a:p>
        </p:txBody>
      </p:sp>
      <p:sp>
        <p:nvSpPr>
          <p:cNvPr id="27" name="Rectangle 26"/>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单进程串行事务，默认回环监听</a:t>
            </a:r>
          </a:p>
        </p:txBody>
      </p:sp>
      <p:sp>
        <p:nvSpPr>
          <p:cNvPr id="29" name="Rectangle 28"/>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模型进程、HTTP 和检索资源分别测量</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第8章  端侧部署与一致性</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8.2  持久化、重启与失败回滚</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变更以事务为边界，内存状态、索引和 SQLite 不能分别宣称成功。</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依据：src/os_agent_memory/service.py:atomic_mutation；persistence.py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23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persistence: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取得服务锁</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单进程 RLock</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序列化状态变更</a:t>
            </a:r>
          </a:p>
        </p:txBody>
      </p:sp>
      <p:sp>
        <p:nvSpPr>
          <p:cNvPr id="18" name="diagram:persistence: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保存回滚点</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store / lifecycle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去重与遗忘回执</a:t>
            </a:r>
          </a:p>
        </p:txBody>
      </p:sp>
      <p:sp>
        <p:nvSpPr>
          <p:cNvPr id="22" name="diagram:persistence: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执行变更</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导入 / 冲突 / 遗忘</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同步内存索引</a:t>
            </a:r>
          </a:p>
        </p:txBody>
      </p:sp>
      <p:sp>
        <p:nvSpPr>
          <p:cNvPr id="26" name="diagram:persistence: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SQLite提交</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业务对象 + 运行状态</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一次事务边界</a:t>
            </a:r>
          </a:p>
        </p:txBody>
      </p:sp>
      <p:sp>
        <p:nvSpPr>
          <p:cNvPr id="30" name="diagram:persistence: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返回成功</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仅提交后回执</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附目标与状态</a:t>
            </a:r>
          </a:p>
        </p:txBody>
      </p:sp>
      <p:sp>
        <p:nvSpPr>
          <p:cNvPr id="34" name="diagram:persistence: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重启核验</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加载同一数据库</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恢复版本、去重、回执</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从变更到提交任一步骤异常，恢复回滚点；不返回部分成功。</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锁内变更、数据库提交、成功回执</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任一步骤失败恢复业务状态</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重启恢复去重、计划和确认回执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第9章  敏感信息与安全遗忘</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9.1  敏感信息过滤方案</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从输入正文到嵌套结构和输出证据都控制敏感原值，检测质量与泄漏门槛分开评价。</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依据：src/os_agent_memory/security.py；tests/test_metric_privacy.py；证据 W</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24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security: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输入数据</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content + metadata</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视为不可信内容</a:t>
            </a:r>
          </a:p>
        </p:txBody>
      </p:sp>
      <p:sp>
        <p:nvSpPr>
          <p:cNvPr id="18" name="diagram:security: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实体检测</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类型与精确原值</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规则识别</a:t>
            </a:r>
          </a:p>
        </p:txBody>
      </p:sp>
      <p:sp>
        <p:nvSpPr>
          <p:cNvPr id="22" name="diagram:security: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递归替换</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正文、嵌套对象与列表</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不留原值日志</a:t>
            </a:r>
          </a:p>
        </p:txBody>
      </p:sp>
      <p:sp>
        <p:nvSpPr>
          <p:cNvPr id="26" name="diagram:security: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风险评估</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注入与危险记忆标记</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限制长期晋升</a:t>
            </a:r>
          </a:p>
        </p:txBody>
      </p:sp>
      <p:sp>
        <p:nvSpPr>
          <p:cNvPr id="30" name="diagram:security: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回归门槛</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实体微F1 ≥90%</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敏感原值零泄漏</a:t>
            </a:r>
          </a:p>
        </p:txBody>
      </p:sp>
      <p:sp>
        <p:nvSpPr>
          <p:cNvPr id="34" name="diagram:security: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发布复核</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代码 / JSON / Office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自动检查 + 人工审阅</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F1与泄漏门槛分开；未知敏感格式和注入表达仍有风险。</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正文与嵌套 metadata 都过滤</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实体微F1与原值泄漏分别设门槛</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注入风险不因脱敏而自动消失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第9章  敏感信息与安全遗忘</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9.2  可确认遗忘与审计闭环</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预览不修改，确认才执行；删除对象、作用域、有效期和回执必须一一绑定。</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依据：src/os_agent_memory/{service,memory_store,persistence}.py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25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forget: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用户指令</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自然语言 + 作用域</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明确删除意图</a:t>
            </a:r>
          </a:p>
        </p:txBody>
      </p:sp>
      <p:sp>
        <p:nvSpPr>
          <p:cNvPr id="18" name="diagram:forget: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预览计划</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目标IDs / 关键词</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有效期；零修改</a:t>
            </a:r>
          </a:p>
        </p:txBody>
      </p:sp>
      <p:sp>
        <p:nvSpPr>
          <p:cNvPr id="22" name="diagram:forget: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用户确认</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核对范围后确认</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传真实 plan_id</a:t>
            </a:r>
          </a:p>
        </p:txBody>
      </p:sp>
      <p:sp>
        <p:nvSpPr>
          <p:cNvPr id="26" name="diagram:forget: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安全校验</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归属、有效期、状态</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重复确认返回原回执</a:t>
            </a:r>
          </a:p>
        </p:txBody>
      </p:sp>
      <p:sp>
        <p:nvSpPr>
          <p:cNvPr id="30" name="diagram:forget: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原子遗忘</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内容 / 历史 / 索引</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软删或硬删 + 保存</a:t>
            </a:r>
          </a:p>
        </p:txBody>
      </p:sp>
      <p:sp>
        <p:nvSpPr>
          <p:cNvPr id="34" name="diagram:forget: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审计核查</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最小回执 audit_id</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重启后仍不可召回</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硬删除不自动销毁外部备份、日志与导出副本。</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预览零修改，确认绑定计划与作用域</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内容、历史、索引和回执保持一致</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外部备份与日志需要单独销毁策略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第10章  麒麟与真实SDK适配</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10.1  Embedding 与原生 SDK 适配</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模型接口与业务算法分离，真实 SDK 接入必须保留模型身份、错误和成本，不做静默降级。</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依据：docs/27；artifacts/verification/feedback/sdk_risk.json</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26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sdk: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provider配置</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库 / 模型 / 版本 / 维度</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按实际安装填写</a:t>
            </a:r>
          </a:p>
        </p:txBody>
      </p:sp>
      <p:sp>
        <p:nvSpPr>
          <p:cNvPr id="18" name="diagram:sdk: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子进程调用</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输入走标准输入</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超时受限</a:t>
            </a:r>
          </a:p>
        </p:txBody>
      </p:sp>
      <p:sp>
        <p:nvSpPr>
          <p:cNvPr id="22" name="diagram:sdk: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原生会话</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创建会话与模型初始化</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当前每次重复成本</a:t>
            </a:r>
          </a:p>
        </p:txBody>
      </p:sp>
      <p:sp>
        <p:nvSpPr>
          <p:cNvPr id="26" name="diagram:sdk: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取向量</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检查错误码、维度</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有限且非零</a:t>
            </a:r>
          </a:p>
        </p:txBody>
      </p:sp>
      <p:sp>
        <p:nvSpPr>
          <p:cNvPr id="30" name="diagram:sdk: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释放与回收</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释放结果和会话</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异常终止并等待</a:t>
            </a:r>
          </a:p>
        </p:txBody>
      </p:sp>
      <p:sp>
        <p:nvSpPr>
          <p:cNvPr id="34" name="diagram:sdk:node:6"/>
          <p:cNvSpPr/>
          <p:nvPr/>
        </p:nvSpPr>
        <p:spPr>
          <a:xfrm>
            <a:off x="1080058" y="3877284"/>
            <a:ext cx="2992450" cy="1418386"/>
          </a:xfrm>
          <a:prstGeom prst="rect">
            <a:avLst/>
          </a:prstGeom>
          <a:solidFill>
            <a:srgbClr val="FFF3EB"/>
          </a:solidFill>
          <a:ln w="12700">
            <a:solidFill>
              <a:srgbClr val="9D4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9D4B28"/>
                </a:solidFill>
                <a:latin typeface="Microsoft YaHei"/>
                <a:ea typeface="Microsoft YaHei"/>
                <a:cs typeface="Microsoft YaHei"/>
              </a:rPr>
              <a:t>服务回传</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成功向量或错误摘要</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不回退 Hash</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9D4B28"/>
                </a:solidFill>
                <a:latin typeface="Microsoft YaHei"/>
                <a:ea typeface="Microsoft YaHei"/>
                <a:cs typeface="Microsoft YaHei"/>
              </a:rPr>
              <a:t>新ABI缺符号；旧ABI单探针13,390.615ms不构成原生P95。</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Hash、Python模块适配、C ABI 适配</a:t>
            </a:r>
          </a:p>
          <a:p>
            <a:pPr algn="l">
              <a:lnSpc>
                <a:spcPts val="1798"/>
              </a:lnSpc>
              <a:spcBef>
                <a:spcPts val="0"/>
              </a:spcBef>
              <a:spcAft>
                <a:spcPts val="0"/>
              </a:spcAft>
            </a:pPr>
            <a:r>
              <a:rPr sz="1550" b="0" lang="zh-CN">
                <a:solidFill>
                  <a:srgbClr val="172629"/>
                </a:solidFill>
                <a:latin typeface="Microsoft YaHei"/>
                <a:ea typeface="Microsoft YaHei"/>
                <a:cs typeface="Microsoft YaHei"/>
              </a:rPr>
              <a:t>分开</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原生调用超时隔离，不回退 Hash</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13,390.615ms 为单次探针，不是P95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第10章  麒麟与真实SDK适配</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10.2  银河麒麟 V11 适配结论</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目标系统是银河麒麟桌面 V11；Windows 通过不能替代同一源码在目标系统的验证。</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依据：docs/31；docs/35；docs/27；证据 W</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27 / 53</a:t>
            </a:r>
          </a:p>
        </p:txBody>
      </p:sp>
      <p:graphicFrame>
        <p:nvGraphicFramePr>
          <p:cNvPr id="9" name="editable_table:10.2"/>
          <p:cNvGraphicFramePr>
            <a:graphicFrameLocks noGrp="1"/>
          </p:cNvGraphicFramePr>
          <p:nvPr/>
        </p:nvGraphicFramePr>
        <p:xfrm>
          <a:off x="612648" y="1847088"/>
          <a:ext cx="10972799" cy="2422392"/>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项目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当前证据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结论</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Windows 当前运行代码</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392测试，17工程检查</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公开合成回归通过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V11 历史磁盘安装</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历史部署/探针可追溯</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仅对应历史源码</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V11 当前源码全量检查</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需要独立重跑</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待复验</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真实模型/原生P95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单探针，不足50不同请求</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待复测风险项</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向量数据库真实往返</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服务存在，链路无完整证明</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待复测风险项</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V11 为目标系统，部署门槛独立</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历史证据绑定历史源码</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当前源码须重跑测试、HTTP 与 SDK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第10章  麒麟与真实SDK适配</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10.3  真实 SDK 风险解除流程</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只有同一实际模型、系统和资源配置下质量与性能共同达标，才解除该配置的风险标记。</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依据：docs/27；scripts/check_kylin_native.py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28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sdk_acceptance: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核验身份</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系统、库与实际模型</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配置/二进制摘要</a:t>
            </a:r>
          </a:p>
        </p:txBody>
      </p:sp>
      <p:sp>
        <p:nvSpPr>
          <p:cNvPr id="18" name="diagram:sdk_acceptance: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冻结样本</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至少50不同请求</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干扰 / 阈值 / 预热</a:t>
            </a:r>
          </a:p>
        </p:txBody>
      </p:sp>
      <p:sp>
        <p:nvSpPr>
          <p:cNvPr id="22" name="diagram:sdk_acceptance: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分段执行</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启动、初始化、首查</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服务 / HTTP / Agent</a:t>
            </a:r>
          </a:p>
        </p:txBody>
      </p:sp>
      <p:sp>
        <p:nvSpPr>
          <p:cNvPr id="26" name="diagram:sdk_acceptance: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三轮留证</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每题输出、错误与耗时</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P50 / P95 / P99</a:t>
            </a:r>
          </a:p>
        </p:txBody>
      </p:sp>
      <p:sp>
        <p:nvSpPr>
          <p:cNvPr id="30" name="diagram:sdk_acceptance: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联合门槛</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质量 / 拒答 / 隔离</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原生服务P95≤500ms</a:t>
            </a:r>
          </a:p>
        </p:txBody>
      </p:sp>
      <p:sp>
        <p:nvSpPr>
          <p:cNvPr id="34" name="diagram:sdk_acceptance: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配置结论</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仅该配置解除风险</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赛事仍需正式验收</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向量数据库建库、写入、查询、删除往返另验；不以服务active代替。</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先冻结实际模型、数据和计时协议</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三轮逐请求结果，错误和慢请求不剔除</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质量、安全、P95及资源共同达标</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第11章  相关工作与创新</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11.1  相关工作对比：经典路线</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比较机制和适用边界，不把不同模型、数据、硬件下的数字拼成性能排行榜。</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依据：docs/38；参考文献[1]–[5]</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29 / 53</a:t>
            </a:r>
          </a:p>
        </p:txBody>
      </p:sp>
      <p:graphicFrame>
        <p:nvGraphicFramePr>
          <p:cNvPr id="9" name="editable_table:11.1"/>
          <p:cNvGraphicFramePr>
            <a:graphicFrameLocks noGrp="1"/>
          </p:cNvGraphicFramePr>
          <p:nvPr/>
        </p:nvGraphicFramePr>
        <p:xfrm>
          <a:off x="612648" y="1847088"/>
          <a:ext cx="10972800" cy="2422392"/>
        </p:xfrm>
        <a:graphic>
          <a:graphicData uri="http://schemas.openxmlformats.org/drawingml/2006/table">
            <a:tbl>
              <a:tblPr firstRow="1" bandRow="1">
                <a:tableStyleId>{5C22544A-7EE6-4342-B048-85BDC9FD1C3A}</a:tableStyleId>
              </a:tblPr>
              <a:tblGrid>
                <a:gridCol w="2523744"/>
                <a:gridCol w="3511296"/>
                <a:gridCol w="4937760"/>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工作</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主要机制</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本项目差异与边界</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MemGPT [1]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虚拟上下文、外存调度与中断</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偏重OS事件治理；无其LLM调度复现</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MemoryBank [2]</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长期记忆、用户特征、遗忘强化</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显式设置优先、证据版本；衰减非首创</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Generative Agents [3]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观察、检索、反思、规划</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治理工具结果；无自主反思规划证明</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LongMem [4]</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冻结编码器及可训练记忆侧网络</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不训练网络；Hash不等于预训练模型</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FAISS [5]</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大规模向量近似/压缩检索</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本地候选索引；不主张ANN算法创新</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已有层级、遗忘与向量技术，明确引用</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贡献在OS事件治理和一致性实现</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本地开关实验不冒充论文复现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第11章  相关工作与创新</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11.2  相关工作对比：近期系统与基准</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近期研究提示，应将记忆写入、更新、召回和最终回答分层评估，并专测前提与环境变化。</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依据：docs/43；参考文献[6]–[9]</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30 / 53</a:t>
            </a:r>
          </a:p>
        </p:txBody>
      </p:sp>
      <p:graphicFrame>
        <p:nvGraphicFramePr>
          <p:cNvPr id="9" name="editable_table:11.2"/>
          <p:cNvGraphicFramePr>
            <a:graphicFrameLocks noGrp="1"/>
          </p:cNvGraphicFramePr>
          <p:nvPr/>
        </p:nvGraphicFramePr>
        <p:xfrm>
          <a:off x="612648" y="1847088"/>
          <a:ext cx="10972800" cy="2763518"/>
        </p:xfrm>
        <a:graphic>
          <a:graphicData uri="http://schemas.openxmlformats.org/drawingml/2006/table">
            <a:tbl>
              <a:tblPr firstRow="1" bandRow="1">
                <a:tableStyleId>{5C22544A-7EE6-4342-B048-85BDC9FD1C3A}</a:tableStyleId>
              </a:tblPr>
              <a:tblGrid>
                <a:gridCol w="2523744"/>
                <a:gridCol w="4279392"/>
                <a:gridCol w="4169664"/>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工作/版本</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公开机制或评测对象</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本项目比较</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Mem0 [6]，2025 v1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持续对话提取/整合/检索，图记忆变体</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无图推理成绩；重在来源、授权和遗忘</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MemoryOS [7]，2025</a:t>
                      </a:r>
                    </a:p>
                    <a:p>
                      <a:pPr>
                        <a:lnSpc>
                          <a:spcPts val="1954"/>
                        </a:lnSpc>
                        <a:spcBef>
                          <a:spcPts val="0"/>
                        </a:spcBef>
                        <a:spcAft>
                          <a:spcPts val="0"/>
                        </a:spcAft>
                      </a:pPr>
                      <a:r>
                        <a:rPr sz="1700" b="0" lang="zh-CN">
                          <a:solidFill>
                            <a:srgbClr val="172629"/>
                          </a:solidFill>
                          <a:latin typeface="Microsoft YaHei"/>
                          <a:ea typeface="Microsoft YaHei"/>
                          <a:cs typeface="Microsoft YaHei"/>
                        </a:rPr>
                        <a:t>v1</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短中长期层级，存储/更新/检索/生成</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三层划分非首创；强化事件与端侧治理</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LongMemEval [8]，v2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500问题；提取、时间、更新、跨会话、拒</a:t>
                      </a:r>
                    </a:p>
                    <a:p>
                      <a:pPr>
                        <a:lnSpc>
                          <a:spcPts val="1954"/>
                        </a:lnSpc>
                        <a:spcBef>
                          <a:spcPts val="0"/>
                        </a:spcBef>
                        <a:spcAft>
                          <a:spcPts val="0"/>
                        </a:spcAft>
                      </a:pPr>
                      <a:r>
                        <a:rPr sz="1700" b="0" lang="zh-CN">
                          <a:solidFill>
                            <a:srgbClr val="172629"/>
                          </a:solidFill>
                          <a:latin typeface="Microsoft YaHei"/>
                          <a:ea typeface="Microsoft YaHei"/>
                          <a:cs typeface="Microsoft YaHei"/>
                        </a:rPr>
                        <a:t>答</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召回与答案分开；无该基准分数</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LongMemEval-V2 [9]</a:t>
                      </a:r>
                    </a:p>
                    <a:p>
                      <a:pPr>
                        <a:lnSpc>
                          <a:spcPts val="1954"/>
                        </a:lnSpc>
                        <a:spcBef>
                          <a:spcPts val="0"/>
                        </a:spcBef>
                        <a:spcAft>
                          <a:spcPts val="0"/>
                        </a:spcAft>
                      </a:pPr>
                      <a:r>
                        <a:rPr sz="1700" b="0" lang="zh-CN">
                          <a:solidFill>
                            <a:srgbClr val="172629"/>
                          </a:solidFill>
                          <a:latin typeface="Microsoft YaHei"/>
                          <a:ea typeface="Microsoft YaHei"/>
                          <a:cs typeface="Microsoft YaHei"/>
                        </a:rPr>
                        <a:t>，v1</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451问题；Web Agent经验、状态与前提</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仅定向OS难例；不称完整轨迹复现</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Mem0 / MemoryOS：记忆机制已有直</a:t>
            </a:r>
          </a:p>
          <a:p>
            <a:pPr algn="l">
              <a:lnSpc>
                <a:spcPts val="1798"/>
              </a:lnSpc>
              <a:spcBef>
                <a:spcPts val="0"/>
              </a:spcBef>
              <a:spcAft>
                <a:spcPts val="0"/>
              </a:spcAft>
            </a:pPr>
            <a:r>
              <a:rPr sz="1550" b="0" lang="zh-CN">
                <a:solidFill>
                  <a:srgbClr val="172629"/>
                </a:solidFill>
                <a:latin typeface="Microsoft YaHei"/>
                <a:ea typeface="Microsoft YaHei"/>
                <a:cs typeface="Microsoft YaHei"/>
              </a:rPr>
              <a:t>接先例</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LongMemEval：召回不等于回答正确</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公开复杂回归之外仍需独立数据与</a:t>
            </a:r>
          </a:p>
          <a:p>
            <a:pPr algn="l">
              <a:lnSpc>
                <a:spcPts val="1798"/>
              </a:lnSpc>
              <a:spcBef>
                <a:spcPts val="0"/>
              </a:spcBef>
              <a:spcAft>
                <a:spcPts val="0"/>
              </a:spcAft>
            </a:pPr>
            <a:r>
              <a:rPr sz="1550" b="0" lang="zh-CN">
                <a:solidFill>
                  <a:srgbClr val="172629"/>
                </a:solidFill>
                <a:latin typeface="Microsoft YaHei"/>
                <a:ea typeface="Microsoft YaHei"/>
                <a:cs typeface="Microsoft YaHei"/>
              </a:rPr>
              <a:t>Agent执行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第11章  相关工作与创新</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11.3  创新主张与对照证据</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按“已有先例—本项目机制—代码—实验—边界”组织创新论证，不自行推算竞赛得分。</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依据：docs/38、43、45；scripts/compare_evidence_policies.py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31 / 53</a:t>
            </a:r>
          </a:p>
        </p:txBody>
      </p:sp>
      <p:graphicFrame>
        <p:nvGraphicFramePr>
          <p:cNvPr id="9" name="editable_table:11.3"/>
          <p:cNvGraphicFramePr>
            <a:graphicFrameLocks noGrp="1"/>
          </p:cNvGraphicFramePr>
          <p:nvPr/>
        </p:nvGraphicFramePr>
        <p:xfrm>
          <a:off x="612648" y="1847088"/>
          <a:ext cx="10972799" cy="2266946"/>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可运行对照</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控制变量</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支持的结论</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三种证据策略</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同源码/语料/输入/参数/三轮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完整性、拒答、干扰及延迟取舍</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约束开启/关闭</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同48题，约束属于真实输入</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显式过滤与自动主体保护表现</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lexical / semantic /</a:t>
                      </a:r>
                    </a:p>
                    <a:p>
                      <a:pPr>
                        <a:lnSpc>
                          <a:spcPts val="1954"/>
                        </a:lnSpc>
                        <a:spcBef>
                          <a:spcPts val="0"/>
                        </a:spcBef>
                        <a:spcAft>
                          <a:spcPts val="0"/>
                        </a:spcAft>
                      </a:pPr>
                      <a:r>
                        <a:rPr sz="1700" b="0" lang="zh-CN">
                          <a:solidFill>
                            <a:srgbClr val="172629"/>
                          </a:solidFill>
                          <a:latin typeface="Microsoft YaHei"/>
                          <a:ea typeface="Microsoft YaHei"/>
                          <a:cs typeface="Microsoft YaHei"/>
                        </a:rPr>
                        <a:t>hybrid</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v3分区与各自dev阈值</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局部检索机制诊断，非论文复现</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缓存/隔离/衰减开关</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固定事件与预期</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组件作用，不扩大独立分母</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事件治理的一致性与可审计性</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限定范围的聚焦、主体和证据补全</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逐请求不退化与可复算证据链</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第12章  效果验证设计</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12.1  效果验证报告：整体设计</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本章至第14章组成效果验证报告；把开发、冻结回归、复杂压力与正式验收分层管理。</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依据：docs/39；证据 W、R、C、E、N、D、H</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32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evaluation: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确定用途</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开发 / 回归 / 正式验收</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不同证据不混用</a:t>
            </a:r>
          </a:p>
        </p:txBody>
      </p:sp>
      <p:sp>
        <p:nvSpPr>
          <p:cNvPr id="18" name="diagram:evaluation: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冻结输入</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数据、标签、配置</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不同请求分母</a:t>
            </a:r>
          </a:p>
        </p:txBody>
      </p:sp>
      <p:sp>
        <p:nvSpPr>
          <p:cNvPr id="22" name="diagram:evaluation: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绑定源码</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运行代码 / 评测器</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原始与LF摘要</a:t>
            </a:r>
          </a:p>
        </p:txBody>
      </p:sp>
      <p:sp>
        <p:nvSpPr>
          <p:cNvPr id="26" name="diagram:evaluation: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实际执行</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接入/检索/服务负载</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逐题保留失败与时延</a:t>
            </a:r>
          </a:p>
        </p:txBody>
      </p:sp>
      <p:sp>
        <p:nvSpPr>
          <p:cNvPr id="30" name="diagram:evaluation: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重算门槛</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质量、完整性、干扰</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作用域与性能</a:t>
            </a:r>
          </a:p>
        </p:txBody>
      </p:sp>
      <p:sp>
        <p:nvSpPr>
          <p:cNvPr id="34" name="diagram:evaluation: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材料引用</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从原始JSON读取</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保留限制与来源</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相同查询的重复轮次、规模和模式不增加独立请求数。</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开发、冻结、复杂、服务、正式验收分</a:t>
            </a:r>
          </a:p>
          <a:p>
            <a:pPr algn="l">
              <a:lnSpc>
                <a:spcPts val="1798"/>
              </a:lnSpc>
              <a:spcBef>
                <a:spcPts val="0"/>
              </a:spcBef>
              <a:spcAft>
                <a:spcPts val="0"/>
              </a:spcAft>
            </a:pPr>
            <a:r>
              <a:rPr sz="1550" b="0" lang="zh-CN">
                <a:solidFill>
                  <a:srgbClr val="172629"/>
                </a:solidFill>
                <a:latin typeface="Microsoft YaHei"/>
                <a:ea typeface="Microsoft YaHei"/>
                <a:cs typeface="Microsoft YaHei"/>
              </a:rPr>
              <a:t>层</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逐请求重算，保留失败与原始报告</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相同请求重复不增加独立样本数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第12章  效果验证设计</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12.2  冻结五项的分母与失败规则</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主指标使用固定请求集合和严格定义，额外答案、入库失败和异常不会被排除。</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依据：data/eval/request_regression_v1.json；src/os_agent_memory/request_contract.py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33 / 53</a:t>
            </a:r>
          </a:p>
        </p:txBody>
      </p:sp>
      <p:graphicFrame>
        <p:nvGraphicFramePr>
          <p:cNvPr id="9" name="editable_table:12.2"/>
          <p:cNvGraphicFramePr>
            <a:graphicFrameLocks noGrp="1"/>
          </p:cNvGraphicFramePr>
          <p:nvPr/>
        </p:nvGraphicFramePr>
        <p:xfrm>
          <a:off x="612648" y="1847088"/>
          <a:ext cx="10972800" cy="2422392"/>
        </p:xfrm>
        <a:graphic>
          <a:graphicData uri="http://schemas.openxmlformats.org/drawingml/2006/table">
            <a:tbl>
              <a:tblPr firstRow="1" bandRow="1">
                <a:tableStyleId>{5C22544A-7EE6-4342-B048-85BDC9FD1C3A}</a:tableStyleId>
              </a:tblPr>
              <a:tblGrid>
                <a:gridCol w="1975104"/>
                <a:gridCol w="4608576"/>
                <a:gridCol w="4389120"/>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指标</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分母/公式</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失败与门槛</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偏好准确率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完整键值集合正确请求/68</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多键、漏键、错值失败；≥85%</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知识 Recall@3</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60正例逐题召回的宏平均</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入库漏失仍保留题目；≥85%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冲突正确率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60独立知识对，检测及终态均正确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错检/漏检/误淘汰失败；≥88%</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检索 P95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80不同查询：60正例+12无答案+8跨域</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nearest-rank，不删慢题；≤500ms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敏感实体微 F1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50请求，2TP/(2TP+FP+FN)</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实体类型+原值次数；≥90%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68 / 60 / 60 / 80 / 50 固定分母</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偏好按整套键值判分，知识按宏Recall</a:t>
            </a:r>
          </a:p>
          <a:p>
            <a:pPr algn="l">
              <a:lnSpc>
                <a:spcPts val="1798"/>
              </a:lnSpc>
              <a:spcBef>
                <a:spcPts val="0"/>
              </a:spcBef>
              <a:spcAft>
                <a:spcPts val="0"/>
              </a:spcAft>
            </a:pPr>
            <a:r>
              <a:rPr sz="1550" b="0" lang="zh-CN">
                <a:solidFill>
                  <a:srgbClr val="172629"/>
                </a:solidFill>
                <a:latin typeface="Microsoft YaHei"/>
                <a:ea typeface="Microsoft YaHei"/>
                <a:cs typeface="Microsoft YaHei"/>
              </a:rPr>
              <a:t>@3</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异常、额外错误返回和原值泄漏不可忽</a:t>
            </a:r>
          </a:p>
          <a:p>
            <a:pPr algn="l">
              <a:lnSpc>
                <a:spcPts val="1798"/>
              </a:lnSpc>
              <a:spcBef>
                <a:spcPts val="0"/>
              </a:spcBef>
              <a:spcAft>
                <a:spcPts val="0"/>
              </a:spcAft>
            </a:pPr>
            <a:r>
              <a:rPr sz="1550" b="0" lang="zh-CN">
                <a:solidFill>
                  <a:srgbClr val="172629"/>
                </a:solidFill>
                <a:latin typeface="Microsoft YaHei"/>
                <a:ea typeface="Microsoft YaHei"/>
                <a:cs typeface="Microsoft YaHei"/>
              </a:rPr>
              <a:t>略</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第12章  效果验证设计</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12.3  复杂场景与干扰数据设计</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复杂集独立于五项分母，包含近邻实体、版本、条件、长文及访问边界等难例。</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依据：data/eval/complex_*；data/dev/evidence_coverage*</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34 / 53</a:t>
            </a:r>
          </a:p>
        </p:txBody>
      </p:sp>
      <p:graphicFrame>
        <p:nvGraphicFramePr>
          <p:cNvPr id="9" name="editable_table:12.3"/>
          <p:cNvGraphicFramePr>
            <a:graphicFrameLocks noGrp="1"/>
          </p:cNvGraphicFramePr>
          <p:nvPr/>
        </p:nvGraphicFramePr>
        <p:xfrm>
          <a:off x="612648" y="1847088"/>
          <a:ext cx="10972800" cy="2018660"/>
        </p:xfrm>
        <a:graphic>
          <a:graphicData uri="http://schemas.openxmlformats.org/drawingml/2006/table">
            <a:tbl>
              <a:tblPr firstRow="1" bandRow="1">
                <a:tableStyleId>{5C22544A-7EE6-4342-B048-85BDC9FD1C3A}</a:tableStyleId>
              </a:tblPr>
              <a:tblGrid>
                <a:gridCol w="3072384"/>
                <a:gridCol w="1426464"/>
                <a:gridCol w="3730752"/>
                <a:gridCol w="2743200"/>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数据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不同请求</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正例/无答案/作用域</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模式</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complex_retrieval_v1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120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72 / 24 / 24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无显式约束</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complex_constraints_v1</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48</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24 / 12 / 12</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显式约束开、关分别报告</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开发 evidence_coverage</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20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 / 10 / 不设该组</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三策略；开发可见</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追加 challenge</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6 / 4 / 不设该组</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同组10文档；非独立盲测</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18场景、168不同请求；开发30题单列</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1千/1万记录 × 0%/75%相似填充</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版本缺失、关系缺证据及多文档单列</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第12章  效果验证设计</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12.4  召回、排序、干扰与拒答口径</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多个指标回答不同问题，完整召回不能替代精度、零干扰或生成答案正确率。</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依据：src/os_agent_memory/complex_retrieval.py；docs/39</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35 / 53</a:t>
            </a:r>
          </a:p>
        </p:txBody>
      </p:sp>
      <p:graphicFrame>
        <p:nvGraphicFramePr>
          <p:cNvPr id="9" name="editable_table:12.4"/>
          <p:cNvGraphicFramePr>
            <a:graphicFrameLocks noGrp="1"/>
          </p:cNvGraphicFramePr>
          <p:nvPr/>
        </p:nvGraphicFramePr>
        <p:xfrm>
          <a:off x="612648" y="1847088"/>
          <a:ext cx="10972799" cy="2826124"/>
        </p:xfrm>
        <a:graphic>
          <a:graphicData uri="http://schemas.openxmlformats.org/drawingml/2006/table">
            <a:tbl>
              <a:tblPr firstRow="1" bandRow="1">
                <a:tableStyleId>{5C22544A-7EE6-4342-B048-85BDC9FD1C3A}</a:tableStyleId>
              </a:tblPr>
              <a:tblGrid>
                <a:gridCol w="2194560"/>
                <a:gridCol w="4718304"/>
                <a:gridCol w="4059935"/>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指标</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定义</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阅读注意</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Precision@3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|G∩R| / 3，正例宏平均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固定3槽，空槽也计入</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MRR@3</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首个相关结果排名的倒数</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只反映首相关位置</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nDCG@3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二值相关性折扣增益/理想增益</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按min(|G|,3)归一</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干扰返回率</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正例无关返回数/正例实际返回数</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与Precision@3分母不同</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无答案正确率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正确空返回/无答案请求数</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不混入权限必空请求</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泄漏与错误</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逐请求和逐记录计数</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相关ID命中也不能抵消泄漏</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Recall、完整率、Precision@3分别报</a:t>
            </a:r>
          </a:p>
          <a:p>
            <a:pPr algn="l">
              <a:lnSpc>
                <a:spcPts val="1798"/>
              </a:lnSpc>
              <a:spcBef>
                <a:spcPts val="0"/>
              </a:spcBef>
              <a:spcAft>
                <a:spcPts val="0"/>
              </a:spcAft>
            </a:pPr>
            <a:r>
              <a:rPr sz="1550" b="0" lang="zh-CN">
                <a:solidFill>
                  <a:srgbClr val="172629"/>
                </a:solidFill>
                <a:latin typeface="Microsoft YaHei"/>
                <a:ea typeface="Microsoft YaHei"/>
                <a:cs typeface="Microsoft YaHei"/>
              </a:rPr>
              <a:t>告</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干扰比例以实际返回数为分母</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无答案与作用域分开，异常记失败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第12章  效果验证设计</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12.5  对照实验与不退化门禁</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修复当前失败时保护既有正确请求，不以均值提升掩盖个别题目退化。</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依据：scripts/compare_evidence_policies.py；证据 C/E/N 比较报告</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36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gates: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验证同源</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数据/语料/模型/参数</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源码与评测器</a:t>
            </a:r>
          </a:p>
        </p:txBody>
      </p:sp>
      <p:sp>
        <p:nvSpPr>
          <p:cNvPr id="18" name="diagram:gates: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重算逐题</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返回、分数与支持</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完整性及失败IDs</a:t>
            </a:r>
          </a:p>
        </p:txBody>
      </p:sp>
      <p:sp>
        <p:nvSpPr>
          <p:cNvPr id="22" name="diagram:gates: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两组成功保护</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旧默认 + 旧实验</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每题Recall不降低</a:t>
            </a:r>
          </a:p>
        </p:txBody>
      </p:sp>
      <p:sp>
        <p:nvSpPr>
          <p:cNvPr id="26" name="diagram:gates: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汇总不退化</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对比旧业务默认</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排序、拒答、干扰</a:t>
            </a:r>
          </a:p>
        </p:txBody>
      </p:sp>
      <p:sp>
        <p:nvSpPr>
          <p:cNvPr id="30" name="diagram:gates: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新策略硬门槛</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完整率/拒答100%</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零异常与越域</a:t>
            </a:r>
          </a:p>
        </p:txBody>
      </p:sp>
      <p:sp>
        <p:nvSpPr>
          <p:cNvPr id="34" name="diagram:gates: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时延与结论</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每配置每轮≤500ms</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七项门禁全部通过</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旧控制组失败保留；新策略改变输出，不能宣称等输出或普遍加速。</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逐题保护：旧默认和旧实验两组</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汇总排序与干扰：对比旧业务默认</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新策略全部配置、每轮完整性/安全/</a:t>
            </a:r>
          </a:p>
          <a:p>
            <a:pPr algn="l">
              <a:lnSpc>
                <a:spcPts val="1798"/>
              </a:lnSpc>
              <a:spcBef>
                <a:spcPts val="0"/>
              </a:spcBef>
              <a:spcAft>
                <a:spcPts val="0"/>
              </a:spcAft>
            </a:pPr>
            <a:r>
              <a:rPr sz="1550" b="0" lang="zh-CN">
                <a:solidFill>
                  <a:srgbClr val="172629"/>
                </a:solidFill>
                <a:latin typeface="Microsoft YaHei"/>
                <a:ea typeface="Microsoft YaHei"/>
                <a:cs typeface="Microsoft YaHei"/>
              </a:rPr>
              <a:t>P95通过</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第12章  效果验证设计</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12.6  性能计时与环境口径</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记录完整服务调用，不把向量编码、HTTP、Agent 或初始化等不同边界混在一张成绩表里。</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依据：docs/39、45；证据 C/E/N 的 environment、method</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37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timing: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开始计时</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perf_counter</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调用search之前</a:t>
            </a:r>
          </a:p>
        </p:txBody>
      </p:sp>
      <p:sp>
        <p:nvSpPr>
          <p:cNvPr id="18" name="diagram:timing: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服务锁</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包含等待与作用域检查</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不删除慢请求</a:t>
            </a:r>
          </a:p>
        </p:txBody>
      </p:sp>
      <p:sp>
        <p:nvSpPr>
          <p:cNvPr id="22" name="diagram:timing: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查询与候选</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查询编码 / 候选检索</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实际配置</a:t>
            </a:r>
          </a:p>
        </p:txBody>
      </p:sp>
      <p:sp>
        <p:nvSpPr>
          <p:cNvPr id="26" name="diagram:timing: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重排与证据</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主题补全 / 片段支持</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真实返回集合</a:t>
            </a:r>
          </a:p>
        </p:txBody>
      </p:sp>
      <p:sp>
        <p:nvSpPr>
          <p:cNvPr id="30" name="diagram:timing: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序列化返回</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响应对象转换</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search完整返回</a:t>
            </a:r>
          </a:p>
        </p:txBody>
      </p:sp>
      <p:sp>
        <p:nvSpPr>
          <p:cNvPr id="34" name="diagram:timing: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结束与统计</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elapsed_ms</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nearest-rank分位数</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建库、HTTP和Agent推理另报；provider调用内的初始化成本不得剔除。</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服务P95：锁、编码、候选、证据、序</a:t>
            </a:r>
          </a:p>
          <a:p>
            <a:pPr algn="l">
              <a:lnSpc>
                <a:spcPts val="1798"/>
              </a:lnSpc>
              <a:spcBef>
                <a:spcPts val="0"/>
              </a:spcBef>
              <a:spcAft>
                <a:spcPts val="0"/>
              </a:spcAft>
            </a:pPr>
            <a:r>
              <a:rPr sz="1550" b="0" lang="zh-CN">
                <a:solidFill>
                  <a:srgbClr val="172629"/>
                </a:solidFill>
                <a:latin typeface="Microsoft YaHei"/>
                <a:ea typeface="Microsoft YaHei"/>
                <a:cs typeface="Microsoft YaHei"/>
              </a:rPr>
              <a:t>列化</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HTTP / Agent另报，调用内初始化不得</a:t>
            </a:r>
          </a:p>
          <a:p>
            <a:pPr algn="l">
              <a:lnSpc>
                <a:spcPts val="1798"/>
              </a:lnSpc>
              <a:spcBef>
                <a:spcPts val="0"/>
              </a:spcBef>
              <a:spcAft>
                <a:spcPts val="0"/>
              </a:spcAft>
            </a:pPr>
            <a:r>
              <a:rPr sz="1550" b="0" lang="zh-CN">
                <a:solidFill>
                  <a:srgbClr val="172629"/>
                </a:solidFill>
                <a:latin typeface="Microsoft YaHei"/>
                <a:ea typeface="Microsoft YaHei"/>
                <a:cs typeface="Microsoft YaHei"/>
              </a:rPr>
              <a:t>剔除</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三轮全部保留，共享开发机结果不外推</a:t>
            </a:r>
          </a:p>
          <a:p>
            <a:pPr algn="l">
              <a:lnSpc>
                <a:spcPts val="1798"/>
              </a:lnSpc>
              <a:spcBef>
                <a:spcPts val="0"/>
              </a:spcBef>
              <a:spcAft>
                <a:spcPts val="0"/>
              </a:spcAft>
            </a:pPr>
            <a:r>
              <a:rPr sz="1550" b="0" lang="zh-CN">
                <a:solidFill>
                  <a:srgbClr val="172629"/>
                </a:solidFill>
                <a:latin typeface="Microsoft YaHei"/>
                <a:ea typeface="Microsoft YaHei"/>
                <a:cs typeface="Microsoft YaHei"/>
              </a:rPr>
              <a:t>SLA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13.1  效果验证结果：冻结五项</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当前运行源码在公开合成冻结回归上满足五项门槛，结论限定于本表配置。</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W、R；HashEmbedding 公开合成冻结回归</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38 / 53</a:t>
            </a:r>
          </a:p>
        </p:txBody>
      </p:sp>
      <p:graphicFrame>
        <p:nvGraphicFramePr>
          <p:cNvPr id="9" name="editable_table:13.1"/>
          <p:cNvGraphicFramePr>
            <a:graphicFrameLocks noGrp="1"/>
          </p:cNvGraphicFramePr>
          <p:nvPr/>
        </p:nvGraphicFramePr>
        <p:xfrm>
          <a:off x="612648" y="1847088"/>
          <a:ext cx="10972800" cy="2422392"/>
        </p:xfrm>
        <a:graphic>
          <a:graphicData uri="http://schemas.openxmlformats.org/drawingml/2006/table">
            <a:tbl>
              <a:tblPr firstRow="1" bandRow="1">
                <a:tableStyleId>{5C22544A-7EE6-4342-B048-85BDC9FD1C3A}</a:tableStyleId>
              </a:tblPr>
              <a:tblGrid>
                <a:gridCol w="3511296"/>
                <a:gridCol w="2743200"/>
                <a:gridCol w="2194560"/>
                <a:gridCol w="2523744"/>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指标</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本次结果</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不同请求数</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门槛</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偏好准确率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100.00%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68</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≥85%</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知识 Recall@3</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100.00%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60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≥85%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冲突正确率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100.00%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60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≥88%</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检索 P95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48.145ms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80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≤500ms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敏感实体微 F1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100.00%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50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≥90%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偏好 / 召回 / 冲突 / 实体微F1：本配置</a:t>
            </a:r>
          </a:p>
          <a:p>
            <a:pPr algn="l">
              <a:lnSpc>
                <a:spcPts val="1798"/>
              </a:lnSpc>
              <a:spcBef>
                <a:spcPts val="0"/>
              </a:spcBef>
              <a:spcAft>
                <a:spcPts val="0"/>
              </a:spcAft>
            </a:pPr>
            <a:r>
              <a:rPr sz="1550" b="0" lang="zh-CN">
                <a:solidFill>
                  <a:srgbClr val="172629"/>
                </a:solidFill>
                <a:latin typeface="Microsoft YaHei"/>
                <a:ea typeface="Microsoft YaHei"/>
                <a:cs typeface="Microsoft YaHei"/>
              </a:rPr>
              <a:t>均100%</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服务检索P95：48.145ms / 80不同查询</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392项测试无失败，1项跳过；17项工程</a:t>
            </a:r>
          </a:p>
          <a:p>
            <a:pPr algn="l">
              <a:lnSpc>
                <a:spcPts val="1798"/>
              </a:lnSpc>
              <a:spcBef>
                <a:spcPts val="0"/>
              </a:spcBef>
              <a:spcAft>
                <a:spcPts val="0"/>
              </a:spcAft>
            </a:pPr>
            <a:r>
              <a:rPr sz="1550" b="0" lang="zh-CN">
                <a:solidFill>
                  <a:srgbClr val="172629"/>
                </a:solidFill>
                <a:latin typeface="Microsoft YaHei"/>
                <a:ea typeface="Microsoft YaHei"/>
                <a:cs typeface="Microsoft YaHei"/>
              </a:rPr>
              <a:t>检查</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13.2  效果验证结果：复杂完整性</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原失败题保留在固定分母内；新默认在所有规模、干扰配置和三轮中满足修复门槛。</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C、E、N；三个 optimization_gates_passed=true</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39 / 53</a:t>
            </a:r>
          </a:p>
        </p:txBody>
      </p:sp>
      <p:graphicFrame>
        <p:nvGraphicFramePr>
          <p:cNvPr id="9" name="editable_table:13.2"/>
          <p:cNvGraphicFramePr>
            <a:graphicFrameLocks noGrp="1"/>
          </p:cNvGraphicFramePr>
          <p:nvPr/>
        </p:nvGraphicFramePr>
        <p:xfrm>
          <a:off x="612648" y="1847088"/>
          <a:ext cx="10972800" cy="1556512"/>
        </p:xfrm>
        <a:graphic>
          <a:graphicData uri="http://schemas.openxmlformats.org/drawingml/2006/table">
            <a:tbl>
              <a:tblPr firstRow="1" bandRow="1">
                <a:tableStyleId>{5C22544A-7EE6-4342-B048-85BDC9FD1C3A}</a:tableStyleId>
              </a:tblPr>
              <a:tblGrid>
                <a:gridCol w="3072384"/>
                <a:gridCol w="1975104"/>
                <a:gridCol w="1975104"/>
                <a:gridCol w="1975104"/>
                <a:gridCol w="1975104"/>
              </a:tblGrid>
              <a:tr h="389128">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数据 / 条件</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完整正例</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多文档完整</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正确拒答</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作用域正确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38912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原120 / 无约束</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72/72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12/12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24/24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24/24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8912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约束48 / 开启</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24/24</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6/6</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12/12</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12/12</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38912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约束48 / 关闭</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24/24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6/6</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12/12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12/12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TextBox 9"/>
          <p:cNvSpPr txBox="1"/>
          <p:nvPr/>
        </p:nvSpPr>
        <p:spPr>
          <a:xfrm>
            <a:off x="704088" y="5349240"/>
            <a:ext cx="10789920" cy="411480"/>
          </a:xfrm>
          <a:prstGeom prst="rect">
            <a:avLst/>
          </a:prstGeom>
          <a:noFill/>
        </p:spPr>
        <p:txBody>
          <a:bodyPr wrap="none" lIns="0" rIns="0" tIns="0" bIns="0" anchor="t">
            <a:noAutofit/>
          </a:bodyPr>
          <a:lstStyle/>
          <a:p>
            <a:pPr algn="l">
              <a:lnSpc>
                <a:spcPts val="1495"/>
              </a:lnSpc>
              <a:spcBef>
                <a:spcPts val="0"/>
              </a:spcBef>
              <a:spcAft>
                <a:spcPts val="0"/>
              </a:spcAft>
            </a:pPr>
            <a:r>
              <a:rPr sz="1300" b="0" lang="zh-CN">
                <a:solidFill>
                  <a:srgbClr val="9D4B28"/>
                </a:solidFill>
                <a:latin typeface="Microsoft YaHei"/>
                <a:ea typeface="Microsoft YaHei"/>
                <a:cs typeface="Microsoft YaHei"/>
              </a:rPr>
              <a:t>三策略总 all_targets_met=false 包含旧对照失败；新策略看逐配置和比较器结论。</a:t>
            </a:r>
          </a:p>
        </p:txBody>
      </p:sp>
      <p:sp>
        <p:nvSpPr>
          <p:cNvPr id="11" name="Rectangle 10"/>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原120题：72/72完整、24/24拒答</a:t>
            </a:r>
          </a:p>
        </p:txBody>
      </p:sp>
      <p:sp>
        <p:nvSpPr>
          <p:cNvPr id="13" name="Rectangle 12"/>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约束48题开/关：24/24完整、12/12拒</a:t>
            </a:r>
          </a:p>
          <a:p>
            <a:pPr algn="l">
              <a:lnSpc>
                <a:spcPts val="1798"/>
              </a:lnSpc>
              <a:spcBef>
                <a:spcPts val="0"/>
              </a:spcBef>
              <a:spcAft>
                <a:spcPts val="0"/>
              </a:spcAft>
            </a:pPr>
            <a:r>
              <a:rPr sz="1550" b="0" lang="zh-CN">
                <a:solidFill>
                  <a:srgbClr val="172629"/>
                </a:solidFill>
                <a:latin typeface="Microsoft YaHei"/>
                <a:ea typeface="Microsoft YaHei"/>
                <a:cs typeface="Microsoft YaHei"/>
              </a:rPr>
              <a:t>答</a:t>
            </a:r>
          </a:p>
        </p:txBody>
      </p:sp>
      <p:sp>
        <p:nvSpPr>
          <p:cNvPr id="15" name="Rectangle 14"/>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所有配置三轮通过，旧失败控制组仍保</a:t>
            </a:r>
          </a:p>
          <a:p>
            <a:pPr algn="l">
              <a:lnSpc>
                <a:spcPts val="1798"/>
              </a:lnSpc>
              <a:spcBef>
                <a:spcPts val="0"/>
              </a:spcBef>
              <a:spcAft>
                <a:spcPts val="0"/>
              </a:spcAft>
            </a:pPr>
            <a:r>
              <a:rPr sz="1550" b="0" lang="zh-CN">
                <a:solidFill>
                  <a:srgbClr val="172629"/>
                </a:solidFill>
                <a:latin typeface="Microsoft YaHei"/>
                <a:ea typeface="Microsoft YaHei"/>
                <a:cs typeface="Microsoft YaHei"/>
              </a:rPr>
              <a:t>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13.3  排序质量与残余干扰</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100%完整召回仍会返回无关片段，因此同步报告固定槽位精度、排序和干扰分子/分母。</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C/E/N，10,000条、75%填充、首轮</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40 / 53</a:t>
            </a:r>
          </a:p>
        </p:txBody>
      </p:sp>
      <p:graphicFrame>
        <p:nvGraphicFramePr>
          <p:cNvPr id="9" name="editable_table:13.3"/>
          <p:cNvGraphicFramePr>
            <a:graphicFrameLocks noGrp="1"/>
          </p:cNvGraphicFramePr>
          <p:nvPr/>
        </p:nvGraphicFramePr>
        <p:xfrm>
          <a:off x="612648" y="1847088"/>
          <a:ext cx="10972799" cy="2880360"/>
        </p:xfrm>
        <a:graphic>
          <a:graphicData uri="http://schemas.openxmlformats.org/drawingml/2006/table">
            <a:tbl>
              <a:tblPr firstRow="1" bandRow="1">
                <a:tableStyleId>{5C22544A-7EE6-4342-B048-85BDC9FD1C3A}</a:tableStyleId>
              </a:tblPr>
              <a:tblGrid>
                <a:gridCol w="2743200"/>
                <a:gridCol w="1645919"/>
                <a:gridCol w="1426464"/>
                <a:gridCol w="1426464"/>
                <a:gridCol w="1426464"/>
                <a:gridCol w="2304288"/>
              </a:tblGrid>
              <a:tr h="389128">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数据/策略</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Recall@3</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P@3</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MRR</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nDCG</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1" lang="zh-CN">
                          <a:solidFill>
                            <a:srgbClr val="FFFFFF"/>
                          </a:solidFill>
                          <a:latin typeface="Microsoft YaHei"/>
                          <a:ea typeface="Microsoft YaHei"/>
                          <a:cs typeface="Microsoft YaHei"/>
                        </a:rPr>
                        <a:t>干扰</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62280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原120 / 旧默认</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94.44%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37.04%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0.8773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0.8891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110/190</a:t>
                      </a:r>
                    </a:p>
                    <a:p>
                      <a:pPr>
                        <a:lnSpc>
                          <a:spcPts val="1839"/>
                        </a:lnSpc>
                        <a:spcBef>
                          <a:spcPts val="0"/>
                        </a:spcBef>
                        <a:spcAft>
                          <a:spcPts val="0"/>
                        </a:spcAft>
                      </a:pPr>
                      <a:r>
                        <a:rPr sz="1600" b="0" lang="zh-CN">
                          <a:solidFill>
                            <a:srgbClr val="172629"/>
                          </a:solidFill>
                          <a:latin typeface="Microsoft YaHei"/>
                          <a:ea typeface="Microsoft YaHei"/>
                          <a:cs typeface="Microsoft YaHei"/>
                        </a:rPr>
                        <a:t>57.89%</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2280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原120 / 新默认</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100.00%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38.89%</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0.9444</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0.9590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39/123</a:t>
                      </a:r>
                    </a:p>
                    <a:p>
                      <a:pPr>
                        <a:lnSpc>
                          <a:spcPts val="1839"/>
                        </a:lnSpc>
                        <a:spcBef>
                          <a:spcPts val="0"/>
                        </a:spcBef>
                        <a:spcAft>
                          <a:spcPts val="0"/>
                        </a:spcAft>
                      </a:pPr>
                      <a:r>
                        <a:rPr sz="1600" b="0" lang="zh-CN">
                          <a:solidFill>
                            <a:srgbClr val="172629"/>
                          </a:solidFill>
                          <a:latin typeface="Microsoft YaHei"/>
                          <a:ea typeface="Microsoft YaHei"/>
                          <a:cs typeface="Microsoft YaHei"/>
                        </a:rPr>
                        <a:t>31.71%</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2280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约束48 / 开启</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100.00%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41.67%</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0.9583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0.9659</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9/39</a:t>
                      </a:r>
                    </a:p>
                    <a:p>
                      <a:pPr>
                        <a:lnSpc>
                          <a:spcPts val="1839"/>
                        </a:lnSpc>
                        <a:spcBef>
                          <a:spcPts val="0"/>
                        </a:spcBef>
                        <a:spcAft>
                          <a:spcPts val="0"/>
                        </a:spcAft>
                      </a:pPr>
                      <a:r>
                        <a:rPr sz="1600" b="0" lang="zh-CN">
                          <a:solidFill>
                            <a:srgbClr val="172629"/>
                          </a:solidFill>
                          <a:latin typeface="Microsoft YaHei"/>
                          <a:ea typeface="Microsoft YaHei"/>
                          <a:cs typeface="Microsoft YaHei"/>
                        </a:rPr>
                        <a:t>23.08%</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622808">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约束48 / 关闭</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100.00%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41.67%</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0.9583</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0.9659</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39"/>
                        </a:lnSpc>
                        <a:spcBef>
                          <a:spcPts val="0"/>
                        </a:spcBef>
                        <a:spcAft>
                          <a:spcPts val="0"/>
                        </a:spcAft>
                      </a:pPr>
                      <a:r>
                        <a:rPr sz="1600" b="0" lang="zh-CN">
                          <a:solidFill>
                            <a:srgbClr val="172629"/>
                          </a:solidFill>
                          <a:latin typeface="Microsoft YaHei"/>
                          <a:ea typeface="Microsoft YaHei"/>
                          <a:cs typeface="Microsoft YaHei"/>
                        </a:rPr>
                        <a:t>9/39</a:t>
                      </a:r>
                    </a:p>
                    <a:p>
                      <a:pPr>
                        <a:lnSpc>
                          <a:spcPts val="1839"/>
                        </a:lnSpc>
                        <a:spcBef>
                          <a:spcPts val="0"/>
                        </a:spcBef>
                        <a:spcAft>
                          <a:spcPts val="0"/>
                        </a:spcAft>
                      </a:pPr>
                      <a:r>
                        <a:rPr sz="1600" b="0" lang="zh-CN">
                          <a:solidFill>
                            <a:srgbClr val="172629"/>
                          </a:solidFill>
                          <a:latin typeface="Microsoft YaHei"/>
                          <a:ea typeface="Microsoft YaHei"/>
                          <a:cs typeface="Microsoft YaHei"/>
                        </a:rPr>
                        <a:t>23.08%</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原集：干扰110/190 → 39/123</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约束集：干扰9/39，仍非零</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完整召回 ≠ 零干扰 ≠ 最终回答正确</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13.4  全矩阵检索 P95：原120请求</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每格按三轮顺序列出毫秒值，保留慢轮，不用最快一轮代表总体。</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C/E/N；MemoryService.search，不含HTTP与Agent</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41 / 53</a:t>
            </a:r>
          </a:p>
        </p:txBody>
      </p:sp>
      <p:graphicFrame>
        <p:nvGraphicFramePr>
          <p:cNvPr id="9" name="editable_table:13.4"/>
          <p:cNvGraphicFramePr>
            <a:graphicFrameLocks noGrp="1"/>
          </p:cNvGraphicFramePr>
          <p:nvPr/>
        </p:nvGraphicFramePr>
        <p:xfrm>
          <a:off x="612648" y="1847088"/>
          <a:ext cx="10972800" cy="1982150"/>
        </p:xfrm>
        <a:graphic>
          <a:graphicData uri="http://schemas.openxmlformats.org/drawingml/2006/table">
            <a:tbl>
              <a:tblPr firstRow="1" bandRow="1">
                <a:tableStyleId>{5C22544A-7EE6-4342-B048-85BDC9FD1C3A}</a:tableStyleId>
              </a:tblPr>
              <a:tblGrid>
                <a:gridCol w="1975104"/>
                <a:gridCol w="1975104"/>
                <a:gridCol w="3511296"/>
                <a:gridCol w="3511296"/>
              </a:tblGrid>
              <a:tr h="396430">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数据/约束</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记录/相似填充</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旧默认 三轮P95(ms)</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新默认 三轮P95(ms)</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原120 / 无约束</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 / 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7.996 / 7.691 / 8.063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12.742 / 13.971 / 12.202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原120 / 无约束</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 / 75%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8.471 / 7.985 / 8.268</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25.850 / 25.278 / 25.889</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原120 / 无约束</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10,000 / 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38.909 / 39.110 / 39.592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46.591 / 45.838 / 39.297</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原120 / 无约束</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10,000 / 75%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39.399 / 39.311 / 38.950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67.605 / 66.067 / 66.724</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12种配置 × 3轮，新默认均≤500ms</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原复杂集为质量增加计算开销</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约束开/关分开报告，不挑最快配置</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13.4  全矩阵检索 P95：约束48请求</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每格按三轮顺序列出毫秒值，保留慢轮，不用最快一轮代表总体。</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C/E/N；MemoryService.search，不含HTTP与Agent</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42 / 53</a:t>
            </a:r>
          </a:p>
        </p:txBody>
      </p:sp>
      <p:graphicFrame>
        <p:nvGraphicFramePr>
          <p:cNvPr id="9" name="editable_table:13.4"/>
          <p:cNvGraphicFramePr>
            <a:graphicFrameLocks noGrp="1"/>
          </p:cNvGraphicFramePr>
          <p:nvPr/>
        </p:nvGraphicFramePr>
        <p:xfrm>
          <a:off x="612648" y="1847088"/>
          <a:ext cx="10972800" cy="3567870"/>
        </p:xfrm>
        <a:graphic>
          <a:graphicData uri="http://schemas.openxmlformats.org/drawingml/2006/table">
            <a:tbl>
              <a:tblPr firstRow="1" bandRow="1">
                <a:tableStyleId>{5C22544A-7EE6-4342-B048-85BDC9FD1C3A}</a:tableStyleId>
              </a:tblPr>
              <a:tblGrid>
                <a:gridCol w="1975104"/>
                <a:gridCol w="1975104"/>
                <a:gridCol w="3511296"/>
                <a:gridCol w="3511296"/>
              </a:tblGrid>
              <a:tr h="396430">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数据/约束</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记录/相似填充</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旧默认 三轮P95(ms)</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1" lang="zh-CN">
                          <a:solidFill>
                            <a:srgbClr val="FFFFFF"/>
                          </a:solidFill>
                          <a:latin typeface="Microsoft YaHei"/>
                          <a:ea typeface="Microsoft YaHei"/>
                          <a:cs typeface="Microsoft YaHei"/>
                        </a:rPr>
                        <a:t>新默认 三轮P95(ms)</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开启</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 / 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1.556 / 1.574 / 1.662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3.505 / 3.338 / 3.316</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开启</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 / 75%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2.071 / 2.230 / 2.095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3.494 / 4.152 / 3.506</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开启</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10,000 / 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12.075 / 11.911 / 13.094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12.338 / 11.480 / 12.036</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开启</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10,000 / 75%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16.730 / 16.497 / 15.876</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16.150 / 15.600 / 15.456</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关闭</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 / 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8.178 / 7.668 / 7.843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3.303 / 3.518 / 3.114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关闭</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 / 75%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8.845 / 8.723 / 8.614</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3.380 / 3.878 / 3.514</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关闭</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10,000 / 0%</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39.964 / 40.310 / 38.181</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12.105 / 11.627 / 12.194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396430">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约束48 / 关闭</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10,000 / 75%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43.176 / 40.597 / 40.163</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897"/>
                        </a:lnSpc>
                        <a:spcBef>
                          <a:spcPts val="0"/>
                        </a:spcBef>
                        <a:spcAft>
                          <a:spcPts val="0"/>
                        </a:spcAft>
                      </a:pPr>
                      <a:r>
                        <a:rPr sz="1650" b="0" lang="zh-CN">
                          <a:solidFill>
                            <a:srgbClr val="172629"/>
                          </a:solidFill>
                          <a:latin typeface="Microsoft YaHei"/>
                          <a:ea typeface="Microsoft YaHei"/>
                          <a:cs typeface="Microsoft YaHei"/>
                        </a:rPr>
                        <a:t>16.447 / 15.452 / 15.696</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12种配置 × 3轮，新默认均≤500ms</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原复杂集为质量增加计算开销</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约束开/关分开报告，不挑最快配置</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13.5  分层延迟与真实服务负载</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正例、无答案与作用域负例分开看，避免快速空返回掩盖实际证据检索耗时。</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S；证据 C/E/N 的 groups</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43 / 53</a:t>
            </a:r>
          </a:p>
        </p:txBody>
      </p:sp>
      <p:graphicFrame>
        <p:nvGraphicFramePr>
          <p:cNvPr id="9" name="editable_table:13.5"/>
          <p:cNvGraphicFramePr>
            <a:graphicFrameLocks noGrp="1"/>
          </p:cNvGraphicFramePr>
          <p:nvPr/>
        </p:nvGraphicFramePr>
        <p:xfrm>
          <a:off x="612648" y="1847088"/>
          <a:ext cx="10972798" cy="3229856"/>
        </p:xfrm>
        <a:graphic>
          <a:graphicData uri="http://schemas.openxmlformats.org/drawingml/2006/table">
            <a:tbl>
              <a:tblPr firstRow="1" bandRow="1">
                <a:tableStyleId>{5C22544A-7EE6-4342-B048-85BDC9FD1C3A}</a:tableStyleId>
              </a:tblPr>
              <a:tblGrid>
                <a:gridCol w="3182111"/>
                <a:gridCol w="1865376"/>
                <a:gridCol w="1865376"/>
                <a:gridCol w="4059935"/>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服务负载</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100条</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1,000条</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计时边界</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整批接入 ms</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211.062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4558.264</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MemoryService.ingest</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单条增量 ms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48.868</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350.052</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接入、状态与持久化</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重启加载 ms</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30.959</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220.942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恢复同一SQLite</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服务查询 P50 ms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3.092</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8.527</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服务调用</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服务查询 P95 ms</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3.857</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9.882</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服务调用</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服务查询 P99 ms</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4.901</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10.415</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服务调用</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HTTP 查询 P99 ms</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16.936</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18.543</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HTTP往返，非服务P95</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正例/拒答/作用域P95单列</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1千条：服务P95 9.882ms，HTTP P99</a:t>
            </a:r>
          </a:p>
          <a:p>
            <a:pPr algn="l">
              <a:lnSpc>
                <a:spcPts val="1798"/>
              </a:lnSpc>
              <a:spcBef>
                <a:spcPts val="0"/>
              </a:spcBef>
              <a:spcAft>
                <a:spcPts val="0"/>
              </a:spcAft>
            </a:pPr>
            <a:r>
              <a:rPr sz="1550" b="0" lang="zh-CN">
                <a:solidFill>
                  <a:srgbClr val="172629"/>
                </a:solidFill>
                <a:latin typeface="Microsoft YaHei"/>
                <a:ea typeface="Microsoft YaHei"/>
                <a:cs typeface="Microsoft YaHei"/>
              </a:rPr>
              <a:t>18.543ms</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RSS高水位和模型内存不混用</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第13章  测试结果与指标分析</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13.6  历史诊断、失败留证与限制</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主回归达标不能覆盖其他诊断的低分，也不能把修复后的公开题称为未见测试。</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W 的 official_diagnostics；docs/45</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44 / 53</a:t>
            </a:r>
          </a:p>
        </p:txBody>
      </p:sp>
      <p:graphicFrame>
        <p:nvGraphicFramePr>
          <p:cNvPr id="9" name="editable_table:13.6"/>
          <p:cNvGraphicFramePr>
            <a:graphicFrameLocks noGrp="1"/>
          </p:cNvGraphicFramePr>
          <p:nvPr/>
        </p:nvGraphicFramePr>
        <p:xfrm>
          <a:off x="612648" y="1847088"/>
          <a:ext cx="10972799" cy="2018660"/>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证据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保留的事实</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不得推断</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旧小诊断</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偏好46.15%，不足50独立请求</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不能宣称所有数据集全部达标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旧策略控制组</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继续保留失败与总false标志</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不能修改报告伪装全策略通过</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开发/追加反例</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20+10题均公开可见</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不是独立盲测</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真实SDK/V11</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风险和当前源码复验单列</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不能沿用Hash或历史部署成绩</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旧诊断低分和首次失败原样披露</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公开回归修复不等于泛化</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SDK、V11、Agent/Judge、授权案例</a:t>
            </a:r>
          </a:p>
          <a:p>
            <a:pPr algn="l">
              <a:lnSpc>
                <a:spcPts val="1798"/>
              </a:lnSpc>
              <a:spcBef>
                <a:spcPts val="0"/>
              </a:spcBef>
              <a:spcAft>
                <a:spcPts val="0"/>
              </a:spcAft>
            </a:pPr>
            <a:r>
              <a:rPr sz="1550" b="0" lang="zh-CN">
                <a:solidFill>
                  <a:srgbClr val="172629"/>
                </a:solidFill>
                <a:latin typeface="Microsoft YaHei"/>
                <a:ea typeface="Microsoft YaHei"/>
                <a:cs typeface="Microsoft YaHei"/>
              </a:rPr>
              <a:t>各自验收</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第14章  场景案例与应用边界</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14.1  场景案例：终端升级与回滚证据</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以下为公开合成的 OS 任务场景，不是已授权真实用户项目；输入、标注和返回均可复核。</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依据：data/eval/complex_constraints_v1.json；证据 E/N：rollout-q1</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45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case_upgrade: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用户查询</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unit_mismatch后</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核对、恢复、保留证据</a:t>
            </a:r>
          </a:p>
        </p:txBody>
      </p:sp>
      <p:sp>
        <p:nvSpPr>
          <p:cNvPr id="18" name="diagram:case_upgrade: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设备与版本</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AE-17 / v2.4</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排除近邻与其他版本</a:t>
            </a:r>
          </a:p>
        </p:txBody>
      </p:sp>
      <p:sp>
        <p:nvSpPr>
          <p:cNvPr id="22" name="diagram:case_upgrade: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条件章节</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29"/>
              </a:lnSpc>
              <a:spcBef>
                <a:spcPts val="0"/>
              </a:spcBef>
              <a:spcAft>
                <a:spcPts val="0"/>
              </a:spcAft>
            </a:pPr>
            <a:r>
              <a:rPr sz="1940" b="0" lang="zh-CN">
                <a:solidFill>
                  <a:srgbClr val="172629"/>
                </a:solidFill>
                <a:latin typeface="Microsoft YaHei"/>
                <a:ea typeface="Microsoft YaHei"/>
                <a:cs typeface="Microsoft YaHei"/>
              </a:rPr>
              <a:t>APPROVED + 双人签名</a:t>
            </a:r>
          </a:p>
          <a:p>
            <a:pPr algn="ctr">
              <a:lnSpc>
                <a:spcPts val="2329"/>
              </a:lnSpc>
              <a:spcBef>
                <a:spcPts val="0"/>
              </a:spcBef>
              <a:spcAft>
                <a:spcPts val="0"/>
              </a:spcAft>
            </a:pPr>
            <a:r>
              <a:rPr sz="1940" b="0" lang="zh-CN">
                <a:solidFill>
                  <a:srgbClr val="172629"/>
                </a:solidFill>
                <a:latin typeface="Microsoft YaHei"/>
                <a:ea typeface="Microsoft YaHei"/>
                <a:cs typeface="Microsoft YaHei"/>
              </a:rPr>
              <a:t>备份摘要变化需重验</a:t>
            </a:r>
          </a:p>
        </p:txBody>
      </p:sp>
      <p:sp>
        <p:nvSpPr>
          <p:cNvPr id="26" name="diagram:case_upgrade: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回滚章节</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核对行数/单位</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维护写入→旧启动项</a:t>
            </a:r>
          </a:p>
        </p:txBody>
      </p:sp>
      <p:sp>
        <p:nvSpPr>
          <p:cNvPr id="30" name="diagram:case_upgrade: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完整召回</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condition + evidence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两份标注证据找齐</a:t>
            </a:r>
          </a:p>
        </p:txBody>
      </p:sp>
      <p:sp>
        <p:nvSpPr>
          <p:cNvPr id="34" name="diagram:case_upgrade: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应用边界</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上层核验并执行确认</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本例未操作真实设备</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公开合成案例；约束开/关均通过，不是授权真实用户部署成绩。</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AE-17 v2.4：切换条件 + 回滚证据两份</a:t>
            </a:r>
          </a:p>
          <a:p>
            <a:pPr algn="l">
              <a:lnSpc>
                <a:spcPts val="1798"/>
              </a:lnSpc>
              <a:spcBef>
                <a:spcPts val="0"/>
              </a:spcBef>
              <a:spcAft>
                <a:spcPts val="0"/>
              </a:spcAft>
            </a:pPr>
            <a:r>
              <a:rPr sz="1550" b="0" lang="zh-CN">
                <a:solidFill>
                  <a:srgbClr val="172629"/>
                </a:solidFill>
                <a:latin typeface="Microsoft YaHei"/>
                <a:ea typeface="Microsoft YaHei"/>
                <a:cs typeface="Microsoft YaHei"/>
              </a:rPr>
              <a:t>材料</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约束开/关均完整召回，邻机和旧版不替</a:t>
            </a:r>
          </a:p>
          <a:p>
            <a:pPr algn="l">
              <a:lnSpc>
                <a:spcPts val="1798"/>
              </a:lnSpc>
              <a:spcBef>
                <a:spcPts val="0"/>
              </a:spcBef>
              <a:spcAft>
                <a:spcPts val="0"/>
              </a:spcAft>
            </a:pPr>
            <a:r>
              <a:rPr sz="1550" b="0" lang="zh-CN">
                <a:solidFill>
                  <a:srgbClr val="172629"/>
                </a:solidFill>
                <a:latin typeface="Microsoft YaHei"/>
                <a:ea typeface="Microsoft YaHei"/>
                <a:cs typeface="Microsoft YaHei"/>
              </a:rPr>
              <a:t>代</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展示真实返回链路，不声称真实设备操</a:t>
            </a:r>
          </a:p>
          <a:p>
            <a:pPr algn="l">
              <a:lnSpc>
                <a:spcPts val="1798"/>
              </a:lnSpc>
              <a:spcBef>
                <a:spcPts val="0"/>
              </a:spcBef>
              <a:spcAft>
                <a:spcPts val="0"/>
              </a:spcAft>
            </a:pPr>
            <a:r>
              <a:rPr sz="1550" b="0" lang="zh-CN">
                <a:solidFill>
                  <a:srgbClr val="172629"/>
                </a:solidFill>
                <a:latin typeface="Microsoft YaHei"/>
                <a:ea typeface="Microsoft YaHei"/>
                <a:cs typeface="Microsoft YaHei"/>
              </a:rPr>
              <a:t>作成功</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第14章  场景案例与应用边界</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14.2  场景案例：版本缺失与关系缺证据</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明确区分“有相似文档”与“文档支持所问事实”，展示负例而不是只展示成功题。</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依据：证据 E/N；上述请求在所有配置、三轮均保留</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46 / 53</a:t>
            </a:r>
          </a:p>
        </p:txBody>
      </p:sp>
      <p:graphicFrame>
        <p:nvGraphicFramePr>
          <p:cNvPr id="9" name="editable_table:14.2"/>
          <p:cNvGraphicFramePr>
            <a:graphicFrameLocks noGrp="1"/>
          </p:cNvGraphicFramePr>
          <p:nvPr/>
        </p:nvGraphicFramePr>
        <p:xfrm>
          <a:off x="612648" y="1847088"/>
          <a:ext cx="10972800" cy="2018660"/>
        </p:xfrm>
        <a:graphic>
          <a:graphicData uri="http://schemas.openxmlformats.org/drawingml/2006/table">
            <a:tbl>
              <a:tblPr firstRow="1" bandRow="1">
                <a:tableStyleId>{5C22544A-7EE6-4342-B048-85BDC9FD1C3A}</a:tableStyleId>
              </a:tblPr>
              <a:tblGrid>
                <a:gridCol w="3730752"/>
                <a:gridCol w="4389120"/>
                <a:gridCol w="2852928"/>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请求ID</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所问内容</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新默认（约束开/关）</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rollout-absent-version</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不存在正式版本的升级条件</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均返回 []，正确拒答</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rollout-unsupported</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硬件原子恢复的微秒保证</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均返回 []，正确拒答</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rollout-scope-tenant</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不存在租户请求升级条件</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均返回 []，作用域正确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rollout-scope-user</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不存在用户请求升级条件</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均返回 []，作用域正确</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缺版本：不能拿相似版本替代</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缺关系证据：不能从同主题推导硬件保</a:t>
            </a:r>
          </a:p>
          <a:p>
            <a:pPr algn="l">
              <a:lnSpc>
                <a:spcPts val="1798"/>
              </a:lnSpc>
              <a:spcBef>
                <a:spcPts val="0"/>
              </a:spcBef>
              <a:spcAft>
                <a:spcPts val="0"/>
              </a:spcAft>
            </a:pPr>
            <a:r>
              <a:rPr sz="1550" b="0" lang="zh-CN">
                <a:solidFill>
                  <a:srgbClr val="172629"/>
                </a:solidFill>
                <a:latin typeface="Microsoft YaHei"/>
                <a:ea typeface="Microsoft YaHei"/>
                <a:cs typeface="Microsoft YaHei"/>
              </a:rPr>
              <a:t>证</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权限必空与内容缺证据分开计分</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第14章  场景案例与应用边界</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14.4  授权真实案例的采集与验收</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提交规则要求真实场景案例；当前具备可复现合成场景，真实授权业务案例仍需补证。</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依据：官方提交规则；case_studies/；docs/16</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47 / 53</a:t>
            </a:r>
          </a:p>
        </p:txBody>
      </p:sp>
      <p:graphicFrame>
        <p:nvGraphicFramePr>
          <p:cNvPr id="9" name="editable_table:14.4"/>
          <p:cNvGraphicFramePr>
            <a:graphicFrameLocks noGrp="1"/>
          </p:cNvGraphicFramePr>
          <p:nvPr/>
        </p:nvGraphicFramePr>
        <p:xfrm>
          <a:off x="612648" y="1847088"/>
          <a:ext cx="10972799" cy="2422392"/>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记录项</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应留存内容</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本版状态</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授权与匿名化</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用途、范围、撤回、身份隔离</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待真实采集</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任务与真值</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原任务、预期、独立人工核验</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待真实采集</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执行与结果</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工具文件、返回证据、失败轨迹</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当前只有合成回归</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性能与资源</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配置、逐任务耗时、RSS/模型资源</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原生/真实业务另测</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对外展示</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脱敏截图及非身份化说明</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不得伪造或以合成冒充</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合成场景可复现，但不能冒充授权真实</a:t>
            </a:r>
          </a:p>
          <a:p>
            <a:pPr algn="l">
              <a:lnSpc>
                <a:spcPts val="1798"/>
              </a:lnSpc>
              <a:spcBef>
                <a:spcPts val="0"/>
              </a:spcBef>
              <a:spcAft>
                <a:spcPts val="0"/>
              </a:spcAft>
            </a:pPr>
            <a:r>
              <a:rPr sz="1550" b="0" lang="zh-CN">
                <a:solidFill>
                  <a:srgbClr val="172629"/>
                </a:solidFill>
                <a:latin typeface="Microsoft YaHei"/>
                <a:ea typeface="Microsoft YaHei"/>
                <a:cs typeface="Microsoft YaHei"/>
              </a:rPr>
              <a:t>案例</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采集任务、真值、真实工具结果和失败</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用途、匿名化与撤回范围先明确</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第15章  安装部署与用户手册</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15.1  用户手册：Windows 安装与启动</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以下命令在解压后的项目根目录执行；使用独立虚拟环境，不依赖原开发机路径。</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依据：docs/12；src/os_agent_memory/cli.py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48 / 53</a:t>
            </a:r>
          </a:p>
        </p:txBody>
      </p:sp>
      <p:sp>
        <p:nvSpPr>
          <p:cNvPr id="9" name="Rectangle 8"/>
          <p:cNvSpPr/>
          <p:nvPr/>
        </p:nvSpPr>
        <p:spPr>
          <a:xfrm>
            <a:off x="612648" y="1847088"/>
            <a:ext cx="10972800" cy="374903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57400"/>
            <a:ext cx="10561320" cy="3383280"/>
          </a:xfrm>
          <a:prstGeom prst="rect">
            <a:avLst/>
          </a:prstGeom>
          <a:noFill/>
        </p:spPr>
        <p:txBody>
          <a:bodyPr wrap="none" lIns="0" rIns="0" tIns="0" bIns="0" anchor="t">
            <a:noAutofit/>
          </a:bodyPr>
          <a:lstStyle/>
          <a:p>
            <a:pPr algn="l">
              <a:lnSpc>
                <a:spcPts val="2280"/>
              </a:lnSpc>
              <a:spcBef>
                <a:spcPts val="0"/>
              </a:spcBef>
              <a:spcAft>
                <a:spcPts val="0"/>
              </a:spcAft>
            </a:pPr>
            <a:r>
              <a:rPr sz="1900" b="0" lang="zh-CN">
                <a:solidFill>
                  <a:srgbClr val="172629"/>
                </a:solidFill>
                <a:latin typeface="Consolas"/>
                <a:ea typeface="Microsoft YaHei"/>
                <a:cs typeface="Microsoft YaHei"/>
              </a:rPr>
              <a:t>python --version</a:t>
            </a:r>
          </a:p>
          <a:p>
            <a:pPr algn="l">
              <a:lnSpc>
                <a:spcPts val="2280"/>
              </a:lnSpc>
              <a:spcBef>
                <a:spcPts val="0"/>
              </a:spcBef>
              <a:spcAft>
                <a:spcPts val="0"/>
              </a:spcAft>
            </a:pPr>
            <a:r>
              <a:rPr sz="1900" b="0" lang="zh-CN">
                <a:solidFill>
                  <a:srgbClr val="172629"/>
                </a:solidFill>
                <a:latin typeface="Consolas"/>
                <a:ea typeface="Microsoft YaHei"/>
                <a:cs typeface="Microsoft YaHei"/>
              </a:rPr>
              <a:t>python -m venv .venv</a:t>
            </a:r>
          </a:p>
          <a:p>
            <a:pPr algn="l">
              <a:lnSpc>
                <a:spcPts val="2280"/>
              </a:lnSpc>
              <a:spcBef>
                <a:spcPts val="0"/>
              </a:spcBef>
              <a:spcAft>
                <a:spcPts val="0"/>
              </a:spcAft>
            </a:pPr>
            <a:r>
              <a:rPr sz="1900" b="0" lang="zh-CN">
                <a:solidFill>
                  <a:srgbClr val="172629"/>
                </a:solidFill>
                <a:latin typeface="Consolas"/>
                <a:ea typeface="Microsoft YaHei"/>
                <a:cs typeface="Microsoft YaHei"/>
              </a:rPr>
              <a:t>$py = '.\.venv\Scripts\python.exe'</a:t>
            </a:r>
          </a:p>
          <a:p>
            <a:pPr algn="l">
              <a:lnSpc>
                <a:spcPts val="2280"/>
              </a:lnSpc>
              <a:spcBef>
                <a:spcPts val="0"/>
              </a:spcBef>
              <a:spcAft>
                <a:spcPts val="0"/>
              </a:spcAft>
            </a:pPr>
            <a:r>
              <a:rPr sz="1900" b="0" lang="zh-CN">
                <a:solidFill>
                  <a:srgbClr val="172629"/>
                </a:solidFill>
                <a:latin typeface="Consolas"/>
                <a:ea typeface="Microsoft YaHei"/>
                <a:cs typeface="Microsoft YaHei"/>
              </a:rPr>
              <a:t>&amp; $py -m pip install -e .</a:t>
            </a:r>
          </a:p>
          <a:p>
            <a:pPr algn="l">
              <a:lnSpc>
                <a:spcPts val="2280"/>
              </a:lnSpc>
              <a:spcBef>
                <a:spcPts val="0"/>
              </a:spcBef>
              <a:spcAft>
                <a:spcPts val="0"/>
              </a:spcAft>
            </a:pPr>
            <a:r>
              <a:rPr sz="1900" b="0" lang="zh-CN">
                <a:solidFill>
                  <a:srgbClr val="172629"/>
                </a:solidFill>
                <a:latin typeface="Consolas"/>
                <a:ea typeface="Microsoft YaHei"/>
                <a:cs typeface="Microsoft YaHei"/>
              </a:rPr>
              <a:t>&amp; $py -m os_agent_memory.cli doctor --workspace . `</a:t>
            </a:r>
          </a:p>
          <a:p>
            <a:pPr algn="l">
              <a:lnSpc>
                <a:spcPts val="2280"/>
              </a:lnSpc>
              <a:spcBef>
                <a:spcPts val="0"/>
              </a:spcBef>
              <a:spcAft>
                <a:spcPts val="0"/>
              </a:spcAft>
            </a:pPr>
            <a:r>
              <a:rPr sz="1900" b="0" lang="zh-CN">
                <a:solidFill>
                  <a:srgbClr val="172629"/>
                </a:solidFill>
                <a:latin typeface="Consolas"/>
                <a:ea typeface="Microsoft YaHei"/>
                <a:cs typeface="Microsoft YaHei"/>
              </a:rPr>
              <a:t>  --input data/samples/events.jsonl `</a:t>
            </a:r>
          </a:p>
          <a:p>
            <a:pPr algn="l">
              <a:lnSpc>
                <a:spcPts val="2280"/>
              </a:lnSpc>
              <a:spcBef>
                <a:spcPts val="0"/>
              </a:spcBef>
              <a:spcAft>
                <a:spcPts val="0"/>
              </a:spcAft>
            </a:pPr>
            <a:r>
              <a:rPr sz="1900" b="0" lang="zh-CN">
                <a:solidFill>
                  <a:srgbClr val="172629"/>
                </a:solidFill>
                <a:latin typeface="Consolas"/>
                <a:ea typeface="Microsoft YaHei"/>
                <a:cs typeface="Microsoft YaHei"/>
              </a:rPr>
              <a:t>  --suite data/eval/office_memory_eval_v2.json</a:t>
            </a:r>
          </a:p>
          <a:p>
            <a:pPr algn="l">
              <a:lnSpc>
                <a:spcPts val="2280"/>
              </a:lnSpc>
              <a:spcBef>
                <a:spcPts val="0"/>
              </a:spcBef>
              <a:spcAft>
                <a:spcPts val="0"/>
              </a:spcAft>
            </a:pPr>
            <a:r>
              <a:rPr sz="1900" b="0" lang="zh-CN">
                <a:solidFill>
                  <a:srgbClr val="172629"/>
                </a:solidFill>
                <a:latin typeface="Consolas"/>
                <a:ea typeface="Microsoft YaHei"/>
                <a:cs typeface="Microsoft YaHei"/>
              </a:rPr>
              <a:t>&amp; $py -m os_agent_memory.cli serve `</a:t>
            </a:r>
          </a:p>
          <a:p>
            <a:pPr algn="l">
              <a:lnSpc>
                <a:spcPts val="2280"/>
              </a:lnSpc>
              <a:spcBef>
                <a:spcPts val="0"/>
              </a:spcBef>
              <a:spcAft>
                <a:spcPts val="0"/>
              </a:spcAft>
            </a:pPr>
            <a:r>
              <a:rPr sz="1900" b="0" lang="zh-CN">
                <a:solidFill>
                  <a:srgbClr val="172629"/>
                </a:solidFill>
                <a:latin typeface="Consolas"/>
                <a:ea typeface="Microsoft YaHei"/>
                <a:cs typeface="Microsoft YaHei"/>
              </a:rPr>
              <a:t>  --input data/samples/events.jsonl `</a:t>
            </a:r>
          </a:p>
          <a:p>
            <a:pPr algn="l">
              <a:lnSpc>
                <a:spcPts val="2280"/>
              </a:lnSpc>
              <a:spcBef>
                <a:spcPts val="0"/>
              </a:spcBef>
              <a:spcAft>
                <a:spcPts val="0"/>
              </a:spcAft>
            </a:pPr>
            <a:r>
              <a:rPr sz="1900" b="0" lang="zh-CN">
                <a:solidFill>
                  <a:srgbClr val="172629"/>
                </a:solidFill>
                <a:latin typeface="Consolas"/>
                <a:ea typeface="Microsoft YaHei"/>
                <a:cs typeface="Microsoft YaHei"/>
              </a:rPr>
              <a:t>  --database artifacts/runtime/memory.sqlite --port 8765</a:t>
            </a:r>
          </a:p>
        </p:txBody>
      </p:sp>
      <p:sp>
        <p:nvSpPr>
          <p:cNvPr id="11" name="Rectangle 10"/>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项目根目录执行，独立venv</a:t>
            </a:r>
          </a:p>
        </p:txBody>
      </p:sp>
      <p:sp>
        <p:nvSpPr>
          <p:cNvPr id="13" name="Rectangle 12"/>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doctor后启动serve，默认</a:t>
            </a:r>
          </a:p>
          <a:p>
            <a:pPr algn="l">
              <a:lnSpc>
                <a:spcPts val="1798"/>
              </a:lnSpc>
              <a:spcBef>
                <a:spcPts val="0"/>
              </a:spcBef>
              <a:spcAft>
                <a:spcPts val="0"/>
              </a:spcAft>
            </a:pPr>
            <a:r>
              <a:rPr sz="1550" b="0" lang="zh-CN">
                <a:solidFill>
                  <a:srgbClr val="172629"/>
                </a:solidFill>
                <a:latin typeface="Microsoft YaHei"/>
                <a:ea typeface="Microsoft YaHei"/>
                <a:cs typeface="Microsoft YaHei"/>
              </a:rPr>
              <a:t>127.0.0.1:8765</a:t>
            </a:r>
          </a:p>
        </p:txBody>
      </p:sp>
      <p:sp>
        <p:nvSpPr>
          <p:cNvPr id="15" name="Rectangle 14"/>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端口冲突换8766，停止用Ctrl+C</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第15章  安装部署与用户手册</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15.3  用户手册：日常操作流程</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按“查看作用域—接入—核对版本—检索—处理冲突—预览确认遗忘”的顺序操作。</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依据：docs/演示操作手册.md；docs/13</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49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user_workflow: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确认作用域</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tenant / user / scene</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使用合成或授权数据</a:t>
            </a:r>
          </a:p>
        </p:txBody>
      </p:sp>
      <p:sp>
        <p:nvSpPr>
          <p:cNvPr id="18" name="diagram:user_workflow: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接入事件</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查看批次统计与issues</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核对晋升原因</a:t>
            </a:r>
          </a:p>
        </p:txBody>
      </p:sp>
      <p:sp>
        <p:nvSpPr>
          <p:cNvPr id="22" name="diagram:user_workflow: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偏好与版本</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读取当前值与历史</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检查显式修正</a:t>
            </a:r>
          </a:p>
        </p:txBody>
      </p:sp>
      <p:sp>
        <p:nvSpPr>
          <p:cNvPr id="26" name="diagram:user_workflow: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知识检索</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正文、状态、来源</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空结果查原因</a:t>
            </a:r>
          </a:p>
        </p:txBody>
      </p:sp>
      <p:sp>
        <p:nvSpPr>
          <p:cNvPr id="30" name="diagram:user_workflow: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处理冲突</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确认策略与目标</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核验终态</a:t>
            </a:r>
          </a:p>
        </p:txBody>
      </p:sp>
      <p:sp>
        <p:nvSpPr>
          <p:cNvPr id="34" name="diagram:user_workflow:node:6"/>
          <p:cNvSpPr/>
          <p:nvPr/>
        </p:nvSpPr>
        <p:spPr>
          <a:xfrm>
            <a:off x="1080058" y="3877284"/>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确认遗忘</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预览→核对→确认</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保存回执并重查</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演示reset仅限local-demo；生产身份、授权与执行权限由上层保障。</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先确认tenant / user / scene</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导入看issues，检索看实际证据</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冲突有决策，遗忘有预览和回执</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第16章  开发接口</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16.1  开发接口：读取与参数契约</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HTTP仅用于可信本机调用，外部系统集成必须先完成服务端身份绑定。</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依据：docs/13；src/os_agent_memory/service.py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50 / 53</a:t>
            </a:r>
          </a:p>
        </p:txBody>
      </p:sp>
      <p:graphicFrame>
        <p:nvGraphicFramePr>
          <p:cNvPr id="9" name="editable_table:16.1"/>
          <p:cNvGraphicFramePr>
            <a:graphicFrameLocks noGrp="1"/>
          </p:cNvGraphicFramePr>
          <p:nvPr/>
        </p:nvGraphicFramePr>
        <p:xfrm>
          <a:off x="612648" y="1847088"/>
          <a:ext cx="10972799" cy="2422392"/>
        </p:xfrm>
        <a:graphic>
          <a:graphicData uri="http://schemas.openxmlformats.org/drawingml/2006/table">
            <a:tbl>
              <a:tblPr firstRow="1" bandRow="1">
                <a:tableStyleId>{5C22544A-7EE6-4342-B048-85BDC9FD1C3A}</a:tableStyleId>
              </a:tblPr>
              <a:tblGrid>
                <a:gridCol w="2852928"/>
                <a:gridCol w="4279392"/>
                <a:gridCol w="3840479"/>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参数</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取值/约束</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集成注意</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tenant_id / user_id</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必须由可信身份系统提供</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不是客户端任意自报的权限</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retrieval_mode</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hybrid / lexical / semantic</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分数标度与校准需区分</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required_terms</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最多16字符串，每项1–128字符</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同文档都满足；不能读取标签生成</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evidence_policy</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v2默认；旧两策略可显式选</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未知值返回400</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include_pending</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默认false</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只用于诊断，不用于业务回答</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默认v2，评测top_k显式为3</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合法空结果与400/403/503严格区分</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身份字段由可信上层绑定</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第17章  行动评测与赛事验收</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17.1  官方跨会话行动评测对齐</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一个样本一个容器，跨会话保留长期记忆但清空短期历史，按真实行动文件而非口头承诺计分。</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依据：官方记忆评测方案；docs/26；src/os_agent_memory/action_evaluation.py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51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action: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控制器冻结</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206"/>
              </a:lnSpc>
              <a:spcBef>
                <a:spcPts val="0"/>
              </a:spcBef>
              <a:spcAft>
                <a:spcPts val="0"/>
              </a:spcAft>
            </a:pPr>
            <a:r>
              <a:rPr sz="1838" b="0" lang="zh-CN">
                <a:solidFill>
                  <a:srgbClr val="172629"/>
                </a:solidFill>
                <a:latin typeface="Microsoft YaHei"/>
                <a:ea typeface="Microsoft YaHei"/>
                <a:cs typeface="Microsoft YaHei"/>
              </a:rPr>
              <a:t>私有object.attribute账本</a:t>
            </a:r>
          </a:p>
          <a:p>
            <a:pPr algn="ctr">
              <a:lnSpc>
                <a:spcPts val="2206"/>
              </a:lnSpc>
              <a:spcBef>
                <a:spcPts val="0"/>
              </a:spcBef>
              <a:spcAft>
                <a:spcPts val="0"/>
              </a:spcAft>
            </a:pPr>
            <a:r>
              <a:rPr sz="1838" b="0" lang="zh-CN">
                <a:solidFill>
                  <a:srgbClr val="172629"/>
                </a:solidFill>
                <a:latin typeface="Microsoft YaHei"/>
                <a:ea typeface="Microsoft YaHei"/>
                <a:cs typeface="Microsoft YaHei"/>
              </a:rPr>
              <a:t>Agent不可见oracle</a:t>
            </a:r>
          </a:p>
        </p:txBody>
      </p:sp>
      <p:sp>
        <p:nvSpPr>
          <p:cNvPr id="18" name="diagram:action: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样本隔离</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一个样本一个容器</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固定镜像与源码</a:t>
            </a:r>
          </a:p>
        </p:txBody>
      </p:sp>
      <p:sp>
        <p:nvSpPr>
          <p:cNvPr id="22" name="diagram:action: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5会话50轮</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会话间重置短期历史</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长期记忆保留</a:t>
            </a:r>
          </a:p>
        </p:txBody>
      </p:sp>
      <p:sp>
        <p:nvSpPr>
          <p:cNvPr id="26" name="diagram:action: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行动文件</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12文件 / 50槽位检查</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探针来自后续会话</a:t>
            </a:r>
          </a:p>
        </p:txBody>
      </p:sp>
      <p:sp>
        <p:nvSpPr>
          <p:cNvPr id="30" name="diagram:action: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停止与取证</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冻结文件与工具轨迹</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检查路径、数量、摘要</a:t>
            </a:r>
          </a:p>
        </p:txBody>
      </p:sp>
      <p:sp>
        <p:nvSpPr>
          <p:cNvPr id="34" name="diagram:action:node:6"/>
          <p:cNvSpPr/>
          <p:nvPr/>
        </p:nvSpPr>
        <p:spPr>
          <a:xfrm>
            <a:off x="1080058" y="3877284"/>
            <a:ext cx="2992450" cy="1418386"/>
          </a:xfrm>
          <a:prstGeom prst="rect">
            <a:avLst/>
          </a:prstGeom>
          <a:solidFill>
            <a:srgbClr val="FFF3EB"/>
          </a:solidFill>
          <a:ln w="12700">
            <a:solidFill>
              <a:srgbClr val="9D4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9D4B28"/>
                </a:solidFill>
                <a:latin typeface="Microsoft YaHei"/>
                <a:ea typeface="Microsoft YaHei"/>
                <a:cs typeface="Microsoft YaHei"/>
              </a:rPr>
              <a:t>等待独立评分</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288"/>
              </a:lnSpc>
              <a:spcBef>
                <a:spcPts val="0"/>
              </a:spcBef>
              <a:spcAft>
                <a:spcPts val="0"/>
              </a:spcAft>
            </a:pPr>
            <a:r>
              <a:rPr sz="1906" b="0" lang="zh-CN">
                <a:solidFill>
                  <a:srgbClr val="172629"/>
                </a:solidFill>
                <a:latin typeface="Microsoft YaHei"/>
                <a:ea typeface="Microsoft YaHei"/>
                <a:cs typeface="Microsoft YaHei"/>
              </a:rPr>
              <a:t>容器采集成功退出3</a:t>
            </a:r>
          </a:p>
          <a:p>
            <a:pPr algn="ctr">
              <a:lnSpc>
                <a:spcPts val="2288"/>
              </a:lnSpc>
              <a:spcBef>
                <a:spcPts val="0"/>
              </a:spcBef>
              <a:spcAft>
                <a:spcPts val="0"/>
              </a:spcAft>
            </a:pPr>
            <a:r>
              <a:rPr sz="1906" b="0" lang="zh-CN">
                <a:solidFill>
                  <a:srgbClr val="172629"/>
                </a:solidFill>
                <a:latin typeface="Microsoft YaHei"/>
                <a:ea typeface="Microsoft YaHei"/>
                <a:cs typeface="Microsoft YaHei"/>
              </a:rPr>
              <a:t>替身自检不是Agent成绩</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真实容器/Agent尚无实测成绩；单样本槽位数不是五项独立请求数。</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5会话×10轮，会话间重置短期历史</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oracle留在控制器，Agent不可见</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真实文件后验检查，替身自检不冒充</a:t>
            </a:r>
          </a:p>
          <a:p>
            <a:pPr algn="l">
              <a:lnSpc>
                <a:spcPts val="1798"/>
              </a:lnSpc>
              <a:spcBef>
                <a:spcPts val="0"/>
              </a:spcBef>
              <a:spcAft>
                <a:spcPts val="0"/>
              </a:spcAft>
            </a:pPr>
            <a:r>
              <a:rPr sz="1550" b="0" lang="zh-CN">
                <a:solidFill>
                  <a:srgbClr val="172629"/>
                </a:solidFill>
                <a:latin typeface="Microsoft YaHei"/>
                <a:ea typeface="Microsoft YaHei"/>
                <a:cs typeface="Microsoft YaHei"/>
              </a:rPr>
              <a:t>Agent成绩</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第17章  行动评测与赛事验收</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17.2  独立 Judge 与人工复核方案</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模型评分也需证据绑定、失败留存和独立性核验，接口返回结构正确不等于评审独立。</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依据：docs/26；scripts/judge_actions.py；src/os_agent_memory/local_judge.py</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52 / 53</a:t>
            </a:r>
          </a:p>
        </p:txBody>
      </p:sp>
      <p:cxnSp>
        <p:nvCxnSpPr>
          <p:cNvPr id="9" name="Connector 8"/>
          <p:cNvCxnSpPr/>
          <p:nvPr/>
        </p:nvCxnSpPr>
        <p:spPr>
          <a:xfrm>
            <a:off x="4072508"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92529" y="2571330"/>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16325" y="3280524"/>
            <a:ext cx="0" cy="59676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592529"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072508" y="4586478"/>
            <a:ext cx="527571" cy="0"/>
          </a:xfrm>
          <a:prstGeom prst="line">
            <a:avLst/>
          </a:prstGeom>
          <a:ln w="17780">
            <a:solidFill>
              <a:srgbClr val="52666A"/>
            </a:solidFill>
            <a:tailEnd type="triangle"/>
          </a:ln>
        </p:spPr>
        <p:style>
          <a:lnRef idx="2">
            <a:schemeClr val="accent1"/>
          </a:lnRef>
          <a:fillRef idx="0">
            <a:schemeClr val="accent1"/>
          </a:fillRef>
          <a:effectRef idx="1">
            <a:schemeClr val="accent1"/>
          </a:effectRef>
          <a:fontRef idx="minor">
            <a:schemeClr val="tx1"/>
          </a:fontRef>
        </p:style>
      </p:cxnSp>
      <p:sp>
        <p:nvSpPr>
          <p:cNvPr id="14" name="diagram:judge:node:1"/>
          <p:cNvSpPr/>
          <p:nvPr/>
        </p:nvSpPr>
        <p:spPr>
          <a:xfrm>
            <a:off x="1080058" y="1862137"/>
            <a:ext cx="2992450" cy="1418386"/>
          </a:xfrm>
          <a:prstGeom prst="rect">
            <a:avLst/>
          </a:prstGeom>
          <a:solidFill>
            <a:srgbClr val="EEF6F5"/>
          </a:solidFill>
          <a:ln w="12700">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5735"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006D77"/>
                </a:solidFill>
                <a:latin typeface="Microsoft YaHei"/>
                <a:ea typeface="Microsoft YaHei"/>
                <a:cs typeface="Microsoft YaHei"/>
              </a:rPr>
              <a:t>冻结证据</a:t>
            </a:r>
          </a:p>
        </p:txBody>
      </p:sp>
      <p:sp>
        <p:nvSpPr>
          <p:cNvPr id="16" name="TextBox 15"/>
          <p:cNvSpPr txBox="1"/>
          <p:nvPr/>
        </p:nvSpPr>
        <p:spPr>
          <a:xfrm>
            <a:off x="3648722"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01</a:t>
            </a:r>
          </a:p>
        </p:txBody>
      </p:sp>
      <p:sp>
        <p:nvSpPr>
          <p:cNvPr id="17" name="TextBox 16"/>
          <p:cNvSpPr txBox="1"/>
          <p:nvPr/>
        </p:nvSpPr>
        <p:spPr>
          <a:xfrm>
            <a:off x="1235735"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绑定样例 / 源码 / 镜像</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真实文件与轨迹</a:t>
            </a:r>
          </a:p>
        </p:txBody>
      </p:sp>
      <p:sp>
        <p:nvSpPr>
          <p:cNvPr id="18" name="diagram:judge:node:2"/>
          <p:cNvSpPr/>
          <p:nvPr/>
        </p:nvSpPr>
        <p:spPr>
          <a:xfrm>
            <a:off x="4600079"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5756"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构造Judge请求</a:t>
            </a:r>
          </a:p>
        </p:txBody>
      </p:sp>
      <p:sp>
        <p:nvSpPr>
          <p:cNvPr id="20" name="TextBox 19"/>
          <p:cNvSpPr txBox="1"/>
          <p:nvPr/>
        </p:nvSpPr>
        <p:spPr>
          <a:xfrm>
            <a:off x="7168743"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02</a:t>
            </a:r>
          </a:p>
        </p:txBody>
      </p:sp>
      <p:sp>
        <p:nvSpPr>
          <p:cNvPr id="21" name="TextBox 20"/>
          <p:cNvSpPr txBox="1"/>
          <p:nvPr/>
        </p:nvSpPr>
        <p:spPr>
          <a:xfrm>
            <a:off x="4755756"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标签隔离，证据不可信</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不执行内容指令</a:t>
            </a:r>
          </a:p>
        </p:txBody>
      </p:sp>
      <p:sp>
        <p:nvSpPr>
          <p:cNvPr id="22" name="diagram:judge:node:3"/>
          <p:cNvSpPr/>
          <p:nvPr/>
        </p:nvSpPr>
        <p:spPr>
          <a:xfrm>
            <a:off x="8120100" y="1862137"/>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777" y="2017814"/>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独立模型</a:t>
            </a:r>
          </a:p>
        </p:txBody>
      </p:sp>
      <p:sp>
        <p:nvSpPr>
          <p:cNvPr id="24" name="TextBox 23"/>
          <p:cNvSpPr txBox="1"/>
          <p:nvPr/>
        </p:nvSpPr>
        <p:spPr>
          <a:xfrm>
            <a:off x="10688764" y="2035111"/>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03</a:t>
            </a:r>
          </a:p>
        </p:txBody>
      </p:sp>
      <p:sp>
        <p:nvSpPr>
          <p:cNvPr id="25" name="TextBox 24"/>
          <p:cNvSpPr txBox="1"/>
          <p:nvPr/>
        </p:nvSpPr>
        <p:spPr>
          <a:xfrm>
            <a:off x="8275777" y="2519438"/>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固定身份、逐项判断</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必须引用实际证据</a:t>
            </a:r>
          </a:p>
        </p:txBody>
      </p:sp>
      <p:sp>
        <p:nvSpPr>
          <p:cNvPr id="26" name="diagram:judge:node:4"/>
          <p:cNvSpPr/>
          <p:nvPr/>
        </p:nvSpPr>
        <p:spPr>
          <a:xfrm>
            <a:off x="8120100"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777"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硬门槛复核</a:t>
            </a:r>
          </a:p>
        </p:txBody>
      </p:sp>
      <p:sp>
        <p:nvSpPr>
          <p:cNvPr id="28" name="TextBox 27"/>
          <p:cNvSpPr txBox="1"/>
          <p:nvPr/>
        </p:nvSpPr>
        <p:spPr>
          <a:xfrm>
            <a:off x="10688764"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04</a:t>
            </a:r>
          </a:p>
        </p:txBody>
      </p:sp>
      <p:sp>
        <p:nvSpPr>
          <p:cNvPr id="29" name="TextBox 28"/>
          <p:cNvSpPr txBox="1"/>
          <p:nvPr/>
        </p:nvSpPr>
        <p:spPr>
          <a:xfrm>
            <a:off x="8275777"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缺失/不可读不能放行</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uncertain留分母记0</a:t>
            </a:r>
          </a:p>
        </p:txBody>
      </p:sp>
      <p:sp>
        <p:nvSpPr>
          <p:cNvPr id="30" name="diagram:judge:node:5"/>
          <p:cNvSpPr/>
          <p:nvPr/>
        </p:nvSpPr>
        <p:spPr>
          <a:xfrm>
            <a:off x="4600079" y="3877284"/>
            <a:ext cx="2992450" cy="1418386"/>
          </a:xfrm>
          <a:prstGeom prst="rect">
            <a:avLst/>
          </a:prstGeom>
          <a:solidFill>
            <a:srgbClr val="EEF3FA"/>
          </a:solidFill>
          <a:ln w="12700">
            <a:solidFill>
              <a:srgbClr val="285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5756"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2857A5"/>
                </a:solidFill>
                <a:latin typeface="Microsoft YaHei"/>
                <a:ea typeface="Microsoft YaHei"/>
                <a:cs typeface="Microsoft YaHei"/>
              </a:rPr>
              <a:t>人工抽检</a:t>
            </a:r>
          </a:p>
        </p:txBody>
      </p:sp>
      <p:sp>
        <p:nvSpPr>
          <p:cNvPr id="32" name="TextBox 31"/>
          <p:cNvSpPr txBox="1"/>
          <p:nvPr/>
        </p:nvSpPr>
        <p:spPr>
          <a:xfrm>
            <a:off x="7168743"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05</a:t>
            </a:r>
          </a:p>
        </p:txBody>
      </p:sp>
      <p:sp>
        <p:nvSpPr>
          <p:cNvPr id="33" name="TextBox 32"/>
          <p:cNvSpPr txBox="1"/>
          <p:nvPr/>
        </p:nvSpPr>
        <p:spPr>
          <a:xfrm>
            <a:off x="4755756"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全部失败 + 至少10%</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保存理由与引用</a:t>
            </a:r>
          </a:p>
        </p:txBody>
      </p:sp>
      <p:sp>
        <p:nvSpPr>
          <p:cNvPr id="34" name="diagram:judge:node:6"/>
          <p:cNvSpPr/>
          <p:nvPr/>
        </p:nvSpPr>
        <p:spPr>
          <a:xfrm>
            <a:off x="1080058" y="3877284"/>
            <a:ext cx="2992450" cy="1418386"/>
          </a:xfrm>
          <a:prstGeom prst="rect">
            <a:avLst/>
          </a:prstGeom>
          <a:solidFill>
            <a:srgbClr val="FFF3EB"/>
          </a:solidFill>
          <a:ln w="12700">
            <a:solidFill>
              <a:srgbClr val="9D4B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5735" y="4032961"/>
            <a:ext cx="2300554" cy="397840"/>
          </a:xfrm>
          <a:prstGeom prst="rect">
            <a:avLst/>
          </a:prstGeom>
          <a:noFill/>
        </p:spPr>
        <p:txBody>
          <a:bodyPr wrap="none" lIns="0" rIns="0" tIns="0" bIns="0" anchor="t">
            <a:noAutofit/>
          </a:bodyPr>
          <a:lstStyle/>
          <a:p>
            <a:pPr algn="l">
              <a:lnSpc>
                <a:spcPts val="2506"/>
              </a:lnSpc>
              <a:spcBef>
                <a:spcPts val="0"/>
              </a:spcBef>
              <a:spcAft>
                <a:spcPts val="0"/>
              </a:spcAft>
            </a:pPr>
            <a:r>
              <a:rPr sz="2179" b="1" lang="zh-CN">
                <a:solidFill>
                  <a:srgbClr val="9D4B28"/>
                </a:solidFill>
                <a:latin typeface="Microsoft YaHei"/>
                <a:ea typeface="Microsoft YaHei"/>
                <a:cs typeface="Microsoft YaHei"/>
              </a:rPr>
              <a:t>保留分歧</a:t>
            </a:r>
          </a:p>
        </p:txBody>
      </p:sp>
      <p:sp>
        <p:nvSpPr>
          <p:cNvPr id="36" name="TextBox 35"/>
          <p:cNvSpPr txBox="1"/>
          <p:nvPr/>
        </p:nvSpPr>
        <p:spPr>
          <a:xfrm>
            <a:off x="3648722" y="4050258"/>
            <a:ext cx="345947" cy="328650"/>
          </a:xfrm>
          <a:prstGeom prst="rect">
            <a:avLst/>
          </a:prstGeom>
          <a:noFill/>
        </p:spPr>
        <p:txBody>
          <a:bodyPr wrap="none" lIns="0" rIns="0" tIns="0" bIns="0" anchor="t">
            <a:noAutofit/>
          </a:bodyPr>
          <a:lstStyle/>
          <a:p>
            <a:pPr algn="l">
              <a:lnSpc>
                <a:spcPts val="1801"/>
              </a:lnSpc>
              <a:spcBef>
                <a:spcPts val="0"/>
              </a:spcBef>
              <a:spcAft>
                <a:spcPts val="0"/>
              </a:spcAft>
            </a:pPr>
            <a:r>
              <a:rPr sz="1566" b="0" lang="zh-CN">
                <a:solidFill>
                  <a:srgbClr val="52666A"/>
                </a:solidFill>
                <a:latin typeface="Microsoft YaHei"/>
                <a:ea typeface="Microsoft YaHei"/>
                <a:cs typeface="Microsoft YaHei"/>
              </a:rPr>
              <a:t>06</a:t>
            </a:r>
          </a:p>
        </p:txBody>
      </p:sp>
      <p:sp>
        <p:nvSpPr>
          <p:cNvPr id="37" name="TextBox 36"/>
          <p:cNvSpPr txBox="1"/>
          <p:nvPr/>
        </p:nvSpPr>
        <p:spPr>
          <a:xfrm>
            <a:off x="1235735" y="4534585"/>
            <a:ext cx="2681096" cy="674598"/>
          </a:xfrm>
          <a:prstGeom prst="rect">
            <a:avLst/>
          </a:prstGeom>
          <a:noFill/>
        </p:spPr>
        <p:txBody>
          <a:bodyPr wrap="none" lIns="0" rIns="0" tIns="0" bIns="0" anchor="t">
            <a:noAutofit/>
          </a:bodyPr>
          <a:lstStyle/>
          <a:p>
            <a:pPr algn="ctr">
              <a:lnSpc>
                <a:spcPts val="2369"/>
              </a:lnSpc>
              <a:spcBef>
                <a:spcPts val="0"/>
              </a:spcBef>
              <a:spcAft>
                <a:spcPts val="0"/>
              </a:spcAft>
            </a:pPr>
            <a:r>
              <a:rPr sz="1974" b="0" lang="zh-CN">
                <a:solidFill>
                  <a:srgbClr val="172629"/>
                </a:solidFill>
                <a:latin typeface="Microsoft YaHei"/>
                <a:ea typeface="Microsoft YaHei"/>
                <a:cs typeface="Microsoft YaHei"/>
              </a:rPr>
              <a:t>不覆盖原始评分</a:t>
            </a:r>
          </a:p>
          <a:p>
            <a:pPr algn="ctr">
              <a:lnSpc>
                <a:spcPts val="2369"/>
              </a:lnSpc>
              <a:spcBef>
                <a:spcPts val="0"/>
              </a:spcBef>
              <a:spcAft>
                <a:spcPts val="0"/>
              </a:spcAft>
            </a:pPr>
            <a:r>
              <a:rPr sz="1974" b="0" lang="zh-CN">
                <a:solidFill>
                  <a:srgbClr val="172629"/>
                </a:solidFill>
                <a:latin typeface="Microsoft YaHei"/>
                <a:ea typeface="Microsoft YaHei"/>
                <a:cs typeface="Microsoft YaHei"/>
              </a:rPr>
              <a:t>独立性与赛事另验</a:t>
            </a:r>
          </a:p>
        </p:txBody>
      </p:sp>
      <p:sp>
        <p:nvSpPr>
          <p:cNvPr id="38" name="TextBox 37"/>
          <p:cNvSpPr txBox="1"/>
          <p:nvPr/>
        </p:nvSpPr>
        <p:spPr>
          <a:xfrm>
            <a:off x="731520" y="5565267"/>
            <a:ext cx="10744200" cy="338328"/>
          </a:xfrm>
          <a:prstGeom prst="rect">
            <a:avLst/>
          </a:prstGeom>
          <a:noFill/>
        </p:spPr>
        <p:txBody>
          <a:bodyPr wrap="none" lIns="0" rIns="0" tIns="0" bIns="0" anchor="t">
            <a:noAutofit/>
          </a:bodyPr>
          <a:lstStyle/>
          <a:p>
            <a:pPr algn="ctr">
              <a:lnSpc>
                <a:spcPts val="1437"/>
              </a:lnSpc>
              <a:spcBef>
                <a:spcPts val="0"/>
              </a:spcBef>
              <a:spcAft>
                <a:spcPts val="0"/>
              </a:spcAft>
            </a:pPr>
            <a:r>
              <a:rPr sz="1250" b="0" lang="zh-CN">
                <a:solidFill>
                  <a:srgbClr val="52666A"/>
                </a:solidFill>
                <a:latin typeface="Microsoft YaHei"/>
                <a:ea typeface="Microsoft YaHei"/>
                <a:cs typeface="Microsoft YaHei"/>
              </a:rPr>
              <a:t>当前具备协议与检查器，没有真实Agent/Judge模型分数。</a:t>
            </a:r>
          </a:p>
        </p:txBody>
      </p:sp>
      <p:sp>
        <p:nvSpPr>
          <p:cNvPr id="39" name="Rectangle 38"/>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冻结样例/源码/镜像，隔离Agent与</a:t>
            </a:r>
          </a:p>
          <a:p>
            <a:pPr algn="l">
              <a:lnSpc>
                <a:spcPts val="1798"/>
              </a:lnSpc>
              <a:spcBef>
                <a:spcPts val="0"/>
              </a:spcBef>
              <a:spcAft>
                <a:spcPts val="0"/>
              </a:spcAft>
            </a:pPr>
            <a:r>
              <a:rPr sz="1550" b="0" lang="zh-CN">
                <a:solidFill>
                  <a:srgbClr val="172629"/>
                </a:solidFill>
                <a:latin typeface="Microsoft YaHei"/>
                <a:ea typeface="Microsoft YaHei"/>
                <a:cs typeface="Microsoft YaHei"/>
              </a:rPr>
              <a:t>Judge</a:t>
            </a:r>
          </a:p>
        </p:txBody>
      </p:sp>
      <p:sp>
        <p:nvSpPr>
          <p:cNvPr id="41" name="Rectangle 40"/>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必须引用实际文件，不引用标签冒充证</a:t>
            </a:r>
          </a:p>
          <a:p>
            <a:pPr algn="l">
              <a:lnSpc>
                <a:spcPts val="1798"/>
              </a:lnSpc>
              <a:spcBef>
                <a:spcPts val="0"/>
              </a:spcBef>
              <a:spcAft>
                <a:spcPts val="0"/>
              </a:spcAft>
            </a:pPr>
            <a:r>
              <a:rPr sz="1550" b="0" lang="zh-CN">
                <a:solidFill>
                  <a:srgbClr val="172629"/>
                </a:solidFill>
                <a:latin typeface="Microsoft YaHei"/>
                <a:ea typeface="Microsoft YaHei"/>
                <a:cs typeface="Microsoft YaHei"/>
              </a:rPr>
              <a:t>据</a:t>
            </a:r>
          </a:p>
        </p:txBody>
      </p:sp>
      <p:sp>
        <p:nvSpPr>
          <p:cNvPr id="43" name="Rectangle 42"/>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全部失败 + 至少10%抽检，保留分歧</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274320"/>
            <a:ext cx="64008" cy="27432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265176"/>
            <a:ext cx="10515600" cy="219456"/>
          </a:xfrm>
          <a:prstGeom prst="rect">
            <a:avLst/>
          </a:prstGeom>
          <a:noFill/>
        </p:spPr>
        <p:txBody>
          <a:bodyPr wrap="none" lIns="0" rIns="0" tIns="0" bIns="0" anchor="t">
            <a:noAutofit/>
          </a:bodyPr>
          <a:lstStyle/>
          <a:p>
            <a:pPr algn="l">
              <a:lnSpc>
                <a:spcPts val="1264"/>
              </a:lnSpc>
              <a:spcBef>
                <a:spcPts val="0"/>
              </a:spcBef>
              <a:spcAft>
                <a:spcPts val="0"/>
              </a:spcAft>
            </a:pPr>
            <a:r>
              <a:rPr sz="1100" b="1" lang="zh-CN">
                <a:solidFill>
                  <a:srgbClr val="006D77"/>
                </a:solidFill>
                <a:latin typeface="Microsoft YaHei"/>
                <a:ea typeface="Microsoft YaHei"/>
                <a:cs typeface="Microsoft YaHei"/>
              </a:rPr>
              <a:t>第17章  行动评测与赛事验收</a:t>
            </a:r>
          </a:p>
        </p:txBody>
      </p:sp>
      <p:sp>
        <p:nvSpPr>
          <p:cNvPr id="4" name="TextBox 3"/>
          <p:cNvSpPr txBox="1"/>
          <p:nvPr/>
        </p:nvSpPr>
        <p:spPr>
          <a:xfrm>
            <a:off x="585216" y="612648"/>
            <a:ext cx="10972800" cy="475488"/>
          </a:xfrm>
          <a:prstGeom prst="rect">
            <a:avLst/>
          </a:prstGeom>
          <a:noFill/>
        </p:spPr>
        <p:txBody>
          <a:bodyPr wrap="none" lIns="0" rIns="0" tIns="0" bIns="0" anchor="t">
            <a:noAutofit/>
          </a:bodyPr>
          <a:lstStyle/>
          <a:p>
            <a:pPr algn="l">
              <a:lnSpc>
                <a:spcPts val="3334"/>
              </a:lnSpc>
              <a:spcBef>
                <a:spcPts val="0"/>
              </a:spcBef>
              <a:spcAft>
                <a:spcPts val="0"/>
              </a:spcAft>
            </a:pPr>
            <a:r>
              <a:rPr sz="2900" b="1" lang="zh-CN">
                <a:solidFill>
                  <a:srgbClr val="172629"/>
                </a:solidFill>
                <a:latin typeface="Microsoft YaHei"/>
                <a:ea typeface="Microsoft YaHei"/>
                <a:cs typeface="Microsoft YaHei"/>
              </a:rPr>
              <a:t>17.3  赛事验收与交付检查表</a:t>
            </a:r>
          </a:p>
        </p:txBody>
      </p:sp>
      <p:sp>
        <p:nvSpPr>
          <p:cNvPr id="5" name="TextBox 4"/>
          <p:cNvSpPr txBox="1"/>
          <p:nvPr/>
        </p:nvSpPr>
        <p:spPr>
          <a:xfrm>
            <a:off x="612648" y="1179576"/>
            <a:ext cx="10972800" cy="448056"/>
          </a:xfrm>
          <a:prstGeom prst="rect">
            <a:avLst/>
          </a:prstGeom>
          <a:noFill/>
        </p:spPr>
        <p:txBody>
          <a:bodyPr wrap="none" lIns="0" rIns="0" tIns="0" bIns="0" anchor="t">
            <a:noAutofit/>
          </a:bodyPr>
          <a:lstStyle/>
          <a:p>
            <a:pPr algn="l">
              <a:lnSpc>
                <a:spcPts val="1954"/>
              </a:lnSpc>
              <a:spcBef>
                <a:spcPts val="0"/>
              </a:spcBef>
              <a:spcAft>
                <a:spcPts val="0"/>
              </a:spcAft>
            </a:pPr>
            <a:r>
              <a:rPr sz="1700" b="0" lang="zh-CN">
                <a:solidFill>
                  <a:srgbClr val="52666A"/>
                </a:solidFill>
                <a:latin typeface="Microsoft YaHei"/>
                <a:ea typeface="Microsoft YaHei"/>
                <a:cs typeface="Microsoft YaHei"/>
              </a:rPr>
              <a:t>材料初版和正式赛事验收是两种状态，文档完善不自动关闭运行与外部证据风险。</a:t>
            </a:r>
          </a:p>
        </p:txBody>
      </p:sp>
      <p:cxnSp>
        <p:nvCxnSpPr>
          <p:cNvPr id="6" name="Connector 5"/>
          <p:cNvCxnSpPr/>
          <p:nvPr/>
        </p:nvCxnSpPr>
        <p:spPr>
          <a:xfrm>
            <a:off x="603504" y="6592824"/>
            <a:ext cx="10963656" cy="0"/>
          </a:xfrm>
          <a:prstGeom prst="line">
            <a:avLst/>
          </a:prstGeom>
          <a:ln w="17780">
            <a:solidFill>
              <a:srgbClr val="9DAFB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6647688"/>
            <a:ext cx="10405872" cy="182880"/>
          </a:xfrm>
          <a:prstGeom prst="rect">
            <a:avLst/>
          </a:prstGeom>
          <a:noFill/>
        </p:spPr>
        <p:txBody>
          <a:bodyPr wrap="none" lIns="0" rIns="0" tIns="0" bIns="0" anchor="t">
            <a:noAutofit/>
          </a:bodyPr>
          <a:lstStyle/>
          <a:p>
            <a:pPr algn="l">
              <a:lnSpc>
                <a:spcPts val="977"/>
              </a:lnSpc>
              <a:spcBef>
                <a:spcPts val="0"/>
              </a:spcBef>
              <a:spcAft>
                <a:spcPts val="0"/>
              </a:spcAft>
            </a:pPr>
            <a:r>
              <a:rPr sz="850" b="0" lang="zh-CN">
                <a:solidFill>
                  <a:srgbClr val="52666A"/>
                </a:solidFill>
                <a:latin typeface="Microsoft YaHei"/>
                <a:ea typeface="Microsoft YaHei"/>
                <a:cs typeface="Microsoft YaHei"/>
              </a:rPr>
              <a:t>依据：官方提交规则；docs/26、27、45</a:t>
            </a:r>
          </a:p>
        </p:txBody>
      </p:sp>
      <p:sp>
        <p:nvSpPr>
          <p:cNvPr id="8" name="TextBox 7"/>
          <p:cNvSpPr txBox="1"/>
          <p:nvPr/>
        </p:nvSpPr>
        <p:spPr>
          <a:xfrm>
            <a:off x="11027664" y="6647688"/>
            <a:ext cx="557784" cy="182880"/>
          </a:xfrm>
          <a:prstGeom prst="rect">
            <a:avLst/>
          </a:prstGeom>
          <a:noFill/>
        </p:spPr>
        <p:txBody>
          <a:bodyPr wrap="none" lIns="0" rIns="0" tIns="0" bIns="0" anchor="t">
            <a:noAutofit/>
          </a:bodyPr>
          <a:lstStyle/>
          <a:p>
            <a:pPr algn="r">
              <a:lnSpc>
                <a:spcPts val="1035"/>
              </a:lnSpc>
              <a:spcBef>
                <a:spcPts val="0"/>
              </a:spcBef>
              <a:spcAft>
                <a:spcPts val="0"/>
              </a:spcAft>
            </a:pPr>
            <a:r>
              <a:rPr sz="900" b="0" lang="zh-CN">
                <a:solidFill>
                  <a:srgbClr val="52666A"/>
                </a:solidFill>
                <a:latin typeface="Microsoft YaHei"/>
                <a:ea typeface="Microsoft YaHei"/>
                <a:cs typeface="Microsoft YaHei"/>
              </a:rPr>
              <a:t>53 / 53</a:t>
            </a:r>
          </a:p>
        </p:txBody>
      </p:sp>
      <p:graphicFrame>
        <p:nvGraphicFramePr>
          <p:cNvPr id="9" name="editable_table:17.3"/>
          <p:cNvGraphicFramePr>
            <a:graphicFrameLocks noGrp="1"/>
          </p:cNvGraphicFramePr>
          <p:nvPr/>
        </p:nvGraphicFramePr>
        <p:xfrm>
          <a:off x="612648" y="1847088"/>
          <a:ext cx="10972799" cy="3322696"/>
        </p:xfrm>
        <a:graphic>
          <a:graphicData uri="http://schemas.openxmlformats.org/drawingml/2006/table">
            <a:tbl>
              <a:tblPr firstRow="1" bandRow="1">
                <a:tableStyleId>{5C22544A-7EE6-4342-B048-85BDC9FD1C3A}</a:tableStyleId>
              </a:tblPr>
              <a:tblGrid>
                <a:gridCol w="2633472"/>
                <a:gridCol w="4059935"/>
                <a:gridCol w="4279392"/>
              </a:tblGrid>
              <a:tr h="403732">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验收项</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本版结论</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1" lang="zh-CN">
                          <a:solidFill>
                            <a:srgbClr val="FFFFFF"/>
                          </a:solidFill>
                          <a:latin typeface="Microsoft YaHei"/>
                          <a:ea typeface="Microsoft YaHei"/>
                          <a:cs typeface="Microsoft YaHei"/>
                        </a:rPr>
                        <a:t>后续真实证据</a:t>
                      </a:r>
                    </a:p>
                  </a:txBody>
                  <a:tcPr marL="91440" marR="91440" marT="59436" marB="59436" anchor="ctr">
                    <a:solidFill>
                      <a:srgbClr val="006D77"/>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方案、实现、用户手册、</a:t>
                      </a:r>
                    </a:p>
                    <a:p>
                      <a:pPr>
                        <a:lnSpc>
                          <a:spcPts val="1954"/>
                        </a:lnSpc>
                        <a:spcBef>
                          <a:spcPts val="0"/>
                        </a:spcBef>
                        <a:spcAft>
                          <a:spcPts val="0"/>
                        </a:spcAft>
                      </a:pPr>
                      <a:r>
                        <a:rPr sz="1700" b="0" lang="zh-CN">
                          <a:solidFill>
                            <a:srgbClr val="172629"/>
                          </a:solidFill>
                          <a:latin typeface="Microsoft YaHei"/>
                          <a:ea typeface="Microsoft YaHei"/>
                          <a:cs typeface="Microsoft YaHei"/>
                        </a:rPr>
                        <a:t>评测说明</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本次材料覆盖并渲染核查</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提交前人工审阅</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公开合成冻结/复杂回归</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当前运行源码通过</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不替代独立验收</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真实SDK时延</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待复测风险项</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同配置至少50不同请求、三轮</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当前源码V11与HTTP</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待独立复验</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目标机完整日志与摘要</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652018">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真实Agent/Judge与授权</a:t>
                      </a:r>
                    </a:p>
                    <a:p>
                      <a:pPr>
                        <a:lnSpc>
                          <a:spcPts val="1954"/>
                        </a:lnSpc>
                        <a:spcBef>
                          <a:spcPts val="0"/>
                        </a:spcBef>
                        <a:spcAft>
                          <a:spcPts val="0"/>
                        </a:spcAft>
                      </a:pPr>
                      <a:r>
                        <a:rPr sz="1700" b="0" lang="zh-CN">
                          <a:solidFill>
                            <a:srgbClr val="172629"/>
                          </a:solidFill>
                          <a:latin typeface="Microsoft YaHei"/>
                          <a:ea typeface="Microsoft YaHei"/>
                          <a:cs typeface="Microsoft YaHei"/>
                        </a:rPr>
                        <a:t>案例</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协议与采集路径具备</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真实执行、独立评分和授权</a:t>
                      </a:r>
                    </a:p>
                  </a:txBody>
                  <a:tcPr marL="91440" marR="91440" marT="59436" marB="59436" anchor="ctr">
                    <a:solidFill>
                      <a:srgbClr val="EEF6F5"/>
                    </a:solidFill>
                    <a:lnL w="6350">
                      <a:solidFill>
                        <a:srgbClr val="FFFFFF"/>
                      </a:solidFill>
                    </a:lnL>
                    <a:lnR w="6350">
                      <a:solidFill>
                        <a:srgbClr val="FFFFFF"/>
                      </a:solidFill>
                    </a:lnR>
                    <a:lnT w="6350">
                      <a:solidFill>
                        <a:srgbClr val="FFFFFF"/>
                      </a:solidFill>
                    </a:lnT>
                    <a:lnB w="6350">
                      <a:solidFill>
                        <a:srgbClr val="FFFFFF"/>
                      </a:solidFill>
                    </a:lnB>
                  </a:tcPr>
                </a:tc>
              </a:tr>
              <a:tr h="403732">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视频/命名/首版上传</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本次不执行</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wrap="none"/>
                    <a:lstStyle/>
                    <a:p>
                      <a:pPr>
                        <a:lnSpc>
                          <a:spcPts val="1954"/>
                        </a:lnSpc>
                        <a:spcBef>
                          <a:spcPts val="0"/>
                        </a:spcBef>
                        <a:spcAft>
                          <a:spcPts val="0"/>
                        </a:spcAft>
                      </a:pPr>
                      <a:r>
                        <a:rPr sz="1700" b="0" lang="zh-CN">
                          <a:solidFill>
                            <a:srgbClr val="172629"/>
                          </a:solidFill>
                          <a:latin typeface="Microsoft YaHei"/>
                          <a:ea typeface="Microsoft YaHei"/>
                          <a:cs typeface="Microsoft YaHei"/>
                        </a:rPr>
                        <a:t>最终人工检查和正式回执</a:t>
                      </a:r>
                    </a:p>
                  </a:txBody>
                  <a:tcPr marL="91440" marR="91440" marT="59436" marB="59436"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0" name="Rectangle 9"/>
          <p:cNvSpPr/>
          <p:nvPr/>
        </p:nvSpPr>
        <p:spPr>
          <a:xfrm>
            <a:off x="612648"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已完成初版，待赛事验收</a:t>
            </a:r>
          </a:p>
        </p:txBody>
      </p:sp>
      <p:sp>
        <p:nvSpPr>
          <p:cNvPr id="12" name="Rectangle 11"/>
          <p:cNvSpPr/>
          <p:nvPr/>
        </p:nvSpPr>
        <p:spPr>
          <a:xfrm>
            <a:off x="4297680"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SDK、当前V11、独立评分与授权案例</a:t>
            </a:r>
          </a:p>
          <a:p>
            <a:pPr algn="l">
              <a:lnSpc>
                <a:spcPts val="1798"/>
              </a:lnSpc>
              <a:spcBef>
                <a:spcPts val="0"/>
              </a:spcBef>
              <a:spcAft>
                <a:spcPts val="0"/>
              </a:spcAft>
            </a:pPr>
            <a:r>
              <a:rPr sz="1550" b="0" lang="zh-CN">
                <a:solidFill>
                  <a:srgbClr val="172629"/>
                </a:solidFill>
                <a:latin typeface="Microsoft YaHei"/>
                <a:ea typeface="Microsoft YaHei"/>
                <a:cs typeface="Microsoft YaHei"/>
              </a:rPr>
              <a:t>如实保留</a:t>
            </a:r>
          </a:p>
        </p:txBody>
      </p:sp>
      <p:sp>
        <p:nvSpPr>
          <p:cNvPr id="14" name="Rectangle 13"/>
          <p:cNvSpPr/>
          <p:nvPr/>
        </p:nvSpPr>
        <p:spPr>
          <a:xfrm>
            <a:off x="7982712" y="6016752"/>
            <a:ext cx="32004" cy="438912"/>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5989320"/>
            <a:ext cx="3456432" cy="521207"/>
          </a:xfrm>
          <a:prstGeom prst="rect">
            <a:avLst/>
          </a:prstGeom>
          <a:noFill/>
        </p:spPr>
        <p:txBody>
          <a:bodyPr wrap="none" lIns="0" rIns="0" tIns="0" bIns="0" anchor="t">
            <a:noAutofit/>
          </a:bodyPr>
          <a:lstStyle/>
          <a:p>
            <a:pPr algn="l">
              <a:lnSpc>
                <a:spcPts val="1798"/>
              </a:lnSpc>
              <a:spcBef>
                <a:spcPts val="0"/>
              </a:spcBef>
              <a:spcAft>
                <a:spcPts val="0"/>
              </a:spcAft>
            </a:pPr>
            <a:r>
              <a:rPr sz="1550" b="0" lang="zh-CN">
                <a:solidFill>
                  <a:srgbClr val="172629"/>
                </a:solidFill>
                <a:latin typeface="Microsoft YaHei"/>
                <a:ea typeface="Microsoft YaHei"/>
                <a:cs typeface="Microsoft YaHei"/>
              </a:rPr>
              <a:t>仅PPTX/DOCX，不打包、不上传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 Agent 多源融合记忆优化系统 项目报告</dc:title>
  <dc:subject>方案架构、实现机制与效果验证</dc:subject>
  <dc:creator/>
  <cp:keywords>OS Agent; memory; anonymous; public regression</cp:keywords>
  <dc:description/>
  <cp:lastModifiedBy/>
  <cp:revision>1</cp:revision>
  <dcterms:created xsi:type="dcterms:W3CDTF">2026-09-11T00:00:00Z</dcterms:created>
  <dcterms:modified xsi:type="dcterms:W3CDTF">2026-09-11T00:00:00Z</dcterms:modified>
  <cp:category/>
</cp:coreProperties>
</file>