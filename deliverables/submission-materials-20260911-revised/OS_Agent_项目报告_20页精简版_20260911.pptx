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OS Agent 多源融合记忆优化系统</a:t>
            </a:r>
          </a:p>
          <a:p>
            <a:r>
              <a:t>已完成初版，待赛事验收</a:t>
            </a:r>
          </a:p>
          <a:p/>
          <a:p>
            <a:r>
              <a:t>本版项目报告压缩为20页；完整实现、用户手册、数据矩阵和引用保留在配套Word。当前证据是Windows/HashEmbedding公开合成回归，不是原生SDK、独立盲测或赛事认证。技术创新性30分与性能可信度25分是反馈强调的论证重点，不自行评分。</a:t>
            </a:r>
          </a:p>
          <a:p/>
          <a:p>
            <a:r>
              <a:t>配套Word：1.1, 1.2节。</a:t>
            </a:r>
          </a:p>
          <a:p>
            <a:r>
              <a:t>依据：证据W/R/C/E/N；官方提交规则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让记忆可用，也让错误记忆可控</a:t>
            </a:r>
          </a:p>
          <a:p>
            <a:r>
              <a:t>面向办公偏好、部署流程与故障处置，管理临时指令、旧版本和相似对象带来的误用风险。</a:t>
            </a:r>
          </a:p>
          <a:p/>
          <a:p>
            <a:r>
              <a:t>价值定位是减少重复配置、控制错误经验传播及支持可检查的撤销。六类事件契约已经实现，但真实应用连接器和授权用户研究不能由合成演示替代。</a:t>
            </a:r>
          </a:p>
          <a:p/>
          <a:p>
            <a:r>
              <a:t>配套Word：1.3, 3.1, 14.3节。</a:t>
            </a:r>
          </a:p>
          <a:p>
            <a:r>
              <a:t>依据：Word第1、3、14章；合成OS场景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总体架构：服务边界统一治理</a:t>
            </a:r>
          </a:p>
          <a:p>
            <a:r>
              <a:t>CLI、HTTP与评测调用同一MemoryService；治理逻辑与存储、模型provider分层。</a:t>
            </a:r>
          </a:p>
          <a:p/>
          <a:p>
            <a:r>
              <a:t>MemoryService负责作用域、锁、变更与事务，算法层处理接入、偏好、生命周期、冲突、检索和遗忘。provider可替换不代表性能结论可迁移。研究来源权威度不是官方明确记忆授权，FileMemoryStore/MemoryTools在独立可信运行时工作，尚无自动桥接。</a:t>
            </a:r>
          </a:p>
          <a:p/>
          <a:p>
            <a:r>
              <a:t>配套Word：2.1, 2.2, 2.4节。</a:t>
            </a:r>
          </a:p>
          <a:p>
            <a:r>
              <a:t>依据：service.py、memory_store.py、file_memory.py；Word第2章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多源接入：先清洗，再累计可信证据</a:t>
            </a:r>
          </a:p>
          <a:p>
            <a:r>
              <a:t>六类来源统一事件字段，保留身份、时间、工具结果与质量反馈。</a:t>
            </a:r>
          </a:p>
          <a:p/>
          <a:p>
            <a:r>
              <a:t>正文和嵌套metadata均递归脱敏；事件ID与指纹用于批内、跨请求和跨重启去重。失败和取消工具不学习为成功习惯。记录级拒绝返回issues，系统写失败回滚，不能把传入条数当成功持久化数。生产认证、真实连接器和未知敏感格式识别仍需单独验收。</a:t>
            </a:r>
          </a:p>
          <a:p/>
          <a:p>
            <a:r>
              <a:t>配套Word：3.1, 3.2, 3.3节。</a:t>
            </a:r>
          </a:p>
          <a:p>
            <a:r>
              <a:t>依据：ingestion.py、security.py、service.py；Word第3章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记忆流转：偏好可更新，历史可解释</a:t>
            </a:r>
          </a:p>
          <a:p>
            <a:r>
              <a:t>短中长期记忆以风险、来源与证据驱动；当前偏好和历史版本分别管理。</a:t>
            </a:r>
          </a:p>
          <a:p/>
          <a:p>
            <a:r>
              <a:t>短期缓冲默认TTL1800秒，中期按作用域、场景和主题聚合。长期晋升须风险为空，分数至少0.65，且至少两条证据或平均权威度达到0.9。去重避免重放增加晋升证据。三层划分和衰减已有先例，本项目强调在OS事件、版本、来源和撤销上的一致实现。</a:t>
            </a:r>
          </a:p>
          <a:p/>
          <a:p>
            <a:r>
              <a:t>配套Word：4.1, 4.2, 4.3, 5.1, 5.2节。</a:t>
            </a:r>
          </a:p>
          <a:p>
            <a:r>
              <a:t>依据：preference.py、lifecycle.py；Word第4–5章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检索方案：可见性过滤与混合候选</a:t>
            </a:r>
          </a:p>
          <a:p>
            <a:r>
              <a:t>先处理作用域和有效状态，再用词法、字符、向量候选及证据策略完成检索。</a:t>
            </a:r>
          </a:p>
          <a:p/>
          <a:p>
            <a:r>
              <a:t>候选并集经混合精排得到种子；查询编码复用、文档向量缓存减少重复计算。默认策略focused_evidence_v2再进行问题聚焦、主体保护、章节补全和正文支持检查。分数并非概率。无可见候选可提前空返回，词法模式不需要向量，不能把不同模式的计时混报。</a:t>
            </a:r>
          </a:p>
          <a:p/>
          <a:p>
            <a:r>
              <a:t>配套Word：7.1, 7.2, 7.3, 7.4节。</a:t>
            </a:r>
          </a:p>
          <a:p>
            <a:r>
              <a:t>依据：memory_store.py、focused_evidence.py；Word第7章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冲突先隔离，遗忘可确认</a:t>
            </a:r>
          </a:p>
          <a:p>
            <a:r>
              <a:t>待决知识默认不可见；遗忘计划先展示目标范围，再由同作用域用户确认。</a:t>
            </a:r>
          </a:p>
          <a:p/>
          <a:p>
            <a:r>
              <a:t>冲突检测后先进入待决隔离，自动或人工策略处理状态并原子保存。遗忘确认校验归属、有效期及计划状态，重复确认返回原回执；持久化失败恢复业务状态。生产多用户认证和外部备份销毁并非当前HTTP原型自动保证的功能。</a:t>
            </a:r>
          </a:p>
          <a:p/>
          <a:p>
            <a:r>
              <a:t>配套Word：6.2, 9.1, 9.2, 9.3节。</a:t>
            </a:r>
          </a:p>
          <a:p>
            <a:r>
              <a:t>依据：memory_store.py、service.py、security.py；Word第6、9章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端侧部署与真实SDK证据边界</a:t>
            </a:r>
          </a:p>
          <a:p>
            <a:r>
              <a:t>本地HTTP、SQLite和内存索引已实现；当前Windows与目标麒麟V11分别验收。</a:t>
            </a:r>
          </a:p>
          <a:p/>
          <a:p>
            <a:r>
              <a:t>本机服务采用单进程RLock及SQLite，未声称TLS、生产认证或多进程共享写入。旧ABI单探针不足至少50个不同请求和三轮正式测量，新ABI还存在符号问题。真实SDK需冻结实际模型和资源，分别测启动、初始化、首查、完整search、HTTP和Agent；调用内初始化不得剔除。当前源码V11不能由历史部署成绩代替。</a:t>
            </a:r>
          </a:p>
          <a:p/>
          <a:p>
            <a:r>
              <a:t>配套Word：8.1, 8.2, 10.1, 10.2, 10.3节。</a:t>
            </a:r>
          </a:p>
          <a:p>
            <a:r>
              <a:t>依据：证据W/S/SDK；Word第8、10章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相关工作：已有机制与本项目差异</a:t>
            </a:r>
          </a:p>
          <a:p>
            <a:r>
              <a:t>层级、遗忘、向量检索和持久记忆均有先例；本项目贡献定位为OS场景工程改进。</a:t>
            </a:r>
          </a:p>
          <a:p/>
          <a:p>
            <a:r>
              <a:t>MemGPT[1]、MemoryBank[2]、Generative Agents[3]、LongMem[4]、FAISS[5]、Mem0[6]和MemoryOS[7]。完整标题、固定arXiv版本和来源见Word18.4–18.5。对方论文未重点报告某治理维度不代表其绝对不具备。若开展系统对照，要统一可见历史、模型、token预算、写读成本、Judge和硬件；当前只运行本地策略对照。</a:t>
            </a:r>
          </a:p>
          <a:p/>
          <a:p>
            <a:r>
              <a:t>配套Word：11.1, 11.2, 11.4, 18.4, 18.5节。</a:t>
            </a:r>
          </a:p>
          <a:p>
            <a:r>
              <a:t>依据：文献[1]–[7]固定版本；Word第11、18章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相关评测：召回不等于回答正确</a:t>
            </a:r>
          </a:p>
          <a:p>
            <a:r>
              <a:t>借鉴长记忆与Agent经验基准的任务分层，但不把外部题目计入本项目分母。</a:t>
            </a:r>
          </a:p>
          <a:p/>
          <a:p>
            <a:r>
              <a:t>本页的500和451是文献基准本身的规模，不是本项目实验。当前受控存储快照检查ID检索和过滤，不能证明完整接入、长周期交互和最终行动正确。正式采用外部数据须先冻结版本、许可证、输入适配和答案评审协议。</a:t>
            </a:r>
          </a:p>
          <a:p/>
          <a:p>
            <a:r>
              <a:t>配套Word：11.2, 11.4, 12.7, 18.5节。</a:t>
            </a:r>
          </a:p>
          <a:p>
            <a:r>
              <a:t>依据：文献[8][9]；Word11.2、12.7、17章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技术创新性：三项可核验工程贡献</a:t>
            </a:r>
          </a:p>
          <a:p>
            <a:r>
              <a:t>以“已有先例 → 具体机制 → 源码 → 对照证据 → 适用边界”形成论证。</a:t>
            </a:r>
          </a:p>
          <a:p/>
          <a:p>
            <a:r>
              <a:t>技术创新性30分是反馈指出的重点，本页不自行评分。治理组合以故障、重启和隔离测试支持；v2以同源三策略对照支持；证据链以摘要及重算检查支持。可证伪条件和替代路线在11.8中展开，避免把多项已有机制简单罗列成首创。</a:t>
            </a:r>
          </a:p>
          <a:p/>
          <a:p>
            <a:r>
              <a:t>配套Word：11.3, 11.5, 11.6, 11.7, 11.8节。</a:t>
            </a:r>
          </a:p>
          <a:p>
            <a:r>
              <a:t>依据：Word11.3、11.5–11.8；focused_evidence.py；比较器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关键算法：focused_evidence_v2</a:t>
            </a:r>
          </a:p>
          <a:p>
            <a:r>
              <a:t>相关主题不自动等于可回答；补全后仍对真正返回的证据集合检查。</a:t>
            </a:r>
          </a:p>
          <a:p/>
          <a:p>
            <a:r>
              <a:t>种子必须达阈值，章节只在同精确主题内补全，空或泛化标题不会连接不相干记录。优先增加新查询证据，必要时补邻接正文，最多top_k；只对实际返回正文计算支持，未返回内容不能代答。覆盖门槛0.5是启发式规则，不能解释为事实置信概率。其计算代价和词面局限在结果页同步报告。</a:t>
            </a:r>
          </a:p>
          <a:p/>
          <a:p>
            <a:r>
              <a:t>配套Word：7.3, 7.4, 11.6节。</a:t>
            </a:r>
          </a:p>
          <a:p>
            <a:r>
              <a:t>依据：focused_evidence.py:select_evidence / bundle_supported；Word11.6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评测设计：复杂场景与干扰都进入分母</a:t>
            </a:r>
          </a:p>
          <a:p>
            <a:r>
              <a:t>18个场景、168个不同复杂请求；多文档是正例子集，规模与轮次不是新样本。</a:t>
            </a:r>
          </a:p>
          <a:p/>
          <a:p>
            <a:r>
              <a:t>原集132条固定文档，约束集78条固定文档，保留后再扩充到目标规模。约束集无答案包含版本不存在6题和关系缺证据6题。required_terms不能从expected答案生成。当前没有独立双人盲标或隐藏集泛化分数，未来按实体、会话和时间分组并由独立评测方保管标签。</a:t>
            </a:r>
          </a:p>
          <a:p/>
          <a:p>
            <a:r>
              <a:t>配套Word：12.1, 12.3, 12.7节。</a:t>
            </a:r>
          </a:p>
          <a:p>
            <a:r>
              <a:t>依据：complex_retrieval_v1 / complex_constraints_v1；Word12.3、12.7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评测口径：公式、失败和计时明确</a:t>
            </a:r>
          </a:p>
          <a:p>
            <a:r>
              <a:t>G为相关ID，R为前3个返回；完整、精度、干扰和拒答分别回答不同问题。</a:t>
            </a:r>
          </a:p>
          <a:p/>
          <a:p>
            <a:r>
              <a:t>敏感F1以实体类型和原值次数累计微平均，原值泄漏是独立硬门槛。无答案不能混入权限必空题提高成绩。对80题P95是排序第76项，24题是第23项。公开回归、场景聚簇及重复轮次不满足简单独立随机抽样，Word中的Wilson区间仅为统计说明，不作总体保证。</a:t>
            </a:r>
          </a:p>
          <a:p/>
          <a:p>
            <a:r>
              <a:t>配套Word：12.2, 12.4, 12.6, 12.8, 12.9节。</a:t>
            </a:r>
          </a:p>
          <a:p>
            <a:r>
              <a:t>依据：request_contract.py、complex_retrieval.py；Word12.2、12.8–12.9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对照与门禁：修复不能损害旧成功题</a:t>
            </a:r>
          </a:p>
          <a:p>
            <a:r>
              <a:t>同源码、语料、模型、top_k和阈值，对similarity、coverage_v1及v2逐题配对。</a:t>
            </a:r>
          </a:p>
          <a:p/>
          <a:p>
            <a:r>
              <a:t>候选须每配置每轮完整、无答案、多文档100%，且零错误、零泄漏。旧默认和旧实验的成功请求与Recall分别保护；不能用平均值补偿单题退化。组件级消融尚是拟议实验，不能从整体策略对照分配每个组件贡献百分比。同机串行但未随机策略顺序、未锁频，性能可信度仍需披露限制。</a:t>
            </a:r>
          </a:p>
          <a:p/>
          <a:p>
            <a:r>
              <a:t>配套Word：11.7, 12.5, 12.10节。</a:t>
            </a:r>
          </a:p>
          <a:p>
            <a:r>
              <a:t>依据：compare_evidence_policies.py；证据C/E/N比较报告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冻结五项：当前配置全部达到门槛</a:t>
            </a:r>
          </a:p>
          <a:p>
            <a:r>
              <a:t>Windows / HashEmbedding公开合成回归；10,000条记录，top_k=3，阈值0.265。</a:t>
            </a:r>
          </a:p>
          <a:p/>
          <a:p>
            <a:r>
              <a:t>五项分母分别68、60、60、80、50。时延80题由60正例、12无答案和8跨域组成。偏好/召回/冲突/敏感微F1均为本配置100%，search P95为48.145ms。旧小诊断偏好46.15%仍在Word13.6和总结页披露；不能称所有数据集都达标。</a:t>
            </a:r>
          </a:p>
          <a:p/>
          <a:p>
            <a:r>
              <a:t>配套Word：12.2, 13.1节。</a:t>
            </a:r>
          </a:p>
          <a:p>
            <a:r>
              <a:t>依据：证据W/R；Word12.2、13.1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复杂结果：完整与拒答修复，噪声仍存在</a:t>
            </a:r>
          </a:p>
          <a:p>
            <a:r>
              <a:t>下表为新默认；所有规模、干扰档及三轮均满足严格质量与安全门禁。</a:t>
            </a:r>
          </a:p>
          <a:p/>
          <a:p>
            <a:r>
              <a:t>原120题72正例和24无答案全部通过，约束48题开关两种模式均24正例和12无答案全部通过。原多文档12/12、约束6/6；缺版本和关系缺证据各6/6。原集10k/75%首轮噪声由110/190下降为39/123，仍有31.71%；0%相似填充下新策略噪声40/124，说明固定难例不能忽略。30开发题另报。</a:t>
            </a:r>
          </a:p>
          <a:p/>
          <a:p>
            <a:r>
              <a:t>配套Word：13.2, 13.3, 13.8节。</a:t>
            </a:r>
          </a:p>
          <a:p>
            <a:r>
              <a:t>依据：证据C/E/N；10,000条、75%填充；Word13.2、13.3、13.8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性能可信度：计时边界与质量成本</a:t>
            </a:r>
          </a:p>
          <a:p>
            <a:r>
              <a:t>search含锁、编码、候选、重排、证据检查与序列化；HTTP和Agent端到端另报。</a:t>
            </a:r>
          </a:p>
          <a:p/>
          <a:p>
            <a:r>
              <a:t>首轮没有查询预热，但不是操作系统冷启动；后续轮复用服务，三轮分别保留。原集10k/75%首轮正例P95 64.735ms，无答案87.846ms，作用域4.730ms，因此不能只用快速空结果解释整体速度。1千服务负载P95 9.882ms、HTTP P99 18.543ms是另一组边界，RSS也区分末值和进程生命周期高水位。单SDK探针不是原生P95。</a:t>
            </a:r>
          </a:p>
          <a:p/>
          <a:p>
            <a:r>
              <a:t>配套Word：12.6, 12.9, 13.4, 13.5, 13.8节。</a:t>
            </a:r>
          </a:p>
          <a:p>
            <a:r>
              <a:t>依据：证据R/C/E/N/S；完整12格矩阵见Word13.4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场景案例：升级、回滚与无依据请求</a:t>
            </a:r>
          </a:p>
          <a:p>
            <a:r>
              <a:t>公开合成AE-17 v2.4任务：既要切换条件，也要失败恢复顺序和留证要求。</a:t>
            </a:r>
          </a:p>
          <a:p/>
          <a:p>
            <a:r>
              <a:t>rollout-q1要求找到condition和evidence两份材料，包含APPROVED、双人签名、备份摘要复验、行数与单位核对、维护写入入口、旧启动项和配置快照恢复以及日志保留。约束开关都完整召回。未发布版本和没有硬件微秒保证的负例均空返回；作用域必空另计。这是实际返回链路演示，不是现场升级成功案例。</a:t>
            </a:r>
          </a:p>
          <a:p/>
          <a:p>
            <a:r>
              <a:t>配套Word：14.1, 14.2节。</a:t>
            </a:r>
          </a:p>
          <a:p>
            <a:r>
              <a:t>依据：complex_constraints_v1：rollout-q1 / absent-version / unsupported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结论与验收：证据充分披露，风险独立关闭</a:t>
            </a:r>
          </a:p>
          <a:p>
            <a:r>
              <a:t>材料已完成初版；源码与证据可追溯，正式赛事结论由独立验收决定。</a:t>
            </a:r>
          </a:p>
          <a:p/>
          <a:p>
            <a:r>
              <a:t>性能可信度25分为反馈强调的论证重点，不自行打分。风险解除须实际模型、至少50个不同请求、三轮、质量安全和原生完整search P95同时达标；真实V11、Agent/Judge和授权案例不由文档成稿自动关闭。Word保留全矩阵、技术方案、用户手册、参考文献及逐节证据索引。PDF由负责人自行转换，当前不生成交付PDF或ZIP。</a:t>
            </a:r>
          </a:p>
          <a:p/>
          <a:p>
            <a:r>
              <a:t>配套Word：13.6, 13.7, 13.9, 17.3, 18.2节。</a:t>
            </a:r>
          </a:p>
          <a:p>
            <a:r>
              <a:t>依据：Word13.6–13.9、17–18章；官方提交规则</a:t>
            </a:r>
          </a:p>
          <a:p>
            <a:r>
              <a:t>测量边界：既有Windows/HashEmbedding公开合成回归；不构成真实SDK或赛事验收。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4088" y="594360"/>
            <a:ext cx="64008" cy="301752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621792"/>
            <a:ext cx="10515600" cy="3108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挑战杯 · 揭榜挂帅  |  麒麟赛题  |  匿名项目报告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43584"/>
            <a:ext cx="10735056" cy="1536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124"/>
              </a:lnSpc>
              <a:spcBef>
                <a:spcPts val="0"/>
              </a:spcBef>
              <a:spcAft>
                <a:spcPts val="0"/>
              </a:spcAft>
            </a:pPr>
            <a:r>
              <a:rPr sz="42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OS Agent</a:t>
            </a:r>
          </a:p>
          <a:p>
            <a:pPr algn="l">
              <a:lnSpc>
                <a:spcPts val="5124"/>
              </a:lnSpc>
              <a:spcBef>
                <a:spcPts val="0"/>
              </a:spcBef>
              <a:spcAft>
                <a:spcPts val="0"/>
              </a:spcAft>
            </a:pPr>
            <a:r>
              <a:rPr sz="42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多源融合记忆优化系统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08960"/>
            <a:ext cx="1078992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总体方案 · 技术创新 · 评测口径 · 性能可信度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" y="3941063"/>
            <a:ext cx="3328416" cy="3200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4215384"/>
            <a:ext cx="3383280" cy="502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65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392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4864608"/>
            <a:ext cx="3383280" cy="329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</a:pPr>
            <a:r>
              <a:rPr sz="185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项工程测试无失败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330952"/>
            <a:ext cx="338328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1项平台条件跳过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79" y="3941063"/>
            <a:ext cx="3328416" cy="32004"/>
          </a:xfrm>
          <a:prstGeom prst="rect">
            <a:avLst/>
          </a:prstGeom>
          <a:solidFill>
            <a:srgbClr val="285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4215384"/>
            <a:ext cx="3383280" cy="502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65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168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4864608"/>
            <a:ext cx="3383280" cy="329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</a:pPr>
            <a:r>
              <a:rPr sz="185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个不同复杂请求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5330952"/>
            <a:ext cx="338328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可见开发30题另列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38744" y="3941063"/>
            <a:ext cx="3328416" cy="3200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4215384"/>
            <a:ext cx="3383280" cy="502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65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48.145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4864608"/>
            <a:ext cx="3383280" cy="329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7"/>
              </a:lnSpc>
              <a:spcBef>
                <a:spcPts val="0"/>
              </a:spcBef>
              <a:spcAft>
                <a:spcPts val="0"/>
              </a:spcAft>
            </a:pPr>
            <a:r>
              <a:rPr sz="185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冻结检索 P95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5330952"/>
            <a:ext cx="338328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80查询 / HashEmbedding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5916168"/>
            <a:ext cx="10789920" cy="329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已完成初版，待赛事验收  |  2026-09-11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6428232"/>
            <a:ext cx="105156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公开合成回归；真实SDK为待复测风险项，当前V11与独立Agent/Judge另验。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问题与应用价值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让记忆可用，也让错误记忆可控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面向办公偏好、部署流程与故障处置，管理临时指令、旧版本和相似对象带来的误用风险。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依据：Word第1、3、14章；合成OS场景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02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883664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偏好连续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350008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记住语言、格式和安全偏好；显式修改生成版本，不让一次性要求长期覆盖。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45536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145536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证据完整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611880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同时检索流程、条件和回滚依据；相似设备或标题不能代替实际证据。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07408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407408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用户可控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4873752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来源可追踪、冲突先隔离、遗忘先预览后确认；检索结果不等于执行授权。</a:t>
            </a:r>
          </a:p>
        </p:txBody>
      </p:sp>
      <p:sp>
        <p:nvSpPr>
          <p:cNvPr id="1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当前量化命中、完整性、安全和耗时；没有编造真实用户节省时间或效率提升比例。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总体架构：服务边界统一治理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CLI、HTTP与评测调用同一MemoryService；治理逻辑与存储、模型provider分层。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依据：service.py、memory_store.py、file_memory.py；Word第2章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03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304" y="2583446"/>
            <a:ext cx="0" cy="190272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304" y="3517506"/>
            <a:ext cx="0" cy="190271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304" y="4451565"/>
            <a:ext cx="0" cy="190272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gram:architecture:node:1"/>
          <p:cNvSpPr/>
          <p:nvPr/>
        </p:nvSpPr>
        <p:spPr>
          <a:xfrm>
            <a:off x="1080058" y="1839658"/>
            <a:ext cx="10032492" cy="743788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330" y="2012632"/>
            <a:ext cx="1772983" cy="4151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入口层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2503" y="2021281"/>
            <a:ext cx="7792478" cy="423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CLI / 本地 HTTP / 逐请求评测器</a:t>
            </a:r>
          </a:p>
        </p:txBody>
      </p:sp>
      <p:sp>
        <p:nvSpPr>
          <p:cNvPr id="15" name="diagram:architecture:node:2"/>
          <p:cNvSpPr/>
          <p:nvPr/>
        </p:nvSpPr>
        <p:spPr>
          <a:xfrm>
            <a:off x="1080058" y="2773718"/>
            <a:ext cx="10032492" cy="743788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0330" y="2946692"/>
            <a:ext cx="1772983" cy="4151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503" y="2955340"/>
            <a:ext cx="7792478" cy="423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MemoryService：作用域、服务锁、读写事务</a:t>
            </a:r>
          </a:p>
        </p:txBody>
      </p:sp>
      <p:sp>
        <p:nvSpPr>
          <p:cNvPr id="18" name="diagram:architecture:node:3"/>
          <p:cNvSpPr/>
          <p:nvPr/>
        </p:nvSpPr>
        <p:spPr>
          <a:xfrm>
            <a:off x="1080058" y="3707777"/>
            <a:ext cx="10032492" cy="743788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0330" y="3880751"/>
            <a:ext cx="1772983" cy="4151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机制层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2503" y="3889400"/>
            <a:ext cx="7792478" cy="423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接入 / 偏好 / 生命周期 / 冲突 / 检索 / 遗忘</a:t>
            </a:r>
          </a:p>
        </p:txBody>
      </p:sp>
      <p:sp>
        <p:nvSpPr>
          <p:cNvPr id="21" name="diagram:architecture:node:4"/>
          <p:cNvSpPr/>
          <p:nvPr/>
        </p:nvSpPr>
        <p:spPr>
          <a:xfrm>
            <a:off x="1080058" y="4641837"/>
            <a:ext cx="10032492" cy="743788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0330" y="4814811"/>
            <a:ext cx="1772983" cy="4151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基础层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2503" y="4823460"/>
            <a:ext cx="7792478" cy="423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SQLite 与索引缓存；可替换 Embedding provider</a:t>
            </a:r>
          </a:p>
        </p:txBody>
      </p:sp>
      <p:sp>
        <p:nvSpPr>
          <p:cNvPr id="24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研究路线：SQLite + 证据晋升。官方路线：Markdown + 运行时明确同意。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两路无自动双写或同步，授权和计分边界独立。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实现方案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多源接入：先清洗，再累计可信证据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六类来源统一事件字段，保留身份、时间、工具结果与质量反馈。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依据：ingestion.py、security.py、service.py；Word第3章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04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72508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92529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16325" y="3344532"/>
            <a:ext cx="0" cy="59676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92529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072508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gram:ingestion:node:1"/>
          <p:cNvSpPr/>
          <p:nvPr/>
        </p:nvSpPr>
        <p:spPr>
          <a:xfrm>
            <a:off x="1080058" y="1926145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735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事件接入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722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735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六类来源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身份、时间、工具状态</a:t>
            </a:r>
          </a:p>
        </p:txBody>
      </p:sp>
      <p:sp>
        <p:nvSpPr>
          <p:cNvPr id="18" name="diagram:ingestion:node:2"/>
          <p:cNvSpPr/>
          <p:nvPr/>
        </p:nvSpPr>
        <p:spPr>
          <a:xfrm>
            <a:off x="4600079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5756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格式规范化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743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56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字段 / 时间 / 文本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非法记录列入 issues</a:t>
            </a:r>
          </a:p>
        </p:txBody>
      </p:sp>
      <p:sp>
        <p:nvSpPr>
          <p:cNvPr id="22" name="diagram:ingestion:node:3"/>
          <p:cNvSpPr/>
          <p:nvPr/>
        </p:nvSpPr>
        <p:spPr>
          <a:xfrm>
            <a:off x="8120100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777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脱敏与风险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8764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777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正文 + metadata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递归处理、风险标记</a:t>
            </a:r>
          </a:p>
        </p:txBody>
      </p:sp>
      <p:sp>
        <p:nvSpPr>
          <p:cNvPr id="26" name="diagram:ingestion:node:4"/>
          <p:cNvSpPr/>
          <p:nvPr/>
        </p:nvSpPr>
        <p:spPr>
          <a:xfrm>
            <a:off x="8120100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777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两级去重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8764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777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事件ID + 内容指纹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跨请求、跨重启</a:t>
            </a:r>
          </a:p>
        </p:txBody>
      </p:sp>
      <p:sp>
        <p:nvSpPr>
          <p:cNvPr id="30" name="diagram:ingestion:node:5"/>
          <p:cNvSpPr/>
          <p:nvPr/>
        </p:nvSpPr>
        <p:spPr>
          <a:xfrm>
            <a:off x="4600079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5756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证据聚合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743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5756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质量 / 权威 / 次数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决定长期晋升</a:t>
            </a:r>
          </a:p>
        </p:txBody>
      </p:sp>
      <p:sp>
        <p:nvSpPr>
          <p:cNvPr id="34" name="diagram:ingestion:node:6"/>
          <p:cNvSpPr/>
          <p:nvPr/>
        </p:nvSpPr>
        <p:spPr>
          <a:xfrm>
            <a:off x="1080058" y="3941292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5735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事务与回执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8722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5735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成功后保存去重状态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失败恢复业务状态</a:t>
            </a:r>
          </a:p>
        </p:txBody>
      </p:sp>
      <p:sp>
        <p:nvSpPr>
          <p:cNvPr id="3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六类：显式配置、工具结果、系统事件、导入文档、用户行为、会话上下文。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风险阻止长期晋升；来源权威度和身份仍需可信接入方绑定。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实现方案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记忆流转：偏好可更新，历史可解释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短中长期记忆以风险、来源与证据驱动；当前偏好和历史版本分别管理。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依据：preference.py、lifecycle.py；Word第4–5章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05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72508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92529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16325" y="3344532"/>
            <a:ext cx="0" cy="59676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92529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072508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gram:lifecycle:node:1"/>
          <p:cNvSpPr/>
          <p:nvPr/>
        </p:nvSpPr>
        <p:spPr>
          <a:xfrm>
            <a:off x="1080058" y="1926145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735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规范化事件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722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735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身份 / 来源 / 风险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重复不增加证据量</a:t>
            </a:r>
          </a:p>
        </p:txBody>
      </p:sp>
      <p:sp>
        <p:nvSpPr>
          <p:cNvPr id="18" name="diagram:lifecycle:node:2"/>
          <p:cNvSpPr/>
          <p:nvPr/>
        </p:nvSpPr>
        <p:spPr>
          <a:xfrm>
            <a:off x="4600079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5756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短期缓冲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743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56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会话隔离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默认 TTL 1800秒</a:t>
            </a:r>
          </a:p>
        </p:txBody>
      </p:sp>
      <p:sp>
        <p:nvSpPr>
          <p:cNvPr id="22" name="diagram:lifecycle:node:3"/>
          <p:cNvSpPr/>
          <p:nvPr/>
        </p:nvSpPr>
        <p:spPr>
          <a:xfrm>
            <a:off x="8120100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777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中期证据簇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8764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777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按作用域、场景和主题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累计质量与多源证据</a:t>
            </a:r>
          </a:p>
        </p:txBody>
      </p:sp>
      <p:sp>
        <p:nvSpPr>
          <p:cNvPr id="26" name="diagram:lifecycle:node:4"/>
          <p:cNvSpPr/>
          <p:nvPr/>
        </p:nvSpPr>
        <p:spPr>
          <a:xfrm>
            <a:off x="8120100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777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晋升检查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8764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777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风险 + 分数 + 数量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不满足保留中期</a:t>
            </a:r>
          </a:p>
        </p:txBody>
      </p:sp>
      <p:sp>
        <p:nvSpPr>
          <p:cNvPr id="30" name="diagram:lifecycle:node:5"/>
          <p:cNvSpPr/>
          <p:nvPr/>
        </p:nvSpPr>
        <p:spPr>
          <a:xfrm>
            <a:off x="4600079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5756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长期记忆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743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5756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偏好版本 / 结构化知识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状态、时间和来源</a:t>
            </a:r>
          </a:p>
        </p:txBody>
      </p:sp>
      <p:sp>
        <p:nvSpPr>
          <p:cNvPr id="34" name="diagram:lifecycle:node:6"/>
          <p:cNvSpPr/>
          <p:nvPr/>
        </p:nvSpPr>
        <p:spPr>
          <a:xfrm>
            <a:off x="1080058" y="3941292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5735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持续治理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8722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5735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查询 / 冲突 / 过期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降级 / 确认遗忘</a:t>
            </a:r>
          </a:p>
        </p:txBody>
      </p:sp>
      <p:sp>
        <p:nvSpPr>
          <p:cNvPr id="3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最新显式配置优先；隐式证据采用30天半衰期；同值合并、异值建版本。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来源权重与置信分数是启发式规则，不是真实正确概率或用户授权。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实现方案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检索方案：可见性过滤与混合候选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先处理作用域和有效状态，再用词法、字符、向量候选及证据策略完成检索。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依据：memory_store.py、focused_evidence.py；Word第7章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06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72508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92529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16325" y="3344532"/>
            <a:ext cx="0" cy="59676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92529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072508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gram:retrieval:node:1"/>
          <p:cNvSpPr/>
          <p:nvPr/>
        </p:nvSpPr>
        <p:spPr>
          <a:xfrm>
            <a:off x="1080058" y="1926145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735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查询与身份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722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735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tenant / user / scene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top_k / 阈值</a:t>
            </a:r>
          </a:p>
        </p:txBody>
      </p:sp>
      <p:sp>
        <p:nvSpPr>
          <p:cNvPr id="18" name="diagram:retrieval:node:2"/>
          <p:cNvSpPr/>
          <p:nvPr/>
        </p:nvSpPr>
        <p:spPr>
          <a:xfrm>
            <a:off x="4600079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5756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可见性过滤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743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56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状态、时间与作用域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显式条件先过滤</a:t>
            </a:r>
          </a:p>
        </p:txBody>
      </p:sp>
      <p:sp>
        <p:nvSpPr>
          <p:cNvPr id="22" name="diagram:retrieval:node:3"/>
          <p:cNvSpPr/>
          <p:nvPr/>
        </p:nvSpPr>
        <p:spPr>
          <a:xfrm>
            <a:off x="8120100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777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查询编码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8764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777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单次查询向量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片段评分复用</a:t>
            </a:r>
          </a:p>
        </p:txBody>
      </p:sp>
      <p:sp>
        <p:nvSpPr>
          <p:cNvPr id="26" name="diagram:retrieval:node:4"/>
          <p:cNvSpPr/>
          <p:nvPr/>
        </p:nvSpPr>
        <p:spPr>
          <a:xfrm>
            <a:off x="8120100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777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并集候选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8764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777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词法 + 汉字 + 向量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缓存文档向量</a:t>
            </a:r>
          </a:p>
        </p:txBody>
      </p:sp>
      <p:sp>
        <p:nvSpPr>
          <p:cNvPr id="30" name="diagram:retrieval:node:5"/>
          <p:cNvSpPr/>
          <p:nvPr/>
        </p:nvSpPr>
        <p:spPr>
          <a:xfrm>
            <a:off x="4600079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5756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混合精排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743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5756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分项权重 + authority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种子阈值0.265</a:t>
            </a:r>
          </a:p>
        </p:txBody>
      </p:sp>
      <p:sp>
        <p:nvSpPr>
          <p:cNvPr id="34" name="diagram:retrieval:node:6"/>
          <p:cNvSpPr/>
          <p:nvPr/>
        </p:nvSpPr>
        <p:spPr>
          <a:xfrm>
            <a:off x="1080058" y="3941292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5735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证据策略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8722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5735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v2 聚焦 / 补全 / 检查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返回正文与解释</a:t>
            </a:r>
          </a:p>
        </p:txBody>
      </p:sp>
      <p:sp>
        <p:nvSpPr>
          <p:cNvPr id="3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本次测量配置：HashEmbedding 256维 / ngram=2 / top_k=3 / min_score=0.265。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显式约束只能来自真实输入，不能由答案标签反推。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实现方案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冲突先隔离，遗忘可确认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待决知识默认不可见；遗忘计划先展示目标范围，再由同作用域用户确认。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依据：memory_store.py、service.py、security.py；Word第6、9章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07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72508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92529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16325" y="3344532"/>
            <a:ext cx="0" cy="59676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92529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072508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gram:forget:node:1"/>
          <p:cNvSpPr/>
          <p:nvPr/>
        </p:nvSpPr>
        <p:spPr>
          <a:xfrm>
            <a:off x="1080058" y="1926145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735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用户指令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722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735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自然语言 + 作用域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明确删除意图</a:t>
            </a:r>
          </a:p>
        </p:txBody>
      </p:sp>
      <p:sp>
        <p:nvSpPr>
          <p:cNvPr id="18" name="diagram:forget:node:2"/>
          <p:cNvSpPr/>
          <p:nvPr/>
        </p:nvSpPr>
        <p:spPr>
          <a:xfrm>
            <a:off x="4600079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5756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预览计划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743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56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目标IDs / 关键词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有效期；零修改</a:t>
            </a:r>
          </a:p>
        </p:txBody>
      </p:sp>
      <p:sp>
        <p:nvSpPr>
          <p:cNvPr id="22" name="diagram:forget:node:3"/>
          <p:cNvSpPr/>
          <p:nvPr/>
        </p:nvSpPr>
        <p:spPr>
          <a:xfrm>
            <a:off x="8120100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777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8764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777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核对范围后确认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传真实 plan_id</a:t>
            </a:r>
          </a:p>
        </p:txBody>
      </p:sp>
      <p:sp>
        <p:nvSpPr>
          <p:cNvPr id="26" name="diagram:forget:node:4"/>
          <p:cNvSpPr/>
          <p:nvPr/>
        </p:nvSpPr>
        <p:spPr>
          <a:xfrm>
            <a:off x="8120100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777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安全校验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8764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777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归属、有效期、状态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重复确认返回原回执</a:t>
            </a:r>
          </a:p>
        </p:txBody>
      </p:sp>
      <p:sp>
        <p:nvSpPr>
          <p:cNvPr id="30" name="diagram:forget:node:5"/>
          <p:cNvSpPr/>
          <p:nvPr/>
        </p:nvSpPr>
        <p:spPr>
          <a:xfrm>
            <a:off x="4600079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5756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原子遗忘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743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5756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内容 / 历史 / 索引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软删或硬删 + 保存</a:t>
            </a:r>
          </a:p>
        </p:txBody>
      </p:sp>
      <p:sp>
        <p:nvSpPr>
          <p:cNvPr id="34" name="diagram:forget:node:6"/>
          <p:cNvSpPr/>
          <p:nvPr/>
        </p:nvSpPr>
        <p:spPr>
          <a:xfrm>
            <a:off x="1080058" y="3941292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5735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审计核查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8722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5735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最小回执 audit_id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重启后仍不可召回</a:t>
            </a:r>
          </a:p>
        </p:txBody>
      </p:sp>
      <p:sp>
        <p:nvSpPr>
          <p:cNvPr id="3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冲突处理核对终态；敏感过滤同时检查实体微F1与原值零泄漏。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内容、历史、索引与回执协同更新；硬删除不自动销毁外部备份。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部署与适配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端侧部署与真实SDK证据边界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本地HTTP、SQLite和内存索引已实现；当前Windows与目标麒麟V11分别验收。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依据：证据W/S/SDK；Word第8、10章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08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304" y="2583446"/>
            <a:ext cx="0" cy="190272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304" y="3517506"/>
            <a:ext cx="0" cy="190271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304" y="4451565"/>
            <a:ext cx="0" cy="190272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gram:deployment:node:1"/>
          <p:cNvSpPr/>
          <p:nvPr/>
        </p:nvSpPr>
        <p:spPr>
          <a:xfrm>
            <a:off x="1080058" y="1839658"/>
            <a:ext cx="10032492" cy="743788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330" y="2012632"/>
            <a:ext cx="1772983" cy="4151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调用端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2503" y="2021281"/>
            <a:ext cx="7792478" cy="423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浏览器 / CLI / 评测；本机可信身份</a:t>
            </a:r>
          </a:p>
        </p:txBody>
      </p:sp>
      <p:sp>
        <p:nvSpPr>
          <p:cNvPr id="15" name="diagram:deployment:node:2"/>
          <p:cNvSpPr/>
          <p:nvPr/>
        </p:nvSpPr>
        <p:spPr>
          <a:xfrm>
            <a:off x="1080058" y="2773718"/>
            <a:ext cx="10032492" cy="743788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0330" y="2946692"/>
            <a:ext cx="1772983" cy="4151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应用进程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503" y="2955340"/>
            <a:ext cx="7792478" cy="423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127.0.0.1 HTTP + MemoryService + RLock</a:t>
            </a:r>
          </a:p>
        </p:txBody>
      </p:sp>
      <p:sp>
        <p:nvSpPr>
          <p:cNvPr id="18" name="diagram:deployment:node:3"/>
          <p:cNvSpPr/>
          <p:nvPr/>
        </p:nvSpPr>
        <p:spPr>
          <a:xfrm>
            <a:off x="1080058" y="3707777"/>
            <a:ext cx="10032492" cy="743788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0330" y="3880751"/>
            <a:ext cx="1772983" cy="4151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端侧状态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2503" y="3889400"/>
            <a:ext cx="7792478" cy="423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内存候选索引 / 向量缓存 / SQLite文件</a:t>
            </a:r>
          </a:p>
        </p:txBody>
      </p:sp>
      <p:sp>
        <p:nvSpPr>
          <p:cNvPr id="21" name="diagram:deployment:node:4"/>
          <p:cNvSpPr/>
          <p:nvPr/>
        </p:nvSpPr>
        <p:spPr>
          <a:xfrm>
            <a:off x="1080058" y="4641837"/>
            <a:ext cx="10032492" cy="743788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0330" y="4814811"/>
            <a:ext cx="1772983" cy="4151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模型边界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2503" y="4823460"/>
            <a:ext cx="7792478" cy="423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Hash在进程内；原生SDK为受限子进程，待复测</a:t>
            </a:r>
          </a:p>
        </p:txBody>
      </p:sp>
      <p:sp>
        <p:nvSpPr>
          <p:cNvPr id="24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真实SDK：单次768维探针13,390.615ms，含进程/会话/初始化；不是P95。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状态：待复测风险项。当前源码V11全量复验另做，失败不回退Hash冒充通过。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相关工作对比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相关工作：已有机制与本项目差异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层级、遗忘、向量检索和持久记忆均有先例；本项目贡献定位为OS场景工程改进。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依据：文献[1]–[7]固定版本；Word第11、18章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09 / 20</a:t>
            </a:r>
          </a:p>
        </p:txBody>
      </p:sp>
      <p:graphicFrame>
        <p:nvGraphicFramePr>
          <p:cNvPr id="9" name="editable_table:9"/>
          <p:cNvGraphicFramePr>
            <a:graphicFrameLocks noGrp="1"/>
          </p:cNvGraphicFramePr>
          <p:nvPr/>
        </p:nvGraphicFramePr>
        <p:xfrm>
          <a:off x="612648" y="1847088"/>
          <a:ext cx="10972799" cy="2756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3472"/>
                <a:gridCol w="3291839"/>
                <a:gridCol w="5047488"/>
              </a:tblGrid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相关路线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已有机制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本项目差异与边界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MemGPT /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MemoryOS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外存调度、分层记忆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强化事件、版本与撤销治理；不称三层首创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MemoryBank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用户记忆、遗忘强化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显式修正优先、证据版本；衰减非首创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Generative Agents /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Mem0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反思规划、持续整合、图变体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无自动反思或通用图推理成绩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LongMem / FAISS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神经外部记忆、向量索引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规则与混合候选；非神经/ANN算法创新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没有复现这些外部系统；不同模型、数据、硬件和计分的论文结果不拼接为排行榜。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相关工作对比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相关评测：召回不等于回答正确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借鉴长记忆与Agent经验基准的任务分层，但不把外部题目计入本项目分母。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依据：文献[8][9]；Word11.2、12.7、17章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10 / 20</a:t>
            </a:r>
          </a:p>
        </p:txBody>
      </p:sp>
      <p:graphicFrame>
        <p:nvGraphicFramePr>
          <p:cNvPr id="9" name="editable_table:10"/>
          <p:cNvGraphicFramePr>
            <a:graphicFrameLocks noGrp="1"/>
          </p:cNvGraphicFramePr>
          <p:nvPr/>
        </p:nvGraphicFramePr>
        <p:xfrm>
          <a:off x="612648" y="1847088"/>
          <a:ext cx="10972800" cy="258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3511296"/>
                <a:gridCol w="4608576"/>
              </a:tblGrid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基准/数据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关注能力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本项目对应与缺口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LongMemEval v2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500个问题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提取、跨会话、时间、更新、拒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区分检索与阅读；没有该基准成绩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LongMemEval-V2 v1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451个问题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Agent状态、流程、陷阱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和前提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加入OS条件与日志难例；不是轨迹复现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本项目复杂回归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168个不同请求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版本、条件、多文档、无答案、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作用域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开发可见合成题；仍缺独立真实Agent与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Judge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30个可见开发请求另列。下一步需授权真实轨迹、按场景切分的隐藏标签及独立评分。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技术创新性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技术创新性：三项可核验工程贡献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以“已有先例 → 具体机制 → 源码 → 对照证据 → 适用边界”形成论证。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依据：Word11.3、11.5–11.8；focused_evidence.py；比较器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11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883664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OS事件治理一致性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350008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失败工具降权、显式修正、冲突隔离与可确认遗忘贯穿同一服务边界；来源和变更可追踪。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45536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145536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聚焦证据集合选择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611880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主种子 + 同精确主题互补章节 + 实际返回正文检查，修复公开复杂完整性和拒答。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07408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407408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逐请求不退化证据链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4873752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保护两组控制的旧成功与逐题Recall；冻结源码、分母、失败和全部轮次，报告可复算。</a:t>
            </a:r>
          </a:p>
        </p:txBody>
      </p:sp>
      <p:sp>
        <p:nvSpPr>
          <p:cNvPr id="1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工程贡献不等于基础理论首创。当前三策略对照不证明各子模块的独立贡献比例。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技术创新实现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关键算法：focused_evidence_v2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相关主题不自动等于可回答；补全后仍对真正返回的证据集合检查。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依据：focused_evidence.py:select_evidence / bundle_supported；Word11.6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12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72508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92529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16325" y="3344532"/>
            <a:ext cx="0" cy="59676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92529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072508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gram:focused:node:1"/>
          <p:cNvSpPr/>
          <p:nvPr/>
        </p:nvSpPr>
        <p:spPr>
          <a:xfrm>
            <a:off x="1080058" y="1926145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735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请求分流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722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735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明确问句/指令：聚焦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关键词：保留原排序</a:t>
            </a:r>
          </a:p>
        </p:txBody>
      </p:sp>
      <p:sp>
        <p:nvSpPr>
          <p:cNvPr id="18" name="diagram:focused:node:2"/>
          <p:cNvSpPr/>
          <p:nvPr/>
        </p:nvSpPr>
        <p:spPr>
          <a:xfrm>
            <a:off x="4600079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5756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主体与约束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743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56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显式条件优先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无歧义设备 / 版本</a:t>
            </a:r>
          </a:p>
        </p:txBody>
      </p:sp>
      <p:sp>
        <p:nvSpPr>
          <p:cNvPr id="22" name="diagram:focused:node:3"/>
          <p:cNvSpPr/>
          <p:nvPr/>
        </p:nvSpPr>
        <p:spPr>
          <a:xfrm>
            <a:off x="8120100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777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主种子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8764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777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综合分数≥0.265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必须授权可见</a:t>
            </a:r>
          </a:p>
        </p:txBody>
      </p:sp>
      <p:sp>
        <p:nvSpPr>
          <p:cNvPr id="26" name="diagram:focused:node:4"/>
          <p:cNvSpPr/>
          <p:nvPr/>
        </p:nvSpPr>
        <p:spPr>
          <a:xfrm>
            <a:off x="8120100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777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互补章节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8764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777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同精确主题补全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最多 top_k 条</a:t>
            </a:r>
          </a:p>
        </p:txBody>
      </p:sp>
      <p:sp>
        <p:nvSpPr>
          <p:cNvPr id="30" name="diagram:focused:node:5"/>
          <p:cNvSpPr/>
          <p:nvPr/>
        </p:nvSpPr>
        <p:spPr>
          <a:xfrm>
            <a:off x="4600079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5756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支持检查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743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5756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实际标题与正文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覆盖≥0.5 + 属性片段</a:t>
            </a:r>
          </a:p>
        </p:txBody>
      </p:sp>
      <p:sp>
        <p:nvSpPr>
          <p:cNvPr id="34" name="diagram:focused:node:6"/>
          <p:cNvSpPr/>
          <p:nvPr/>
        </p:nvSpPr>
        <p:spPr>
          <a:xfrm>
            <a:off x="1080058" y="3941292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5735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返回或拒答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8722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5735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正文 + evidence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不支持则返回 []</a:t>
            </a:r>
          </a:p>
        </p:txBody>
      </p:sp>
      <p:sp>
        <p:nvSpPr>
          <p:cNvPr id="3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属性词需在正文片段中共同支持；互补章节同时保留direct_score、seed_id与origin。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关键词查询走ranked_lookup；本规则不是语义蕴含或通用多跳推理。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评测口径说明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评测设计：复杂场景与干扰都进入分母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18个场景、168个不同复杂请求；多文档是正例子集，规模与轮次不是新样本。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依据：complex_retrieval_v1 / complex_constraints_v1；Word12.3、12.7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13 / 20</a:t>
            </a:r>
          </a:p>
        </p:txBody>
      </p:sp>
      <p:graphicFrame>
        <p:nvGraphicFramePr>
          <p:cNvPr id="9" name="editable_table:13"/>
          <p:cNvGraphicFramePr>
            <a:graphicFrameLocks noGrp="1"/>
          </p:cNvGraphicFramePr>
          <p:nvPr/>
        </p:nvGraphicFramePr>
        <p:xfrm>
          <a:off x="612648" y="1847088"/>
          <a:ext cx="10972798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1645919"/>
                <a:gridCol w="3730752"/>
                <a:gridCol w="3182111"/>
              </a:tblGrid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不同请求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正例 / 无答案 / 作用域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多文档与用途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原复杂集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 / 24 / 24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12题；无显式约束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约束复杂集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 / 12 / 12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6题；约束开/关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可见开发集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+ 10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10+6正例 / 10+4负例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单列；不作独立盲测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13232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规模与压力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不增加独立题</a:t>
                      </a:r>
                    </a:p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1千 / 1万记录；三轮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填充相似干扰0% / 75%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0%仅指生成填充比例；固定近邻、旧版、待决和越域难例始终存在。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真值与检索输入分离，但这些回归题已被开发者查看并用于修复。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评测口径说明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评测口径：公式、失败和计时明确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G为相关ID，R为前3个返回；完整、精度、干扰和拒答分别回答不同问题。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依据：request_contract.py、complex_retrieval.py；Word12.2、12.8–12.9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14 / 20</a:t>
            </a:r>
          </a:p>
        </p:txBody>
      </p:sp>
      <p:graphicFrame>
        <p:nvGraphicFramePr>
          <p:cNvPr id="9" name="editable_table:14"/>
          <p:cNvGraphicFramePr>
            <a:graphicFrameLocks noGrp="1"/>
          </p:cNvGraphicFramePr>
          <p:nvPr/>
        </p:nvGraphicFramePr>
        <p:xfrm>
          <a:off x="612648" y="1847088"/>
          <a:ext cx="10972800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2"/>
                <a:gridCol w="3950208"/>
                <a:gridCol w="4937760"/>
              </a:tblGrid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计分口径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不能忽略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 / 冲突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完整键值集合 / 检测及终态正确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多键、漏键、错值和误淘汰失败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召回 / 完整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|G∩R|/|G|宏平均 / 全部证据找齐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多文档完整单列；入库漏失不删题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 / 干扰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P@3固定3槽；无关/实际返回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MRR与nDCG另报；完整不等于零干扰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无答案 / 作用域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合法空返回，两个分母分开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异常、超时、非法ID均失败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nearest-rank，第ceil(0.95n)项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完整search；慢题保留，三轮分别报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算例G={g1,g2}、R=[g1,d1,g2]：Recall=100%，P@3=66.67%，干扰=33.33%。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这是公式说明，不是新增测量；Word另详述敏感微F1与统计不确定性。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评测口径说明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对照与门禁：修复不能损害旧成功题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同源码、语料、模型、top_k和阈值，对similarity、coverage_v1及v2逐题配对。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依据：compare_evidence_policies.py；证据C/E/N比较报告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15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72508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92529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16325" y="3344532"/>
            <a:ext cx="0" cy="59676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92529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072508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gram:gates:node:1"/>
          <p:cNvSpPr/>
          <p:nvPr/>
        </p:nvSpPr>
        <p:spPr>
          <a:xfrm>
            <a:off x="1080058" y="1926145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735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验证同源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722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735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数据/语料/模型/参数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源码与评测器</a:t>
            </a:r>
          </a:p>
        </p:txBody>
      </p:sp>
      <p:sp>
        <p:nvSpPr>
          <p:cNvPr id="18" name="diagram:gates:node:2"/>
          <p:cNvSpPr/>
          <p:nvPr/>
        </p:nvSpPr>
        <p:spPr>
          <a:xfrm>
            <a:off x="4600079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5756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重算逐题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743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56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返回、分数与支持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完整性及失败IDs</a:t>
            </a:r>
          </a:p>
        </p:txBody>
      </p:sp>
      <p:sp>
        <p:nvSpPr>
          <p:cNvPr id="22" name="diagram:gates:node:3"/>
          <p:cNvSpPr/>
          <p:nvPr/>
        </p:nvSpPr>
        <p:spPr>
          <a:xfrm>
            <a:off x="8120100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777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两组成功保护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8764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777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旧默认 + 旧实验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每题Recall不降低</a:t>
            </a:r>
          </a:p>
        </p:txBody>
      </p:sp>
      <p:sp>
        <p:nvSpPr>
          <p:cNvPr id="26" name="diagram:gates:node:4"/>
          <p:cNvSpPr/>
          <p:nvPr/>
        </p:nvSpPr>
        <p:spPr>
          <a:xfrm>
            <a:off x="8120100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777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汇总不退化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8764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777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对比旧业务默认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排序、拒答、干扰</a:t>
            </a:r>
          </a:p>
        </p:txBody>
      </p:sp>
      <p:sp>
        <p:nvSpPr>
          <p:cNvPr id="30" name="diagram:gates:node:5"/>
          <p:cNvSpPr/>
          <p:nvPr/>
        </p:nvSpPr>
        <p:spPr>
          <a:xfrm>
            <a:off x="4600079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5756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新策略硬门槛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743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5756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完整率/拒答100%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零异常与越域</a:t>
            </a:r>
          </a:p>
        </p:txBody>
      </p:sp>
      <p:sp>
        <p:nvSpPr>
          <p:cNvPr id="34" name="diagram:gates:node:6"/>
          <p:cNvSpPr/>
          <p:nvPr/>
        </p:nvSpPr>
        <p:spPr>
          <a:xfrm>
            <a:off x="1080058" y="3941292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5735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时延与结论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8722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5735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每配置每轮≤500ms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七项门禁全部通过</a:t>
            </a:r>
          </a:p>
        </p:txBody>
      </p:sp>
      <p:sp>
        <p:nvSpPr>
          <p:cNvPr id="3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三组比较报告七项门禁均通过；旧控制组的失败与总false标志继续保留。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排序/干扰汇总仅对比similarity；时延门禁是≤500ms，不是每题都更快。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量化结果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冻结五项：当前配置全部达到门槛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Windows / HashEmbedding公开合成回归；10,000条记录，top_k=3，阈值0.265。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依据：证据W/R；Word12.2、13.1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16 / 20</a:t>
            </a:r>
          </a:p>
        </p:txBody>
      </p:sp>
      <p:graphicFrame>
        <p:nvGraphicFramePr>
          <p:cNvPr id="9" name="editable_table:16"/>
          <p:cNvGraphicFramePr>
            <a:graphicFrameLocks noGrp="1"/>
          </p:cNvGraphicFramePr>
          <p:nvPr/>
        </p:nvGraphicFramePr>
        <p:xfrm>
          <a:off x="612648" y="1847088"/>
          <a:ext cx="10972800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568"/>
                <a:gridCol w="2523744"/>
                <a:gridCol w="2194560"/>
                <a:gridCol w="2852928"/>
              </a:tblGrid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不同请求数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门槛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偏好准确率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≥85%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 Recall@3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≥85%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冲突正确率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≥88%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 P95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48.145ms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≤500ms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敏感实体微 F1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≥90%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392项工程测试无失败、1项平台跳过；17项工程检查通过。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附加无答案、作用域、持久化与敏感原值零泄漏同时通过；不是原生SDK成绩。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量化结果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复杂结果：完整与拒答修复，噪声仍存在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下表为新默认；所有规模、干扰档及三轮均满足严格质量与安全门禁。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依据：证据C/E/N；10,000条、75%填充；Word13.2、13.3、13.8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17 / 20</a:t>
            </a:r>
          </a:p>
        </p:txBody>
      </p:sp>
      <p:graphicFrame>
        <p:nvGraphicFramePr>
          <p:cNvPr id="9" name="editable_table:17"/>
          <p:cNvGraphicFramePr>
            <a:graphicFrameLocks noGrp="1"/>
          </p:cNvGraphicFramePr>
          <p:nvPr/>
        </p:nvGraphicFramePr>
        <p:xfrm>
          <a:off x="612648" y="1847088"/>
          <a:ext cx="1097280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568"/>
                <a:gridCol w="2523744"/>
                <a:gridCol w="2523744"/>
                <a:gridCol w="2523744"/>
              </a:tblGrid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/ 模式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完整正例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多文档完整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正确拒答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原120 / 无约束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72/72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12/12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24/24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约束48 / 开启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24/24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6/6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12/12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约束48 / 关闭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24/24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6/6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12/12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作用域均正确；原集干扰39/123（31.71%），约束集9/39（23.08%）。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同格旧默认为68/72完整、1/24拒答；完整召回不代表零干扰或最终回答正确。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性能可信度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性能可信度：计时边界与质量成本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search含锁、编码、候选、重排、证据检查与序列化；HTTP和Agent端到端另报。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依据：证据R/C/E/N/S；完整12格矩阵见Word13.4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18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9816" y="2231136"/>
            <a:ext cx="301752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gram:timing_boundary:node:1"/>
          <p:cNvSpPr/>
          <p:nvPr/>
        </p:nvSpPr>
        <p:spPr>
          <a:xfrm>
            <a:off x="630936" y="1819656"/>
            <a:ext cx="2468880" cy="832104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7" y="1947672"/>
            <a:ext cx="2322576" cy="2834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开始计时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2340864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调用 search 之前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80" y="2231136"/>
            <a:ext cx="30175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gram:timing_boundary:node:2"/>
          <p:cNvSpPr/>
          <p:nvPr/>
        </p:nvSpPr>
        <p:spPr>
          <a:xfrm>
            <a:off x="3429000" y="1819656"/>
            <a:ext cx="2468880" cy="832104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947672"/>
            <a:ext cx="2322576" cy="2834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锁、编码与候选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340864"/>
            <a:ext cx="2340864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真实 provider 成本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95944" y="2231136"/>
            <a:ext cx="301752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gram:timing_boundary:node:3"/>
          <p:cNvSpPr/>
          <p:nvPr/>
        </p:nvSpPr>
        <p:spPr>
          <a:xfrm>
            <a:off x="6227064" y="1819656"/>
            <a:ext cx="2468880" cy="832104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947672"/>
            <a:ext cx="2322576" cy="2834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重排、正文与返回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340864"/>
            <a:ext cx="2340864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包含序列化</a:t>
            </a:r>
          </a:p>
        </p:txBody>
      </p:sp>
      <p:sp>
        <p:nvSpPr>
          <p:cNvPr id="21" name="diagram:timing_boundary:node:4"/>
          <p:cNvSpPr/>
          <p:nvPr/>
        </p:nvSpPr>
        <p:spPr>
          <a:xfrm>
            <a:off x="9025128" y="1819656"/>
            <a:ext cx="2468880" cy="832104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47672"/>
            <a:ext cx="2322576" cy="2834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结束计时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340864"/>
            <a:ext cx="2340864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nearest-rank 统计</a:t>
            </a:r>
          </a:p>
        </p:txBody>
      </p:sp>
      <p:graphicFrame>
        <p:nvGraphicFramePr>
          <p:cNvPr id="24" name="editable_table:18"/>
          <p:cNvGraphicFramePr>
            <a:graphicFrameLocks noGrp="1"/>
          </p:cNvGraphicFramePr>
          <p:nvPr/>
        </p:nvGraphicFramePr>
        <p:xfrm>
          <a:off x="612648" y="2926080"/>
          <a:ext cx="1097280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656"/>
                <a:gridCol w="3730752"/>
                <a:gridCol w="4279392"/>
              </a:tblGrid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(ms)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zh-CN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配置与边界</a:t>
                      </a:r>
                    </a:p>
                  </a:txBody>
                  <a:tcPr marL="100584" marR="100584" marT="64008" marB="64008" anchor="ctr">
                    <a:solidFill>
                      <a:srgbClr val="006D77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冻结80不同查询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48.145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Hash完整search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原复杂集：旧默认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39.399 / 39.311 / 38.950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10k / 75% / 三轮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443484"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原复杂集：新默认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67.605 / 66.067 / 66.724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21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26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同配置；输出集合改变</a:t>
                      </a:r>
                    </a:p>
                  </a:txBody>
                  <a:tcPr marL="100584" marR="100584" marT="64008" marB="64008" anchor="ctr">
                    <a:solidFill>
                      <a:srgbClr val="EEF6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原复杂集为完整性和拒答增加计算开销，不是普遍加速；12种配置每轮仍≤500ms。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共享开发机、非冷启动SLA；调用内原生初始化不得剔除。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应用案例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场景案例：升级、回滚与无依据请求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公开合成AE-17 v2.4任务：既要切换条件，也要失败恢复顺序和留证要求。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依据：complex_constraints_v1：rollout-q1 / absent-version / unsupported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19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72508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92529" y="2635338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16325" y="3344532"/>
            <a:ext cx="0" cy="59676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592529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072508" y="4650486"/>
            <a:ext cx="527571" cy="0"/>
          </a:xfrm>
          <a:prstGeom prst="line">
            <a:avLst/>
          </a:prstGeom>
          <a:ln w="17780">
            <a:solidFill>
              <a:srgbClr val="5266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gram:case_upgrade:node:1"/>
          <p:cNvSpPr/>
          <p:nvPr/>
        </p:nvSpPr>
        <p:spPr>
          <a:xfrm>
            <a:off x="1080058" y="1926145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5735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用户查询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722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5735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unit_mismatch后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核对、恢复、保留证据</a:t>
            </a:r>
          </a:p>
        </p:txBody>
      </p:sp>
      <p:sp>
        <p:nvSpPr>
          <p:cNvPr id="18" name="diagram:case_upgrade:node:2"/>
          <p:cNvSpPr/>
          <p:nvPr/>
        </p:nvSpPr>
        <p:spPr>
          <a:xfrm>
            <a:off x="4600079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5756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设备与版本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743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56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AE-17 / v2.4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排除近邻与其他版本</a:t>
            </a:r>
          </a:p>
        </p:txBody>
      </p:sp>
      <p:sp>
        <p:nvSpPr>
          <p:cNvPr id="22" name="diagram:case_upgrade:node:3"/>
          <p:cNvSpPr/>
          <p:nvPr/>
        </p:nvSpPr>
        <p:spPr>
          <a:xfrm>
            <a:off x="8120100" y="1926145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777" y="2081822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条件章节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8764" y="2099119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777" y="2583446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1940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APPROVED + 双人签名</a:t>
            </a:r>
          </a:p>
          <a:p>
            <a:pPr algn="ctr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1940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备份摘要变化需重验</a:t>
            </a:r>
          </a:p>
        </p:txBody>
      </p:sp>
      <p:sp>
        <p:nvSpPr>
          <p:cNvPr id="26" name="diagram:case_upgrade:node:4"/>
          <p:cNvSpPr/>
          <p:nvPr/>
        </p:nvSpPr>
        <p:spPr>
          <a:xfrm>
            <a:off x="8120100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777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回滚章节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8764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777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核对行数/单位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维护写入→旧启动项</a:t>
            </a:r>
          </a:p>
        </p:txBody>
      </p:sp>
      <p:sp>
        <p:nvSpPr>
          <p:cNvPr id="30" name="diagram:case_upgrade:node:5"/>
          <p:cNvSpPr/>
          <p:nvPr/>
        </p:nvSpPr>
        <p:spPr>
          <a:xfrm>
            <a:off x="4600079" y="3941292"/>
            <a:ext cx="2992450" cy="1418386"/>
          </a:xfrm>
          <a:prstGeom prst="rect">
            <a:avLst/>
          </a:prstGeom>
          <a:solidFill>
            <a:srgbClr val="EEF3FA"/>
          </a:solidFill>
          <a:ln w="12700">
            <a:solidFill>
              <a:srgbClr val="28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5756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2857A5"/>
                </a:solidFill>
                <a:latin typeface="Microsoft YaHei"/>
                <a:ea typeface="Microsoft YaHei"/>
                <a:cs typeface="Microsoft YaHei"/>
              </a:rPr>
              <a:t>完整召回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743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5756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condition + evidence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两份标注证据找齐</a:t>
            </a:r>
          </a:p>
        </p:txBody>
      </p:sp>
      <p:sp>
        <p:nvSpPr>
          <p:cNvPr id="34" name="diagram:case_upgrade:node:6"/>
          <p:cNvSpPr/>
          <p:nvPr/>
        </p:nvSpPr>
        <p:spPr>
          <a:xfrm>
            <a:off x="1080058" y="3941292"/>
            <a:ext cx="2992450" cy="1418386"/>
          </a:xfrm>
          <a:prstGeom prst="rect">
            <a:avLst/>
          </a:prstGeom>
          <a:solidFill>
            <a:srgbClr val="EEF6F5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5735" y="4096969"/>
            <a:ext cx="2300554" cy="397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06"/>
              </a:lnSpc>
              <a:spcBef>
                <a:spcPts val="0"/>
              </a:spcBef>
              <a:spcAft>
                <a:spcPts val="0"/>
              </a:spcAft>
            </a:pPr>
            <a:r>
              <a:rPr sz="2179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应用边界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8722" y="4114266"/>
            <a:ext cx="345947" cy="328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566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5735" y="4598593"/>
            <a:ext cx="2681096" cy="674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上层核验并执行确认</a:t>
            </a:r>
          </a:p>
          <a:p>
            <a:pPr algn="ctr">
              <a:lnSpc>
                <a:spcPts val="2369"/>
              </a:lnSpc>
              <a:spcBef>
                <a:spcPts val="0"/>
              </a:spcBef>
              <a:spcAft>
                <a:spcPts val="0"/>
              </a:spcAft>
            </a:pPr>
            <a:r>
              <a:rPr sz="1974" b="0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本例未操作真实设备</a:t>
            </a:r>
          </a:p>
        </p:txBody>
      </p:sp>
      <p:sp>
        <p:nvSpPr>
          <p:cNvPr id="3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对不存在的v2.4-unreleased版本，以及“硬件保证几微秒原子恢复”的缺证据关系，均空返回。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合成案例不代表真实终端执行；上层仍须核验前置条件并取得操作授权。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74320"/>
            <a:ext cx="64008" cy="2743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5176"/>
            <a:ext cx="10515600" cy="2194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性能可信度与交付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12648"/>
            <a:ext cx="10972800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结论与验收：证据充分披露，风险独立关闭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9576"/>
            <a:ext cx="10972800" cy="44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材料已完成初版；源码与证据可追溯，正式赛事结论由独立验收决定。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6592824"/>
            <a:ext cx="10963656" cy="0"/>
          </a:xfrm>
          <a:prstGeom prst="line">
            <a:avLst/>
          </a:prstGeom>
          <a:ln w="17780">
            <a:solidFill>
              <a:srgbClr val="9DA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647688"/>
            <a:ext cx="10405872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77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依据：Word13.6–13.9、17–18章；官方提交规则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7664" y="6647688"/>
            <a:ext cx="557784" cy="182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35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20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883664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已形成证据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350008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149个运行文件摘要绑定；冻结五项与复杂不退化门禁通过；三轮、失败及原始返回保留。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45536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145536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如实保留限制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611880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旧小诊断偏好46.15%；复杂残余干扰31.71%；可见合成回归不是盲测、答案或真实用户收益。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07408"/>
            <a:ext cx="658368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407408"/>
            <a:ext cx="9857232" cy="3566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72629"/>
                </a:solidFill>
                <a:latin typeface="Microsoft YaHei"/>
                <a:ea typeface="Microsoft YaHei"/>
                <a:cs typeface="Microsoft YaHei"/>
              </a:rPr>
              <a:t>独立补证重点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4873752"/>
            <a:ext cx="9784080" cy="65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7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52666A"/>
                </a:solidFill>
                <a:latin typeface="Microsoft YaHei"/>
                <a:ea typeface="Microsoft YaHei"/>
                <a:cs typeface="Microsoft YaHei"/>
              </a:rPr>
              <a:t>真实SDK为待复测风险项；当前源码V11、真实Agent/Judge与授权真实案例分别复验。</a:t>
            </a:r>
          </a:p>
        </p:txBody>
      </p:sp>
      <p:sp>
        <p:nvSpPr>
          <p:cNvPr id="18" name="visible_boundary"/>
          <p:cNvSpPr txBox="1"/>
          <p:nvPr/>
        </p:nvSpPr>
        <p:spPr>
          <a:xfrm>
            <a:off x="704088" y="5806440"/>
            <a:ext cx="10835640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本次仅PPTX + Word，不打包、不上传。正式规则：视频5–10分钟、ZIP≤200M；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9D4B28"/>
                </a:solidFill>
                <a:latin typeface="Microsoft YaHei"/>
                <a:ea typeface="Microsoft YaHei"/>
                <a:cs typeface="Microsoft YaHei"/>
              </a:rPr>
              <a:t>截止2026年9月15日24:00；指定一人首次提交，匿名正文与外层命名分别检查。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Agent 多源融合记忆优化系统 项目报告（20页精简版）</dc:title>
  <dc:subject>总体方案、技术创新性、评测口径与性能可信度</dc:subject>
  <dc:creator/>
  <cp:keywords>OS Agent; anonymous; public regression</cp:keywords>
  <dc:description/>
  <cp:lastModifiedBy/>
  <cp:revision>1</cp:revision>
  <dcterms:created xsi:type="dcterms:W3CDTF">2026-09-11T00:00:00Z</dcterms:created>
  <dcterms:modified xsi:type="dcterms:W3CDTF">2026-09-11T00:00:00Z</dcterms:modified>
  <cp:category/>
</cp:coreProperties>
</file>