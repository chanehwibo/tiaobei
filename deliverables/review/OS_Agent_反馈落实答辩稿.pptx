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657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2800" b="1">
                <a:solidFill>
                  <a:srgbClr val="232A2A"/>
                </a:solidFill>
                <a:latin typeface="Microsoft YaHei"/>
                <a:ea typeface="Microsoft YaHei"/>
              </a:defRPr>
            </a:pPr>
            <a:r>
              <a:t>OS Agent 多源融合记忆优化系统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25880"/>
            <a:ext cx="1088136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900" b="0">
                <a:solidFill>
                  <a:srgbClr val="232A2A"/>
                </a:solidFill>
                <a:latin typeface="Microsoft YaHei"/>
                <a:ea typeface="Microsoft YaHei"/>
              </a:defRPr>
            </a:pPr>
            <a:r>
              <a:t>XA-202612 | 出题方反馈落实与当前源码复测 | 2026-09-10</a:t>
            </a:r>
          </a:p>
          <a:p>
            <a:pPr>
              <a:spcAft>
                <a:spcPts val="1600"/>
              </a:spcAft>
              <a:defRPr sz="1900" b="0">
                <a:solidFill>
                  <a:srgbClr val="232A2A"/>
                </a:solidFill>
                <a:latin typeface="Microsoft YaHei"/>
                <a:ea typeface="Microsoft YaHei"/>
              </a:defRPr>
            </a:pPr>
            <a:r>
              <a:t>已完成初版，待赛事验收</a:t>
            </a:r>
          </a:p>
          <a:p>
            <a:pPr>
              <a:spcAft>
                <a:spcPts val="1600"/>
              </a:spcAft>
              <a:defRPr sz="1900" b="0">
                <a:solidFill>
                  <a:srgbClr val="232A2A"/>
                </a:solidFill>
                <a:latin typeface="Microsoft YaHei"/>
                <a:ea typeface="Microsoft YaHei"/>
              </a:defRPr>
            </a:pPr>
            <a:r>
              <a:t>端侧记忆治理、作用域隔离、混合检索与可核验的遗忘。</a:t>
            </a:r>
          </a:p>
          <a:p>
            <a:pPr>
              <a:spcAft>
                <a:spcPts val="1600"/>
              </a:spcAft>
              <a:defRPr sz="1900" b="0">
                <a:solidFill>
                  <a:srgbClr val="232A2A"/>
                </a:solidFill>
                <a:latin typeface="Microsoft YaHei"/>
                <a:ea typeface="Microsoft YaHei"/>
              </a:defRPr>
            </a:pPr>
            <a:r>
              <a:t>当前成绩：Windows + HashEmbedding + 公开合成数据。</a:t>
            </a:r>
          </a:p>
          <a:p>
            <a:pPr>
              <a:spcAft>
                <a:spcPts val="1600"/>
              </a:spcAft>
              <a:defRPr sz="1900" b="0">
                <a:solidFill>
                  <a:srgbClr val="232A2A"/>
                </a:solidFill>
                <a:latin typeface="Microsoft YaHei"/>
                <a:ea typeface="Microsoft YaHei"/>
              </a:defRPr>
            </a:pPr>
            <a:r>
              <a:t>真实SDK：待复测风险项；V11待当前版复验。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327648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100" b="0">
                <a:solidFill>
                  <a:srgbClr val="913336"/>
                </a:solidFill>
                <a:latin typeface="Microsoft YaHei"/>
                <a:ea typeface="Microsoft YaHei"/>
              </a:defRPr>
            </a:pPr>
            <a:r>
              <a:t>公开合成回归 | HashEmbedding | 已完成初版，待赛事验收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327648"/>
            <a:ext cx="594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100" b="0">
                <a:solidFill>
                  <a:srgbClr val="232A2A"/>
                </a:solidFill>
                <a:latin typeface="Microsoft YaHei"/>
                <a:ea typeface="Microsoft YaHei"/>
              </a:defRPr>
            </a:pPr>
            <a:r>
              <a:t>1/15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657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2800" b="1">
                <a:solidFill>
                  <a:srgbClr val="232A2A"/>
                </a:solidFill>
                <a:latin typeface="Microsoft YaHei"/>
                <a:ea typeface="Microsoft YaHei"/>
              </a:defRPr>
            </a:pPr>
            <a:r>
              <a:t>四项反馈的落实范围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25880"/>
            <a:ext cx="1088136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900" b="0">
                <a:solidFill>
                  <a:srgbClr val="232A2A"/>
                </a:solidFill>
                <a:latin typeface="Microsoft YaHei"/>
                <a:ea typeface="Microsoft YaHei"/>
              </a:defRPr>
            </a:pPr>
            <a:r>
              <a:t>状态：当前材料和新审阅包统一为“已完成初版，待赛事验收”。</a:t>
            </a:r>
          </a:p>
          <a:p>
            <a:pPr>
              <a:spcAft>
                <a:spcPts val="1600"/>
              </a:spcAft>
              <a:defRPr sz="1900" b="0">
                <a:solidFill>
                  <a:srgbClr val="232A2A"/>
                </a:solidFill>
                <a:latin typeface="Microsoft YaHei"/>
                <a:ea typeface="Microsoft YaHei"/>
              </a:defRPr>
            </a:pPr>
            <a:r>
              <a:t>SDK：保留真实慢调用，明确复测风险和解除条件。</a:t>
            </a:r>
          </a:p>
          <a:p>
            <a:pPr>
              <a:spcAft>
                <a:spcPts val="1600"/>
              </a:spcAft>
              <a:defRPr sz="1900" b="0">
                <a:solidFill>
                  <a:srgbClr val="232A2A"/>
                </a:solidFill>
                <a:latin typeface="Microsoft YaHei"/>
                <a:ea typeface="Microsoft YaHei"/>
              </a:defRPr>
            </a:pPr>
            <a:r>
              <a:t>创新与可信度：补五项一手文献对比、分母和时延口径。</a:t>
            </a:r>
          </a:p>
          <a:p>
            <a:pPr>
              <a:spcAft>
                <a:spcPts val="1600"/>
              </a:spcAft>
              <a:defRPr sz="1900" b="0">
                <a:solidFill>
                  <a:srgbClr val="232A2A"/>
                </a:solidFill>
                <a:latin typeface="Microsoft YaHei"/>
                <a:ea typeface="Microsoft YaHei"/>
              </a:defRPr>
            </a:pPr>
            <a:r>
              <a:t>复杂干扰：冻结12场景120请求，分层报告质量和延迟。</a:t>
            </a:r>
          </a:p>
          <a:p>
            <a:pPr>
              <a:spcAft>
                <a:spcPts val="1600"/>
              </a:spcAft>
              <a:defRPr sz="1900" b="0">
                <a:solidFill>
                  <a:srgbClr val="232A2A"/>
                </a:solidFill>
                <a:latin typeface="Microsoft YaHei"/>
                <a:ea typeface="Microsoft YaHei"/>
              </a:defRPr>
            </a:pPr>
            <a:r>
              <a:t>新增难例揭示近主题误答风险；不能概括为所有复杂质量达标。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327648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100" b="0">
                <a:solidFill>
                  <a:srgbClr val="913336"/>
                </a:solidFill>
                <a:latin typeface="Microsoft YaHei"/>
                <a:ea typeface="Microsoft YaHei"/>
              </a:defRPr>
            </a:pPr>
            <a:r>
              <a:t>公开合成回归 | HashEmbedding | 已完成初版，待赛事验收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327648"/>
            <a:ext cx="594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100" b="0">
                <a:solidFill>
                  <a:srgbClr val="232A2A"/>
                </a:solidFill>
                <a:latin typeface="Microsoft YaHei"/>
                <a:ea typeface="Microsoft YaHei"/>
              </a:defRPr>
            </a:pPr>
            <a:r>
              <a:t>2/15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657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2800" b="1">
                <a:solidFill>
                  <a:srgbClr val="232A2A"/>
                </a:solidFill>
                <a:latin typeface="Microsoft YaHei"/>
                <a:ea typeface="Microsoft YaHei"/>
              </a:defRPr>
            </a:pPr>
            <a:r>
              <a:t>方案与工程贡献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25880"/>
            <a:ext cx="1088136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900" b="0">
                <a:solidFill>
                  <a:srgbClr val="232A2A"/>
                </a:solidFill>
                <a:latin typeface="Microsoft YaHei"/>
                <a:ea typeface="Microsoft YaHei"/>
              </a:defRPr>
            </a:pPr>
            <a:r>
              <a:t>事件 -&gt; 校验/脱敏 -&gt; 授权晋升 -&gt; 偏好/知识 -&gt; 召回/遗忘。</a:t>
            </a:r>
          </a:p>
          <a:p>
            <a:pPr>
              <a:spcAft>
                <a:spcPts val="1600"/>
              </a:spcAft>
              <a:defRPr sz="1900" b="0">
                <a:solidFill>
                  <a:srgbClr val="232A2A"/>
                </a:solidFill>
                <a:latin typeface="Microsoft YaHei"/>
                <a:ea typeface="Microsoft YaHei"/>
              </a:defRPr>
            </a:pPr>
            <a:r>
              <a:t>显式设置优先，行为证据衰减；失败工具不能自动成为偏好。</a:t>
            </a:r>
          </a:p>
          <a:p>
            <a:pPr>
              <a:spcAft>
                <a:spcPts val="1600"/>
              </a:spcAft>
              <a:defRPr sz="1900" b="0">
                <a:solidFill>
                  <a:srgbClr val="232A2A"/>
                </a:solidFill>
                <a:latin typeface="Microsoft YaHei"/>
                <a:ea typeface="Microsoft YaHei"/>
              </a:defRPr>
            </a:pPr>
            <a:r>
              <a:t>待决冲突、过期、隔离内容不进入普通检索。</a:t>
            </a:r>
          </a:p>
          <a:p>
            <a:pPr>
              <a:spcAft>
                <a:spcPts val="1600"/>
              </a:spcAft>
              <a:defRPr sz="1900" b="0">
                <a:solidFill>
                  <a:srgbClr val="232A2A"/>
                </a:solidFill>
                <a:latin typeface="Microsoft YaHei"/>
                <a:ea typeface="Microsoft YaHei"/>
              </a:defRPr>
            </a:pPr>
            <a:r>
              <a:t>tenant/user/scene作用域贯穿索引、持久化、预览和确认。</a:t>
            </a:r>
          </a:p>
          <a:p>
            <a:pPr>
              <a:spcAft>
                <a:spcPts val="1600"/>
              </a:spcAft>
              <a:defRPr sz="1900" b="0">
                <a:solidFill>
                  <a:srgbClr val="232A2A"/>
                </a:solidFill>
                <a:latin typeface="Microsoft YaHei"/>
                <a:ea typeface="Microsoft YaHei"/>
              </a:defRPr>
            </a:pPr>
            <a:r>
              <a:t>创新限定为OS Agent约束下的集成一致性，不声称基础算法首创。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327648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100" b="0">
                <a:solidFill>
                  <a:srgbClr val="913336"/>
                </a:solidFill>
                <a:latin typeface="Microsoft YaHei"/>
                <a:ea typeface="Microsoft YaHei"/>
              </a:defRPr>
            </a:pPr>
            <a:r>
              <a:t>公开合成回归 | HashEmbedding | 已完成初版，待赛事验收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327648"/>
            <a:ext cx="594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100" b="0">
                <a:solidFill>
                  <a:srgbClr val="232A2A"/>
                </a:solidFill>
                <a:latin typeface="Microsoft YaHei"/>
                <a:ea typeface="Microsoft YaHei"/>
              </a:defRPr>
            </a:pPr>
            <a:r>
              <a:t>3/15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657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2800" b="1">
                <a:solidFill>
                  <a:srgbClr val="232A2A"/>
                </a:solidFill>
                <a:latin typeface="Microsoft YaHei"/>
                <a:ea typeface="Microsoft YaHei"/>
              </a:defRPr>
            </a:pPr>
            <a:r>
              <a:t>相关工作与创新边界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25880"/>
            <a:ext cx="1088136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900" b="0">
                <a:solidFill>
                  <a:srgbClr val="232A2A"/>
                </a:solidFill>
                <a:latin typeface="Microsoft YaHei"/>
                <a:ea typeface="Microsoft YaHei"/>
              </a:defRPr>
            </a:pPr>
            <a:r>
              <a:t>MemGPT：分层上下文管理；本项目侧重事件授权与治理。</a:t>
            </a:r>
          </a:p>
          <a:p>
            <a:pPr>
              <a:spcAft>
                <a:spcPts val="1600"/>
              </a:spcAft>
              <a:defRPr sz="1900" b="0">
                <a:solidFill>
                  <a:srgbClr val="232A2A"/>
                </a:solidFill>
                <a:latin typeface="Microsoft YaHei"/>
                <a:ea typeface="Microsoft YaHei"/>
              </a:defRPr>
            </a:pPr>
            <a:r>
              <a:t>MemoryBank：长期记忆和遗忘；本项目增加显式决策与版本证据。</a:t>
            </a:r>
          </a:p>
          <a:p>
            <a:pPr>
              <a:spcAft>
                <a:spcPts val="1600"/>
              </a:spcAft>
              <a:defRPr sz="1900" b="0">
                <a:solidFill>
                  <a:srgbClr val="232A2A"/>
                </a:solidFill>
                <a:latin typeface="Microsoft YaHei"/>
                <a:ea typeface="Microsoft YaHei"/>
              </a:defRPr>
            </a:pPr>
            <a:r>
              <a:t>Generative Agents：观察/反思/规划；本项目不声称复现智能体。</a:t>
            </a:r>
          </a:p>
          <a:p>
            <a:pPr>
              <a:spcAft>
                <a:spcPts val="1600"/>
              </a:spcAft>
              <a:defRPr sz="1900" b="0">
                <a:solidFill>
                  <a:srgbClr val="232A2A"/>
                </a:solidFill>
                <a:latin typeface="Microsoft YaHei"/>
                <a:ea typeface="Microsoft YaHei"/>
              </a:defRPr>
            </a:pPr>
            <a:r>
              <a:t>LongMem：训练式记忆读取；本项目为可替换模型的低依赖原型。</a:t>
            </a:r>
          </a:p>
          <a:p>
            <a:pPr>
              <a:spcAft>
                <a:spcPts val="1600"/>
              </a:spcAft>
              <a:defRPr sz="1900" b="0">
                <a:solidFill>
                  <a:srgbClr val="232A2A"/>
                </a:solidFill>
                <a:latin typeface="Microsoft YaHei"/>
                <a:ea typeface="Microsoft YaHei"/>
              </a:defRPr>
            </a:pPr>
            <a:r>
              <a:t>FAISS：向量索引；本项目不是ANN创新，也不作跨论文数字比较。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327648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100" b="0">
                <a:solidFill>
                  <a:srgbClr val="913336"/>
                </a:solidFill>
                <a:latin typeface="Microsoft YaHei"/>
                <a:ea typeface="Microsoft YaHei"/>
              </a:defRPr>
            </a:pPr>
            <a:r>
              <a:t>公开合成回归 | HashEmbedding | 已完成初版，待赛事验收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327648"/>
            <a:ext cx="594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100" b="0">
                <a:solidFill>
                  <a:srgbClr val="232A2A"/>
                </a:solidFill>
                <a:latin typeface="Microsoft YaHei"/>
                <a:ea typeface="Microsoft YaHei"/>
              </a:defRPr>
            </a:pPr>
            <a:r>
              <a:t>4/15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657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2800" b="1">
                <a:solidFill>
                  <a:srgbClr val="232A2A"/>
                </a:solidFill>
                <a:latin typeface="Microsoft YaHei"/>
                <a:ea typeface="Microsoft YaHei"/>
              </a:defRPr>
            </a:pPr>
            <a:r>
              <a:t>评测口径与性能可信度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25880"/>
            <a:ext cx="1088136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900" b="0">
                <a:solidFill>
                  <a:srgbClr val="232A2A"/>
                </a:solidFill>
                <a:latin typeface="Microsoft YaHei"/>
                <a:ea typeface="Microsoft YaHei"/>
              </a:defRPr>
            </a:pPr>
            <a:r>
              <a:t>冻结五项分母为68/60/60/80/50；复杂集另报，绝不混分母。</a:t>
            </a:r>
          </a:p>
          <a:p>
            <a:pPr>
              <a:spcAft>
                <a:spcPts val="1600"/>
              </a:spcAft>
              <a:defRPr sz="1900" b="0">
                <a:solidFill>
                  <a:srgbClr val="232A2A"/>
                </a:solidFill>
                <a:latin typeface="Microsoft YaHei"/>
                <a:ea typeface="Microsoft YaHei"/>
              </a:defRPr>
            </a:pPr>
            <a:r>
              <a:t>10,000条、Hash256/ngram2、top_k=3、阈值0.265。</a:t>
            </a:r>
          </a:p>
          <a:p>
            <a:pPr>
              <a:spcAft>
                <a:spcPts val="1600"/>
              </a:spcAft>
              <a:defRPr sz="1900" b="0">
                <a:solidFill>
                  <a:srgbClr val="232A2A"/>
                </a:solidFill>
                <a:latin typeface="Microsoft YaHei"/>
                <a:ea typeface="Microsoft YaHei"/>
              </a:defRPr>
            </a:pPr>
            <a:r>
              <a:t>Recall取查询宏平均；实体F1取微平均；无答案、越域单列。</a:t>
            </a:r>
          </a:p>
          <a:p>
            <a:pPr>
              <a:spcAft>
                <a:spcPts val="1600"/>
              </a:spcAft>
              <a:defRPr sz="1900" b="0">
                <a:solidFill>
                  <a:srgbClr val="232A2A"/>
                </a:solidFill>
                <a:latin typeface="Microsoft YaHei"/>
                <a:ea typeface="Microsoft YaHei"/>
              </a:defRPr>
            </a:pPr>
            <a:r>
              <a:t>P95使用nearest-rank；保留所有异常、超时与逐轮结果。</a:t>
            </a:r>
          </a:p>
          <a:p>
            <a:pPr>
              <a:spcAft>
                <a:spcPts val="1600"/>
              </a:spcAft>
              <a:defRPr sz="1900" b="0">
                <a:solidFill>
                  <a:srgbClr val="232A2A"/>
                </a:solidFill>
                <a:latin typeface="Microsoft YaHei"/>
                <a:ea typeface="Microsoft YaHei"/>
              </a:defRPr>
            </a:pPr>
            <a:r>
              <a:t>服务计时包含锁、编码、召回、重排、序列化；不含HTTP/Agent。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327648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100" b="0">
                <a:solidFill>
                  <a:srgbClr val="913336"/>
                </a:solidFill>
                <a:latin typeface="Microsoft YaHei"/>
                <a:ea typeface="Microsoft YaHei"/>
              </a:defRPr>
            </a:pPr>
            <a:r>
              <a:t>公开合成回归 | HashEmbedding | 已完成初版，待赛事验收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327648"/>
            <a:ext cx="594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100" b="0">
                <a:solidFill>
                  <a:srgbClr val="232A2A"/>
                </a:solidFill>
                <a:latin typeface="Microsoft YaHei"/>
                <a:ea typeface="Microsoft YaHei"/>
              </a:defRPr>
            </a:pPr>
            <a:r>
              <a:t>5/15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657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2800" b="1">
                <a:solidFill>
                  <a:srgbClr val="232A2A"/>
                </a:solidFill>
                <a:latin typeface="Microsoft YaHei"/>
                <a:ea typeface="Microsoft YaHei"/>
              </a:defRPr>
            </a:pPr>
            <a:r>
              <a:t>当前Windows冻结五项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25880"/>
            <a:ext cx="108813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700" b="0">
                <a:solidFill>
                  <a:srgbClr val="232A2A"/>
                </a:solidFill>
                <a:latin typeface="Microsoft YaHei"/>
                <a:ea typeface="Microsoft YaHei"/>
              </a:defRPr>
            </a:pPr>
            <a:r>
              <a:t>公开合成回归；五项数值和附加安全门槛共同校验。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85800" y="2560320"/>
          <a:ext cx="1078992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2286000"/>
                <a:gridCol w="3200400"/>
                <a:gridCol w="2377440"/>
              </a:tblGrid>
              <a:tr h="548640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defRPr>
                      </a:pPr>
                      <a:r>
                        <a:t>指标</a:t>
                      </a:r>
                    </a:p>
                  </a:txBody>
                  <a:tcPr marT="73152" marB="73152">
                    <a:solidFill>
                      <a:srgbClr val="20685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defRPr>
                      </a:pPr>
                      <a:r>
                        <a:t>门槛</a:t>
                      </a:r>
                    </a:p>
                  </a:txBody>
                  <a:tcPr marT="73152" marB="73152">
                    <a:solidFill>
                      <a:srgbClr val="20685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defRPr>
                      </a:pPr>
                      <a:r>
                        <a:t>Windows</a:t>
                      </a:r>
                    </a:p>
                  </a:txBody>
                  <a:tcPr marT="73152" marB="73152">
                    <a:solidFill>
                      <a:srgbClr val="20685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defRPr>
                      </a:pPr>
                      <a:r>
                        <a:t>请求数</a:t>
                      </a:r>
                    </a:p>
                  </a:txBody>
                  <a:tcPr marT="73152" marB="73152">
                    <a:solidFill>
                      <a:srgbClr val="20685B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232A2A"/>
                          </a:solidFill>
                          <a:latin typeface="Microsoft YaHei"/>
                          <a:ea typeface="Microsoft YaHei"/>
                        </a:defRPr>
                      </a:pPr>
                      <a:r>
                        <a:t>偏好逐请求准确率</a:t>
                      </a:r>
                    </a:p>
                  </a:txBody>
                  <a:tcPr marT="73152" marB="73152">
                    <a:solidFill>
                      <a:srgbClr val="F4F7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232A2A"/>
                          </a:solidFill>
                          <a:latin typeface="Microsoft YaHei"/>
                          <a:ea typeface="Microsoft YaHei"/>
                        </a:defRPr>
                      </a:pPr>
                      <a:r>
                        <a:t>&gt;=85%</a:t>
                      </a:r>
                    </a:p>
                  </a:txBody>
                  <a:tcPr marT="73152" marB="73152">
                    <a:solidFill>
                      <a:srgbClr val="F4F7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232A2A"/>
                          </a:solidFill>
                          <a:latin typeface="Microsoft YaHei"/>
                          <a:ea typeface="Microsoft YaHei"/>
                        </a:defRPr>
                      </a:pPr>
                      <a:r>
                        <a:t>100.00%</a:t>
                      </a:r>
                    </a:p>
                  </a:txBody>
                  <a:tcPr marT="73152" marB="73152">
                    <a:solidFill>
                      <a:srgbClr val="F4F7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232A2A"/>
                          </a:solidFill>
                          <a:latin typeface="Microsoft YaHei"/>
                          <a:ea typeface="Microsoft YaHei"/>
                        </a:defRPr>
                      </a:pPr>
                      <a:r>
                        <a:t>68</a:t>
                      </a:r>
                    </a:p>
                  </a:txBody>
                  <a:tcPr marT="73152" marB="73152">
                    <a:solidFill>
                      <a:srgbClr val="F4F7F6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232A2A"/>
                          </a:solidFill>
                          <a:latin typeface="Microsoft YaHei"/>
                          <a:ea typeface="Microsoft YaHei"/>
                        </a:defRPr>
                      </a:pPr>
                      <a:r>
                        <a:t>知识 Recall@3</a:t>
                      </a:r>
                    </a:p>
                  </a:txBody>
                  <a:tcPr marT="73152" marB="73152">
                    <a:solidFill>
                      <a:srgbClr val="F4F7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232A2A"/>
                          </a:solidFill>
                          <a:latin typeface="Microsoft YaHei"/>
                          <a:ea typeface="Microsoft YaHei"/>
                        </a:defRPr>
                      </a:pPr>
                      <a:r>
                        <a:t>&gt;=85%</a:t>
                      </a:r>
                    </a:p>
                  </a:txBody>
                  <a:tcPr marT="73152" marB="73152">
                    <a:solidFill>
                      <a:srgbClr val="F4F7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232A2A"/>
                          </a:solidFill>
                          <a:latin typeface="Microsoft YaHei"/>
                          <a:ea typeface="Microsoft YaHei"/>
                        </a:defRPr>
                      </a:pPr>
                      <a:r>
                        <a:t>100.00%</a:t>
                      </a:r>
                    </a:p>
                  </a:txBody>
                  <a:tcPr marT="73152" marB="73152">
                    <a:solidFill>
                      <a:srgbClr val="F4F7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232A2A"/>
                          </a:solidFill>
                          <a:latin typeface="Microsoft YaHei"/>
                          <a:ea typeface="Microsoft YaHei"/>
                        </a:defRPr>
                      </a:pPr>
                      <a:r>
                        <a:t>60</a:t>
                      </a:r>
                    </a:p>
                  </a:txBody>
                  <a:tcPr marT="73152" marB="73152">
                    <a:solidFill>
                      <a:srgbClr val="F4F7F6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232A2A"/>
                          </a:solidFill>
                          <a:latin typeface="Microsoft YaHei"/>
                          <a:ea typeface="Microsoft YaHei"/>
                        </a:defRPr>
                      </a:pPr>
                      <a:r>
                        <a:t>冲突正确率</a:t>
                      </a:r>
                    </a:p>
                  </a:txBody>
                  <a:tcPr marT="73152" marB="73152">
                    <a:solidFill>
                      <a:srgbClr val="F4F7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232A2A"/>
                          </a:solidFill>
                          <a:latin typeface="Microsoft YaHei"/>
                          <a:ea typeface="Microsoft YaHei"/>
                        </a:defRPr>
                      </a:pPr>
                      <a:r>
                        <a:t>&gt;=88%</a:t>
                      </a:r>
                    </a:p>
                  </a:txBody>
                  <a:tcPr marT="73152" marB="73152">
                    <a:solidFill>
                      <a:srgbClr val="F4F7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232A2A"/>
                          </a:solidFill>
                          <a:latin typeface="Microsoft YaHei"/>
                          <a:ea typeface="Microsoft YaHei"/>
                        </a:defRPr>
                      </a:pPr>
                      <a:r>
                        <a:t>100.00%</a:t>
                      </a:r>
                    </a:p>
                  </a:txBody>
                  <a:tcPr marT="73152" marB="73152">
                    <a:solidFill>
                      <a:srgbClr val="F4F7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232A2A"/>
                          </a:solidFill>
                          <a:latin typeface="Microsoft YaHei"/>
                          <a:ea typeface="Microsoft YaHei"/>
                        </a:defRPr>
                      </a:pPr>
                      <a:r>
                        <a:t>60</a:t>
                      </a:r>
                    </a:p>
                  </a:txBody>
                  <a:tcPr marT="73152" marB="73152">
                    <a:solidFill>
                      <a:srgbClr val="F4F7F6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232A2A"/>
                          </a:solidFill>
                          <a:latin typeface="Microsoft YaHei"/>
                          <a:ea typeface="Microsoft YaHei"/>
                        </a:defRPr>
                      </a:pPr>
                      <a:r>
                        <a:t>检索 P95</a:t>
                      </a:r>
                    </a:p>
                  </a:txBody>
                  <a:tcPr marT="73152" marB="73152">
                    <a:solidFill>
                      <a:srgbClr val="F4F7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232A2A"/>
                          </a:solidFill>
                          <a:latin typeface="Microsoft YaHei"/>
                          <a:ea typeface="Microsoft YaHei"/>
                        </a:defRPr>
                      </a:pPr>
                      <a:r>
                        <a:t>&lt;=500ms</a:t>
                      </a:r>
                    </a:p>
                  </a:txBody>
                  <a:tcPr marT="73152" marB="73152">
                    <a:solidFill>
                      <a:srgbClr val="F4F7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232A2A"/>
                          </a:solidFill>
                          <a:latin typeface="Microsoft YaHei"/>
                          <a:ea typeface="Microsoft YaHei"/>
                        </a:defRPr>
                      </a:pPr>
                      <a:r>
                        <a:t>47.688ms</a:t>
                      </a:r>
                    </a:p>
                  </a:txBody>
                  <a:tcPr marT="73152" marB="73152">
                    <a:solidFill>
                      <a:srgbClr val="F4F7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232A2A"/>
                          </a:solidFill>
                          <a:latin typeface="Microsoft YaHei"/>
                          <a:ea typeface="Microsoft YaHei"/>
                        </a:defRPr>
                      </a:pPr>
                      <a:r>
                        <a:t>80</a:t>
                      </a:r>
                    </a:p>
                  </a:txBody>
                  <a:tcPr marT="73152" marB="73152">
                    <a:solidFill>
                      <a:srgbClr val="F4F7F6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232A2A"/>
                          </a:solidFill>
                          <a:latin typeface="Microsoft YaHei"/>
                          <a:ea typeface="Microsoft YaHei"/>
                        </a:defRPr>
                      </a:pPr>
                      <a:r>
                        <a:t>敏感实体 F1</a:t>
                      </a:r>
                    </a:p>
                  </a:txBody>
                  <a:tcPr marT="73152" marB="73152">
                    <a:solidFill>
                      <a:srgbClr val="F4F7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232A2A"/>
                          </a:solidFill>
                          <a:latin typeface="Microsoft YaHei"/>
                          <a:ea typeface="Microsoft YaHei"/>
                        </a:defRPr>
                      </a:pPr>
                      <a:r>
                        <a:t>&gt;=90%</a:t>
                      </a:r>
                    </a:p>
                  </a:txBody>
                  <a:tcPr marT="73152" marB="73152">
                    <a:solidFill>
                      <a:srgbClr val="F4F7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232A2A"/>
                          </a:solidFill>
                          <a:latin typeface="Microsoft YaHei"/>
                          <a:ea typeface="Microsoft YaHei"/>
                        </a:defRPr>
                      </a:pPr>
                      <a:r>
                        <a:t>100.00%</a:t>
                      </a:r>
                    </a:p>
                  </a:txBody>
                  <a:tcPr marT="73152" marB="73152">
                    <a:solidFill>
                      <a:srgbClr val="F4F7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232A2A"/>
                          </a:solidFill>
                          <a:latin typeface="Microsoft YaHei"/>
                          <a:ea typeface="Microsoft YaHei"/>
                        </a:defRPr>
                      </a:pPr>
                      <a:r>
                        <a:t>50</a:t>
                      </a:r>
                    </a:p>
                  </a:txBody>
                  <a:tcPr marT="73152" marB="73152">
                    <a:solidFill>
                      <a:srgbClr val="F4F7F6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40080" y="6327648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100" b="0">
                <a:solidFill>
                  <a:srgbClr val="913336"/>
                </a:solidFill>
                <a:latin typeface="Microsoft YaHei"/>
                <a:ea typeface="Microsoft YaHei"/>
              </a:defRPr>
            </a:pPr>
            <a:r>
              <a:t>公开合成回归 | HashEmbedding | 已完成初版，待赛事验收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327648"/>
            <a:ext cx="594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100" b="0">
                <a:solidFill>
                  <a:srgbClr val="232A2A"/>
                </a:solidFill>
                <a:latin typeface="Microsoft YaHei"/>
                <a:ea typeface="Microsoft YaHei"/>
              </a:defRPr>
            </a:pPr>
            <a:r>
              <a:t>6/15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657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2800" b="1">
                <a:solidFill>
                  <a:srgbClr val="232A2A"/>
                </a:solidFill>
                <a:latin typeface="Microsoft YaHei"/>
                <a:ea typeface="Microsoft YaHei"/>
              </a:defRPr>
            </a:pPr>
            <a:r>
              <a:t>复杂场景与干扰设计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25880"/>
            <a:ext cx="1088136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900" b="0">
                <a:solidFill>
                  <a:srgbClr val="232A2A"/>
                </a:solidFill>
                <a:latin typeface="Microsoft YaHei"/>
                <a:ea typeface="Microsoft YaHei"/>
              </a:defRPr>
            </a:pPr>
            <a:r>
              <a:t>12个虚构桌面场景，132条固定难例，120个不同查询。</a:t>
            </a:r>
          </a:p>
          <a:p>
            <a:pPr>
              <a:spcAft>
                <a:spcPts val="1600"/>
              </a:spcAft>
              <a:defRPr sz="1900" b="0">
                <a:solidFill>
                  <a:srgbClr val="232A2A"/>
                </a:solidFill>
                <a:latin typeface="Microsoft YaHei"/>
                <a:ea typeface="Microsoft YaHei"/>
              </a:defRPr>
            </a:pPr>
            <a:r>
              <a:t>72正例、24近主题无答案、24作用域检查；12例需双证据。</a:t>
            </a:r>
          </a:p>
          <a:p>
            <a:pPr>
              <a:spcAft>
                <a:spcPts val="1600"/>
              </a:spcAft>
              <a:defRPr sz="1900" b="0">
                <a:solidFill>
                  <a:srgbClr val="232A2A"/>
                </a:solidFill>
                <a:latin typeface="Microsoft YaHei"/>
                <a:ea typeface="Microsoft YaHei"/>
              </a:defRPr>
            </a:pPr>
            <a:r>
              <a:t>覆盖相似实体、条件差异、版本时效、长文和跨域污染。</a:t>
            </a:r>
          </a:p>
          <a:p>
            <a:pPr>
              <a:spcAft>
                <a:spcPts val="1600"/>
              </a:spcAft>
              <a:defRPr sz="1900" b="0">
                <a:solidFill>
                  <a:srgbClr val="232A2A"/>
                </a:solidFill>
                <a:latin typeface="Microsoft YaHei"/>
                <a:ea typeface="Microsoft YaHei"/>
              </a:defRPr>
            </a:pPr>
            <a:r>
              <a:t>1,000/10,000条规模；0/75%相似填充，固定难例始终存在。</a:t>
            </a:r>
          </a:p>
          <a:p>
            <a:pPr>
              <a:spcAft>
                <a:spcPts val="1600"/>
              </a:spcAft>
              <a:defRPr sz="1900" b="0">
                <a:solidFill>
                  <a:srgbClr val="232A2A"/>
                </a:solidFill>
                <a:latin typeface="Microsoft YaHei"/>
                <a:ea typeface="Microsoft YaHei"/>
              </a:defRPr>
            </a:pPr>
            <a:r>
              <a:t>75%的分母仅为生成填充记录；数据由开发者编写，不是盲测。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327648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100" b="0">
                <a:solidFill>
                  <a:srgbClr val="913336"/>
                </a:solidFill>
                <a:latin typeface="Microsoft YaHei"/>
                <a:ea typeface="Microsoft YaHei"/>
              </a:defRPr>
            </a:pPr>
            <a:r>
              <a:t>公开合成回归 | HashEmbedding | 已完成初版，待赛事验收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327648"/>
            <a:ext cx="594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100" b="0">
                <a:solidFill>
                  <a:srgbClr val="232A2A"/>
                </a:solidFill>
                <a:latin typeface="Microsoft YaHei"/>
                <a:ea typeface="Microsoft YaHei"/>
              </a:defRPr>
            </a:pPr>
            <a:r>
              <a:t>7/15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657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2800" b="1">
                <a:solidFill>
                  <a:srgbClr val="232A2A"/>
                </a:solidFill>
                <a:latin typeface="Microsoft YaHei"/>
                <a:ea typeface="Microsoft YaHei"/>
              </a:defRPr>
            </a:pPr>
            <a:r>
              <a:t>相同结果下的检索延迟优化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25880"/>
            <a:ext cx="108813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700" b="0">
                <a:solidFill>
                  <a:srgbClr val="232A2A"/>
                </a:solidFill>
                <a:latin typeface="Microsoft YaHei"/>
                <a:ea typeface="Microsoft YaHei"/>
              </a:defRPr>
            </a:pPr>
            <a:r>
              <a:t>1,440对返回ID、排序和分数一致：True。</a:t>
            </a:r>
          </a:p>
          <a:p>
            <a:pPr>
              <a:spcAft>
                <a:spcPts val="1600"/>
              </a:spcAft>
              <a:defRPr sz="1700" b="0">
                <a:solidFill>
                  <a:srgbClr val="232A2A"/>
                </a:solidFill>
                <a:latin typeface="Microsoft YaHei"/>
                <a:ea typeface="Microsoft YaHei"/>
              </a:defRPr>
            </a:pPr>
            <a:r>
              <a:t>下表为各配置首轮P95；完整三轮及首查询耗时随包保留。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85800" y="2560320"/>
          <a:ext cx="1078992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2286000"/>
                <a:gridCol w="3200400"/>
                <a:gridCol w="2377440"/>
              </a:tblGrid>
              <a:tr h="658368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defRPr>
                      </a:pPr>
                      <a:r>
                        <a:t>记录数</a:t>
                      </a:r>
                    </a:p>
                  </a:txBody>
                  <a:tcPr marT="73152" marB="73152">
                    <a:solidFill>
                      <a:srgbClr val="20685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defRPr>
                      </a:pPr>
                      <a:r>
                        <a:t>相似填充</a:t>
                      </a:r>
                    </a:p>
                  </a:txBody>
                  <a:tcPr marT="73152" marB="73152">
                    <a:solidFill>
                      <a:srgbClr val="20685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defRPr>
                      </a:pPr>
                      <a:r>
                        <a:t>优化前P95</a:t>
                      </a:r>
                    </a:p>
                  </a:txBody>
                  <a:tcPr marT="73152" marB="73152">
                    <a:solidFill>
                      <a:srgbClr val="20685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defRPr>
                      </a:pPr>
                      <a:r>
                        <a:t>优化后P95</a:t>
                      </a:r>
                    </a:p>
                  </a:txBody>
                  <a:tcPr marT="73152" marB="73152">
                    <a:solidFill>
                      <a:srgbClr val="20685B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232A2A"/>
                          </a:solidFill>
                          <a:latin typeface="Microsoft YaHei"/>
                          <a:ea typeface="Microsoft YaHei"/>
                        </a:defRPr>
                      </a:pPr>
                      <a:r>
                        <a:t>1,000</a:t>
                      </a:r>
                    </a:p>
                  </a:txBody>
                  <a:tcPr marT="73152" marB="73152">
                    <a:solidFill>
                      <a:srgbClr val="F4F7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232A2A"/>
                          </a:solidFill>
                          <a:latin typeface="Microsoft YaHei"/>
                          <a:ea typeface="Microsoft YaHei"/>
                        </a:defRPr>
                      </a:pPr>
                      <a:r>
                        <a:t>0%</a:t>
                      </a:r>
                    </a:p>
                  </a:txBody>
                  <a:tcPr marT="73152" marB="73152">
                    <a:solidFill>
                      <a:srgbClr val="F4F7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232A2A"/>
                          </a:solidFill>
                          <a:latin typeface="Microsoft YaHei"/>
                          <a:ea typeface="Microsoft YaHei"/>
                        </a:defRPr>
                      </a:pPr>
                      <a:r>
                        <a:t>8.920ms</a:t>
                      </a:r>
                    </a:p>
                  </a:txBody>
                  <a:tcPr marT="73152" marB="73152">
                    <a:solidFill>
                      <a:srgbClr val="F4F7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232A2A"/>
                          </a:solidFill>
                          <a:latin typeface="Microsoft YaHei"/>
                          <a:ea typeface="Microsoft YaHei"/>
                        </a:defRPr>
                      </a:pPr>
                      <a:r>
                        <a:t>5.798ms</a:t>
                      </a:r>
                    </a:p>
                  </a:txBody>
                  <a:tcPr marT="73152" marB="73152">
                    <a:solidFill>
                      <a:srgbClr val="F4F7F6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232A2A"/>
                          </a:solidFill>
                          <a:latin typeface="Microsoft YaHei"/>
                          <a:ea typeface="Microsoft YaHei"/>
                        </a:defRPr>
                      </a:pPr>
                      <a:r>
                        <a:t>1,000</a:t>
                      </a:r>
                    </a:p>
                  </a:txBody>
                  <a:tcPr marT="73152" marB="73152">
                    <a:solidFill>
                      <a:srgbClr val="F4F7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232A2A"/>
                          </a:solidFill>
                          <a:latin typeface="Microsoft YaHei"/>
                          <a:ea typeface="Microsoft YaHei"/>
                        </a:defRPr>
                      </a:pPr>
                      <a:r>
                        <a:t>75%</a:t>
                      </a:r>
                    </a:p>
                  </a:txBody>
                  <a:tcPr marT="73152" marB="73152">
                    <a:solidFill>
                      <a:srgbClr val="F4F7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232A2A"/>
                          </a:solidFill>
                          <a:latin typeface="Microsoft YaHei"/>
                          <a:ea typeface="Microsoft YaHei"/>
                        </a:defRPr>
                      </a:pPr>
                      <a:r>
                        <a:t>9.544ms</a:t>
                      </a:r>
                    </a:p>
                  </a:txBody>
                  <a:tcPr marT="73152" marB="73152">
                    <a:solidFill>
                      <a:srgbClr val="F4F7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232A2A"/>
                          </a:solidFill>
                          <a:latin typeface="Microsoft YaHei"/>
                          <a:ea typeface="Microsoft YaHei"/>
                        </a:defRPr>
                      </a:pPr>
                      <a:r>
                        <a:t>7.631ms</a:t>
                      </a:r>
                    </a:p>
                  </a:txBody>
                  <a:tcPr marT="73152" marB="73152">
                    <a:solidFill>
                      <a:srgbClr val="F4F7F6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232A2A"/>
                          </a:solidFill>
                          <a:latin typeface="Microsoft YaHei"/>
                          <a:ea typeface="Microsoft YaHei"/>
                        </a:defRPr>
                      </a:pPr>
                      <a:r>
                        <a:t>10,000</a:t>
                      </a:r>
                    </a:p>
                  </a:txBody>
                  <a:tcPr marT="73152" marB="73152">
                    <a:solidFill>
                      <a:srgbClr val="F4F7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232A2A"/>
                          </a:solidFill>
                          <a:latin typeface="Microsoft YaHei"/>
                          <a:ea typeface="Microsoft YaHei"/>
                        </a:defRPr>
                      </a:pPr>
                      <a:r>
                        <a:t>0%</a:t>
                      </a:r>
                    </a:p>
                  </a:txBody>
                  <a:tcPr marT="73152" marB="73152">
                    <a:solidFill>
                      <a:srgbClr val="F4F7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232A2A"/>
                          </a:solidFill>
                          <a:latin typeface="Microsoft YaHei"/>
                          <a:ea typeface="Microsoft YaHei"/>
                        </a:defRPr>
                      </a:pPr>
                      <a:r>
                        <a:t>71.787ms</a:t>
                      </a:r>
                    </a:p>
                  </a:txBody>
                  <a:tcPr marT="73152" marB="73152">
                    <a:solidFill>
                      <a:srgbClr val="F4F7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232A2A"/>
                          </a:solidFill>
                          <a:latin typeface="Microsoft YaHei"/>
                          <a:ea typeface="Microsoft YaHei"/>
                        </a:defRPr>
                      </a:pPr>
                      <a:r>
                        <a:t>37.814ms</a:t>
                      </a:r>
                    </a:p>
                  </a:txBody>
                  <a:tcPr marT="73152" marB="73152">
                    <a:solidFill>
                      <a:srgbClr val="F4F7F6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232A2A"/>
                          </a:solidFill>
                          <a:latin typeface="Microsoft YaHei"/>
                          <a:ea typeface="Microsoft YaHei"/>
                        </a:defRPr>
                      </a:pPr>
                      <a:r>
                        <a:t>10,000</a:t>
                      </a:r>
                    </a:p>
                  </a:txBody>
                  <a:tcPr marT="73152" marB="73152">
                    <a:solidFill>
                      <a:srgbClr val="F4F7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232A2A"/>
                          </a:solidFill>
                          <a:latin typeface="Microsoft YaHei"/>
                          <a:ea typeface="Microsoft YaHei"/>
                        </a:defRPr>
                      </a:pPr>
                      <a:r>
                        <a:t>75%</a:t>
                      </a:r>
                    </a:p>
                  </a:txBody>
                  <a:tcPr marT="73152" marB="73152">
                    <a:solidFill>
                      <a:srgbClr val="F4F7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232A2A"/>
                          </a:solidFill>
                          <a:latin typeface="Microsoft YaHei"/>
                          <a:ea typeface="Microsoft YaHei"/>
                        </a:defRPr>
                      </a:pPr>
                      <a:r>
                        <a:t>67.755ms</a:t>
                      </a:r>
                    </a:p>
                  </a:txBody>
                  <a:tcPr marT="73152" marB="73152">
                    <a:solidFill>
                      <a:srgbClr val="F4F7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232A2A"/>
                          </a:solidFill>
                          <a:latin typeface="Microsoft YaHei"/>
                          <a:ea typeface="Microsoft YaHei"/>
                        </a:defRPr>
                      </a:pPr>
                      <a:r>
                        <a:t>39.023ms</a:t>
                      </a:r>
                    </a:p>
                  </a:txBody>
                  <a:tcPr marT="73152" marB="73152">
                    <a:solidFill>
                      <a:srgbClr val="F4F7F6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40080" y="6327648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100" b="0">
                <a:solidFill>
                  <a:srgbClr val="913336"/>
                </a:solidFill>
                <a:latin typeface="Microsoft YaHei"/>
                <a:ea typeface="Microsoft YaHei"/>
              </a:defRPr>
            </a:pPr>
            <a:r>
              <a:t>公开合成回归 | HashEmbedding | 已完成初版，待赛事验收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327648"/>
            <a:ext cx="594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100" b="0">
                <a:solidFill>
                  <a:srgbClr val="232A2A"/>
                </a:solidFill>
                <a:latin typeface="Microsoft YaHei"/>
                <a:ea typeface="Microsoft YaHei"/>
              </a:defRPr>
            </a:pPr>
            <a:r>
              <a:t>8/15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657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2800" b="1">
                <a:solidFill>
                  <a:srgbClr val="232A2A"/>
                </a:solidFill>
                <a:latin typeface="Microsoft YaHei"/>
                <a:ea typeface="Microsoft YaHei"/>
              </a:defRPr>
            </a:pPr>
            <a:r>
              <a:t>优化做了什么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25880"/>
            <a:ext cx="1088136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900" b="0">
                <a:solidFill>
                  <a:srgbClr val="232A2A"/>
                </a:solidFill>
                <a:latin typeface="Microsoft YaHei"/>
                <a:ea typeface="Microsoft YaHei"/>
              </a:defRPr>
            </a:pPr>
            <a:r>
              <a:t>倒排交集计数，替代逐候选重复构造集合。</a:t>
            </a:r>
          </a:p>
          <a:p>
            <a:pPr>
              <a:spcAft>
                <a:spcPts val="1600"/>
              </a:spcAft>
              <a:defRPr sz="1900" b="0">
                <a:solidFill>
                  <a:srgbClr val="232A2A"/>
                </a:solidFill>
                <a:latin typeface="Microsoft YaHei"/>
                <a:ea typeface="Microsoft YaHei"/>
              </a:defRPr>
            </a:pPr>
            <a:r>
              <a:t>有界堆选择候选和top-k，替代全量排序。</a:t>
            </a:r>
          </a:p>
          <a:p>
            <a:pPr>
              <a:spcAft>
                <a:spcPts val="1600"/>
              </a:spcAft>
              <a:defRPr sz="1900" b="0">
                <a:solidFill>
                  <a:srgbClr val="232A2A"/>
                </a:solidFill>
                <a:latin typeface="Microsoft YaHei"/>
                <a:ea typeface="Microsoft YaHei"/>
              </a:defRPr>
            </a:pPr>
            <a:r>
              <a:t>明确tenant/user时直接使用授权作用域，保留歧义拒绝。</a:t>
            </a:r>
          </a:p>
          <a:p>
            <a:pPr>
              <a:spcAft>
                <a:spcPts val="1600"/>
              </a:spcAft>
              <a:defRPr sz="1900" b="0">
                <a:solidFill>
                  <a:srgbClr val="232A2A"/>
                </a:solidFill>
                <a:latin typeface="Microsoft YaHei"/>
                <a:ea typeface="Microsoft YaHei"/>
              </a:defRPr>
            </a:pPr>
            <a:r>
              <a:t>4096项有界缓存只解析不可变时间字符串，不缓存权限或答案。</a:t>
            </a:r>
          </a:p>
          <a:p>
            <a:pPr>
              <a:spcAft>
                <a:spcPts val="1600"/>
              </a:spcAft>
              <a:defRPr sz="1900" b="0">
                <a:solidFill>
                  <a:srgbClr val="232A2A"/>
                </a:solidFill>
                <a:latin typeface="Microsoft YaHei"/>
                <a:ea typeface="Microsoft YaHei"/>
              </a:defRPr>
            </a:pPr>
            <a:r>
              <a:t>仅为最终命中构造结果；独立全排序参考与变更/过期测试兜底。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327648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100" b="0">
                <a:solidFill>
                  <a:srgbClr val="913336"/>
                </a:solidFill>
                <a:latin typeface="Microsoft YaHei"/>
                <a:ea typeface="Microsoft YaHei"/>
              </a:defRPr>
            </a:pPr>
            <a:r>
              <a:t>公开合成回归 | HashEmbedding | 已完成初版，待赛事验收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327648"/>
            <a:ext cx="594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100" b="0">
                <a:solidFill>
                  <a:srgbClr val="232A2A"/>
                </a:solidFill>
                <a:latin typeface="Microsoft YaHei"/>
                <a:ea typeface="Microsoft YaHei"/>
              </a:defRPr>
            </a:pPr>
            <a:r>
              <a:t>9/15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657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2800" b="1">
                <a:solidFill>
                  <a:srgbClr val="232A2A"/>
                </a:solidFill>
                <a:latin typeface="Microsoft YaHei"/>
                <a:ea typeface="Microsoft YaHei"/>
              </a:defRPr>
            </a:pPr>
            <a:r>
              <a:t>复杂质量与误召回风险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25880"/>
            <a:ext cx="108813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700" b="0">
                <a:solidFill>
                  <a:srgbClr val="232A2A"/>
                </a:solidFill>
                <a:latin typeface="Microsoft YaHei"/>
                <a:ea typeface="Microsoft YaHei"/>
              </a:defRPr>
            </a:pPr>
            <a:r>
              <a:t>10,000条、75%相似填充、首轮；全部请求保留。</a:t>
            </a:r>
          </a:p>
          <a:p>
            <a:pPr>
              <a:spcAft>
                <a:spcPts val="1600"/>
              </a:spcAft>
              <a:defRPr sz="1700" b="0">
                <a:solidFill>
                  <a:srgbClr val="232A2A"/>
                </a:solidFill>
                <a:latin typeface="Microsoft YaHei"/>
                <a:ea typeface="Microsoft YaHei"/>
              </a:defRPr>
            </a:pPr>
            <a:r>
              <a:t>作用域零泄漏不等于近主题拒答可靠，后者仍需改进。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85800" y="2560320"/>
          <a:ext cx="1078992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66160"/>
                <a:gridCol w="1828800"/>
                <a:gridCol w="5394960"/>
              </a:tblGrid>
              <a:tr h="548640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defRPr>
                      </a:pPr>
                      <a:r>
                        <a:t>质量项</a:t>
                      </a:r>
                    </a:p>
                  </a:txBody>
                  <a:tcPr marT="73152" marB="73152">
                    <a:solidFill>
                      <a:srgbClr val="20685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defRPr>
                      </a:pPr>
                      <a:r>
                        <a:t>实测值</a:t>
                      </a:r>
                    </a:p>
                  </a:txBody>
                  <a:tcPr marT="73152" marB="73152">
                    <a:solidFill>
                      <a:srgbClr val="20685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defRPr>
                      </a:pPr>
                      <a:r>
                        <a:t>解释</a:t>
                      </a:r>
                    </a:p>
                  </a:txBody>
                  <a:tcPr marT="73152" marB="73152">
                    <a:solidFill>
                      <a:srgbClr val="20685B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232A2A"/>
                          </a:solidFill>
                          <a:latin typeface="Microsoft YaHei"/>
                          <a:ea typeface="Microsoft YaHei"/>
                        </a:defRPr>
                      </a:pPr>
                      <a:r>
                        <a:t>正例宏Recall@3</a:t>
                      </a:r>
                    </a:p>
                  </a:txBody>
                  <a:tcPr marT="73152" marB="73152">
                    <a:solidFill>
                      <a:srgbClr val="F4F7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232A2A"/>
                          </a:solidFill>
                          <a:latin typeface="Microsoft YaHei"/>
                          <a:ea typeface="Microsoft YaHei"/>
                        </a:defRPr>
                      </a:pPr>
                      <a:r>
                        <a:t>94.44%</a:t>
                      </a:r>
                    </a:p>
                  </a:txBody>
                  <a:tcPr marT="73152" marB="73152">
                    <a:solidFill>
                      <a:srgbClr val="F4F7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232A2A"/>
                          </a:solidFill>
                          <a:latin typeface="Microsoft YaHei"/>
                          <a:ea typeface="Microsoft YaHei"/>
                        </a:defRPr>
                      </a:pPr>
                      <a:r>
                        <a:t>不是拒答正确率</a:t>
                      </a:r>
                    </a:p>
                  </a:txBody>
                  <a:tcPr marT="73152" marB="73152">
                    <a:solidFill>
                      <a:srgbClr val="F4F7F6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232A2A"/>
                          </a:solidFill>
                          <a:latin typeface="Microsoft YaHei"/>
                          <a:ea typeface="Microsoft YaHei"/>
                        </a:defRPr>
                      </a:pPr>
                      <a:r>
                        <a:t>固定分母P@3</a:t>
                      </a:r>
                    </a:p>
                  </a:txBody>
                  <a:tcPr marT="73152" marB="73152">
                    <a:solidFill>
                      <a:srgbClr val="F4F7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232A2A"/>
                          </a:solidFill>
                          <a:latin typeface="Microsoft YaHei"/>
                          <a:ea typeface="Microsoft YaHei"/>
                        </a:defRPr>
                      </a:pPr>
                      <a:r>
                        <a:t>37.04%</a:t>
                      </a:r>
                    </a:p>
                  </a:txBody>
                  <a:tcPr marT="73152" marB="73152">
                    <a:solidFill>
                      <a:srgbClr val="F4F7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232A2A"/>
                          </a:solidFill>
                          <a:latin typeface="Microsoft YaHei"/>
                          <a:ea typeface="Microsoft YaHei"/>
                        </a:defRPr>
                      </a:pPr>
                      <a:r>
                        <a:t>按正例查询数乘3</a:t>
                      </a:r>
                    </a:p>
                  </a:txBody>
                  <a:tcPr marT="73152" marB="73152">
                    <a:solidFill>
                      <a:srgbClr val="F4F7F6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232A2A"/>
                          </a:solidFill>
                          <a:latin typeface="Microsoft YaHei"/>
                          <a:ea typeface="Microsoft YaHei"/>
                        </a:defRPr>
                      </a:pPr>
                      <a:r>
                        <a:t>近主题无答案</a:t>
                      </a:r>
                    </a:p>
                  </a:txBody>
                  <a:tcPr marT="73152" marB="73152">
                    <a:solidFill>
                      <a:srgbClr val="F4F7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232A2A"/>
                          </a:solidFill>
                          <a:latin typeface="Microsoft YaHei"/>
                          <a:ea typeface="Microsoft YaHei"/>
                        </a:defRPr>
                      </a:pPr>
                      <a:r>
                        <a:t>4.17%</a:t>
                      </a:r>
                    </a:p>
                  </a:txBody>
                  <a:tcPr marT="73152" marB="73152">
                    <a:solidFill>
                      <a:srgbClr val="F4F7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232A2A"/>
                          </a:solidFill>
                          <a:latin typeface="Microsoft YaHei"/>
                          <a:ea typeface="Microsoft YaHei"/>
                        </a:defRPr>
                      </a:pPr>
                      <a:r>
                        <a:t>1/24正确，23例误答</a:t>
                      </a:r>
                    </a:p>
                  </a:txBody>
                  <a:tcPr marT="73152" marB="73152">
                    <a:solidFill>
                      <a:srgbClr val="F4F7F6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232A2A"/>
                          </a:solidFill>
                          <a:latin typeface="Microsoft YaHei"/>
                          <a:ea typeface="Microsoft YaHei"/>
                        </a:defRPr>
                      </a:pPr>
                      <a:r>
                        <a:t>干扰返回占比</a:t>
                      </a:r>
                    </a:p>
                  </a:txBody>
                  <a:tcPr marT="73152" marB="73152">
                    <a:solidFill>
                      <a:srgbClr val="F4F7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232A2A"/>
                          </a:solidFill>
                          <a:latin typeface="Microsoft YaHei"/>
                          <a:ea typeface="Microsoft YaHei"/>
                        </a:defRPr>
                      </a:pPr>
                      <a:r>
                        <a:t>57.89%</a:t>
                      </a:r>
                    </a:p>
                  </a:txBody>
                  <a:tcPr marT="73152" marB="73152">
                    <a:solidFill>
                      <a:srgbClr val="F4F7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232A2A"/>
                          </a:solidFill>
                          <a:latin typeface="Microsoft YaHei"/>
                          <a:ea typeface="Microsoft YaHei"/>
                        </a:defRPr>
                      </a:pPr>
                      <a:r>
                        <a:t>正例返回片段中的无关项</a:t>
                      </a:r>
                    </a:p>
                  </a:txBody>
                  <a:tcPr marT="73152" marB="73152">
                    <a:solidFill>
                      <a:srgbClr val="F4F7F6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232A2A"/>
                          </a:solidFill>
                          <a:latin typeface="Microsoft YaHei"/>
                          <a:ea typeface="Microsoft YaHei"/>
                        </a:defRPr>
                      </a:pPr>
                      <a:r>
                        <a:t>跨域泄漏 / 异常</a:t>
                      </a:r>
                    </a:p>
                  </a:txBody>
                  <a:tcPr marT="73152" marB="73152">
                    <a:solidFill>
                      <a:srgbClr val="F4F7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232A2A"/>
                          </a:solidFill>
                          <a:latin typeface="Microsoft YaHei"/>
                          <a:ea typeface="Microsoft YaHei"/>
                        </a:defRPr>
                      </a:pPr>
                      <a:r>
                        <a:t>0 / 0</a:t>
                      </a:r>
                    </a:p>
                  </a:txBody>
                  <a:tcPr marT="73152" marB="73152">
                    <a:solidFill>
                      <a:srgbClr val="F4F7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232A2A"/>
                          </a:solidFill>
                          <a:latin typeface="Microsoft YaHei"/>
                          <a:ea typeface="Microsoft YaHei"/>
                        </a:defRPr>
                      </a:pPr>
                      <a:r>
                        <a:t>不能覆盖近主题误答风险</a:t>
                      </a:r>
                    </a:p>
                  </a:txBody>
                  <a:tcPr marT="73152" marB="73152">
                    <a:solidFill>
                      <a:srgbClr val="F4F7F6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40080" y="6327648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100" b="0">
                <a:solidFill>
                  <a:srgbClr val="913336"/>
                </a:solidFill>
                <a:latin typeface="Microsoft YaHei"/>
                <a:ea typeface="Microsoft YaHei"/>
              </a:defRPr>
            </a:pPr>
            <a:r>
              <a:t>公开合成回归 | HashEmbedding | 已完成初版，待赛事验收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327648"/>
            <a:ext cx="594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100" b="0">
                <a:solidFill>
                  <a:srgbClr val="232A2A"/>
                </a:solidFill>
                <a:latin typeface="Microsoft YaHei"/>
                <a:ea typeface="Microsoft YaHei"/>
              </a:defRPr>
            </a:pPr>
            <a:r>
              <a:t>10/15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657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2800" b="1">
                <a:solidFill>
                  <a:srgbClr val="232A2A"/>
                </a:solidFill>
                <a:latin typeface="Microsoft YaHei"/>
                <a:ea typeface="Microsoft YaHei"/>
              </a:defRPr>
            </a:pPr>
            <a:r>
              <a:t>本地检索消融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25880"/>
            <a:ext cx="108813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700" b="0">
                <a:solidFill>
                  <a:srgbClr val="232A2A"/>
                </a:solidFill>
                <a:latin typeface="Microsoft YaHei"/>
                <a:ea typeface="Microsoft YaHei"/>
              </a:defRPr>
            </a:pPr>
            <a:r>
              <a:t>1,000条、75%相似填充、同一阈值0.265、各一次完整运行。</a:t>
            </a:r>
          </a:p>
          <a:p>
            <a:pPr>
              <a:spcAft>
                <a:spcPts val="1600"/>
              </a:spcAft>
              <a:defRPr sz="1700" b="0">
                <a:solidFill>
                  <a:srgbClr val="232A2A"/>
                </a:solidFill>
                <a:latin typeface="Microsoft YaHei"/>
                <a:ea typeface="Microsoft YaHei"/>
              </a:defRPr>
            </a:pPr>
            <a:r>
              <a:t>这是固定阈值诊断，不是调参后的最优基线或论文复现。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85800" y="2560320"/>
          <a:ext cx="1078992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2286000"/>
                <a:gridCol w="3200400"/>
                <a:gridCol w="2377440"/>
              </a:tblGrid>
              <a:tr h="822960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defRPr>
                      </a:pPr>
                      <a:r>
                        <a:t>模式</a:t>
                      </a:r>
                    </a:p>
                  </a:txBody>
                  <a:tcPr marT="73152" marB="73152">
                    <a:solidFill>
                      <a:srgbClr val="20685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defRPr>
                      </a:pPr>
                      <a:r>
                        <a:t>Recall@3</a:t>
                      </a:r>
                    </a:p>
                  </a:txBody>
                  <a:tcPr marT="73152" marB="73152">
                    <a:solidFill>
                      <a:srgbClr val="20685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defRPr>
                      </a:pPr>
                      <a:r>
                        <a:t>无答案正确率</a:t>
                      </a:r>
                    </a:p>
                  </a:txBody>
                  <a:tcPr marT="73152" marB="73152">
                    <a:solidFill>
                      <a:srgbClr val="20685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defRPr>
                      </a:pPr>
                      <a:r>
                        <a:t>P95</a:t>
                      </a:r>
                    </a:p>
                  </a:txBody>
                  <a:tcPr marT="73152" marB="73152">
                    <a:solidFill>
                      <a:srgbClr val="20685B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232A2A"/>
                          </a:solidFill>
                          <a:latin typeface="Microsoft YaHei"/>
                          <a:ea typeface="Microsoft YaHei"/>
                        </a:defRPr>
                      </a:pPr>
                      <a:r>
                        <a:t>lexical</a:t>
                      </a:r>
                    </a:p>
                  </a:txBody>
                  <a:tcPr marT="73152" marB="73152">
                    <a:solidFill>
                      <a:srgbClr val="F4F7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232A2A"/>
                          </a:solidFill>
                          <a:latin typeface="Microsoft YaHei"/>
                          <a:ea typeface="Microsoft YaHei"/>
                        </a:defRPr>
                      </a:pPr>
                      <a:r>
                        <a:t>51.39%</a:t>
                      </a:r>
                    </a:p>
                  </a:txBody>
                  <a:tcPr marT="73152" marB="73152">
                    <a:solidFill>
                      <a:srgbClr val="F4F7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232A2A"/>
                          </a:solidFill>
                          <a:latin typeface="Microsoft YaHei"/>
                          <a:ea typeface="Microsoft YaHei"/>
                        </a:defRPr>
                      </a:pPr>
                      <a:r>
                        <a:t>95.83%</a:t>
                      </a:r>
                    </a:p>
                  </a:txBody>
                  <a:tcPr marT="73152" marB="73152">
                    <a:solidFill>
                      <a:srgbClr val="F4F7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232A2A"/>
                          </a:solidFill>
                          <a:latin typeface="Microsoft YaHei"/>
                          <a:ea typeface="Microsoft YaHei"/>
                        </a:defRPr>
                      </a:pPr>
                      <a:r>
                        <a:t>1.533ms</a:t>
                      </a:r>
                    </a:p>
                  </a:txBody>
                  <a:tcPr marT="73152" marB="73152">
                    <a:solidFill>
                      <a:srgbClr val="F4F7F6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232A2A"/>
                          </a:solidFill>
                          <a:latin typeface="Microsoft YaHei"/>
                          <a:ea typeface="Microsoft YaHei"/>
                        </a:defRPr>
                      </a:pPr>
                      <a:r>
                        <a:t>semantic</a:t>
                      </a:r>
                    </a:p>
                  </a:txBody>
                  <a:tcPr marT="73152" marB="73152">
                    <a:solidFill>
                      <a:srgbClr val="F4F7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232A2A"/>
                          </a:solidFill>
                          <a:latin typeface="Microsoft YaHei"/>
                          <a:ea typeface="Microsoft YaHei"/>
                        </a:defRPr>
                      </a:pPr>
                      <a:r>
                        <a:t>76.39%</a:t>
                      </a:r>
                    </a:p>
                  </a:txBody>
                  <a:tcPr marT="73152" marB="73152">
                    <a:solidFill>
                      <a:srgbClr val="F4F7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232A2A"/>
                          </a:solidFill>
                          <a:latin typeface="Microsoft YaHei"/>
                          <a:ea typeface="Microsoft YaHei"/>
                        </a:defRPr>
                      </a:pPr>
                      <a:r>
                        <a:t>0.00%</a:t>
                      </a:r>
                    </a:p>
                  </a:txBody>
                  <a:tcPr marT="73152" marB="73152">
                    <a:solidFill>
                      <a:srgbClr val="F4F7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232A2A"/>
                          </a:solidFill>
                          <a:latin typeface="Microsoft YaHei"/>
                          <a:ea typeface="Microsoft YaHei"/>
                        </a:defRPr>
                      </a:pPr>
                      <a:r>
                        <a:t>24.973ms</a:t>
                      </a:r>
                    </a:p>
                  </a:txBody>
                  <a:tcPr marT="73152" marB="73152">
                    <a:solidFill>
                      <a:srgbClr val="F4F7F6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232A2A"/>
                          </a:solidFill>
                          <a:latin typeface="Microsoft YaHei"/>
                          <a:ea typeface="Microsoft YaHei"/>
                        </a:defRPr>
                      </a:pPr>
                      <a:r>
                        <a:t>hybrid</a:t>
                      </a:r>
                    </a:p>
                  </a:txBody>
                  <a:tcPr marT="73152" marB="73152">
                    <a:solidFill>
                      <a:srgbClr val="F4F7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232A2A"/>
                          </a:solidFill>
                          <a:latin typeface="Microsoft YaHei"/>
                          <a:ea typeface="Microsoft YaHei"/>
                        </a:defRPr>
                      </a:pPr>
                      <a:r>
                        <a:t>94.44%</a:t>
                      </a:r>
                    </a:p>
                  </a:txBody>
                  <a:tcPr marT="73152" marB="73152">
                    <a:solidFill>
                      <a:srgbClr val="F4F7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232A2A"/>
                          </a:solidFill>
                          <a:latin typeface="Microsoft YaHei"/>
                          <a:ea typeface="Microsoft YaHei"/>
                        </a:defRPr>
                      </a:pPr>
                      <a:r>
                        <a:t>4.17%</a:t>
                      </a:r>
                    </a:p>
                  </a:txBody>
                  <a:tcPr marT="73152" marB="73152">
                    <a:solidFill>
                      <a:srgbClr val="F4F7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232A2A"/>
                          </a:solidFill>
                          <a:latin typeface="Microsoft YaHei"/>
                          <a:ea typeface="Microsoft YaHei"/>
                        </a:defRPr>
                      </a:pPr>
                      <a:r>
                        <a:t>7.792ms</a:t>
                      </a:r>
                    </a:p>
                  </a:txBody>
                  <a:tcPr marT="73152" marB="73152">
                    <a:solidFill>
                      <a:srgbClr val="F4F7F6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40080" y="6327648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100" b="0">
                <a:solidFill>
                  <a:srgbClr val="913336"/>
                </a:solidFill>
                <a:latin typeface="Microsoft YaHei"/>
                <a:ea typeface="Microsoft YaHei"/>
              </a:defRPr>
            </a:pPr>
            <a:r>
              <a:t>公开合成回归 | HashEmbedding | 已完成初版，待赛事验收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327648"/>
            <a:ext cx="594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100" b="0">
                <a:solidFill>
                  <a:srgbClr val="232A2A"/>
                </a:solidFill>
                <a:latin typeface="Microsoft YaHei"/>
                <a:ea typeface="Microsoft YaHei"/>
              </a:defRPr>
            </a:pPr>
            <a:r>
              <a:t>11/15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657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2800" b="1">
                <a:solidFill>
                  <a:srgbClr val="232A2A"/>
                </a:solidFill>
                <a:latin typeface="Microsoft YaHei"/>
                <a:ea typeface="Microsoft YaHei"/>
              </a:defRPr>
            </a:pPr>
            <a:r>
              <a:t>真实SDK：待复测风险项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25880"/>
            <a:ext cx="1088136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900" b="0">
                <a:solidFill>
                  <a:srgbClr val="232A2A"/>
                </a:solidFill>
                <a:latin typeface="Microsoft YaHei"/>
                <a:ea typeface="Microsoft YaHei"/>
              </a:defRPr>
            </a:pPr>
            <a:r>
              <a:t>旧ABI真实执行1次，768维；总耗时13,390.615ms。</a:t>
            </a:r>
          </a:p>
          <a:p>
            <a:pPr>
              <a:spcAft>
                <a:spcPts val="1600"/>
              </a:spcAft>
              <a:defRPr sz="1900" b="0">
                <a:solidFill>
                  <a:srgbClr val="232A2A"/>
                </a:solidFill>
                <a:latin typeface="Microsoft YaHei"/>
                <a:ea typeface="Microsoft YaHei"/>
              </a:defRPr>
            </a:pPr>
            <a:r>
              <a:t>含隔离进程、会话及模型初始化；单次不是P95。</a:t>
            </a:r>
          </a:p>
          <a:p>
            <a:pPr>
              <a:spcAft>
                <a:spcPts val="1600"/>
              </a:spcAft>
              <a:defRPr sz="1900" b="0">
                <a:solidFill>
                  <a:srgbClr val="232A2A"/>
                </a:solidFill>
                <a:latin typeface="Microsoft YaHei"/>
                <a:ea typeface="Microsoft YaHei"/>
              </a:defRPr>
            </a:pPr>
            <a:r>
              <a:t>当前provider每次调用初始化，不能假定后续自动摊销。</a:t>
            </a:r>
          </a:p>
          <a:p>
            <a:pPr>
              <a:spcAft>
                <a:spcPts val="1600"/>
              </a:spcAft>
              <a:defRPr sz="1900" b="0">
                <a:solidFill>
                  <a:srgbClr val="232A2A"/>
                </a:solidFill>
                <a:latin typeface="Microsoft YaHei"/>
                <a:ea typeface="Microsoft YaHei"/>
              </a:defRPr>
            </a:pPr>
            <a:r>
              <a:t>新ABI缺符号；模型身份/版本及向量库往返尚无完整验证。</a:t>
            </a:r>
          </a:p>
          <a:p>
            <a:pPr>
              <a:spcAft>
                <a:spcPts val="1600"/>
              </a:spcAft>
              <a:defRPr sz="1900" b="0">
                <a:solidFill>
                  <a:srgbClr val="232A2A"/>
                </a:solidFill>
                <a:latin typeface="Microsoft YaHei"/>
                <a:ea typeface="Microsoft YaHei"/>
              </a:defRPr>
            </a:pPr>
            <a:r>
              <a:t>解除条件：核验模型，冻结至少50不同请求，全服务P95&lt;=500ms。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327648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100" b="0">
                <a:solidFill>
                  <a:srgbClr val="913336"/>
                </a:solidFill>
                <a:latin typeface="Microsoft YaHei"/>
                <a:ea typeface="Microsoft YaHei"/>
              </a:defRPr>
            </a:pPr>
            <a:r>
              <a:t>公开合成回归 | HashEmbedding | 已完成初版，待赛事验收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327648"/>
            <a:ext cx="594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100" b="0">
                <a:solidFill>
                  <a:srgbClr val="232A2A"/>
                </a:solidFill>
                <a:latin typeface="Microsoft YaHei"/>
                <a:ea typeface="Microsoft YaHei"/>
              </a:defRPr>
            </a:pPr>
            <a:r>
              <a:t>12/15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657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2800" b="1">
                <a:solidFill>
                  <a:srgbClr val="232A2A"/>
                </a:solidFill>
                <a:latin typeface="Microsoft YaHei"/>
                <a:ea typeface="Microsoft YaHei"/>
              </a:defRPr>
            </a:pPr>
            <a:r>
              <a:t>工程验证与部署边界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25880"/>
            <a:ext cx="1088136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900" b="0">
                <a:solidFill>
                  <a:srgbClr val="232A2A"/>
                </a:solidFill>
                <a:latin typeface="Microsoft YaHei"/>
                <a:ea typeface="Microsoft YaHei"/>
              </a:defRPr>
            </a:pPr>
            <a:r>
              <a:t>Windows：306项测试、17项工程检查通过。</a:t>
            </a:r>
          </a:p>
          <a:p>
            <a:pPr>
              <a:spcAft>
                <a:spcPts val="1600"/>
              </a:spcAft>
              <a:defRPr sz="1900" b="0">
                <a:solidFill>
                  <a:srgbClr val="232A2A"/>
                </a:solidFill>
                <a:latin typeface="Microsoft YaHei"/>
                <a:ea typeface="Microsoft YaHei"/>
              </a:defRPr>
            </a:pPr>
            <a:r>
              <a:t>1,000条真实服务负载：查询P95 11.121ms；HTTP P99 18.384ms。</a:t>
            </a:r>
          </a:p>
          <a:p>
            <a:pPr>
              <a:spcAft>
                <a:spcPts val="1600"/>
              </a:spcAft>
              <a:defRPr sz="1900" b="0">
                <a:solidFill>
                  <a:srgbClr val="232A2A"/>
                </a:solidFill>
                <a:latin typeface="Microsoft YaHei"/>
                <a:ea typeface="Microsoft YaHei"/>
              </a:defRPr>
            </a:pPr>
            <a:r>
              <a:t>进程RSS末值 236077056 bytes；不含模型服务。</a:t>
            </a:r>
          </a:p>
          <a:p>
            <a:pPr>
              <a:spcAft>
                <a:spcPts val="1600"/>
              </a:spcAft>
              <a:defRPr sz="1900" b="0">
                <a:solidFill>
                  <a:srgbClr val="232A2A"/>
                </a:solidFill>
                <a:latin typeface="Microsoft YaHei"/>
                <a:ea typeface="Microsoft YaHei"/>
              </a:defRPr>
            </a:pPr>
            <a:r>
              <a:t>V11待当前版复验；历史HTTP曾受系统网络管控影响，失败保留。</a:t>
            </a:r>
          </a:p>
          <a:p>
            <a:pPr>
              <a:spcAft>
                <a:spcPts val="1600"/>
              </a:spcAft>
              <a:defRPr sz="1900" b="0">
                <a:solidFill>
                  <a:srgbClr val="232A2A"/>
                </a:solidFill>
                <a:latin typeface="Microsoft YaHei"/>
                <a:ea typeface="Microsoft YaHei"/>
              </a:defRPr>
            </a:pPr>
            <a:r>
              <a:t>主办方部署/资源/评分认可按参赛者确认处理，原件待归档。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327648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100" b="0">
                <a:solidFill>
                  <a:srgbClr val="913336"/>
                </a:solidFill>
                <a:latin typeface="Microsoft YaHei"/>
                <a:ea typeface="Microsoft YaHei"/>
              </a:defRPr>
            </a:pPr>
            <a:r>
              <a:t>公开合成回归 | HashEmbedding | 已完成初版，待赛事验收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327648"/>
            <a:ext cx="594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100" b="0">
                <a:solidFill>
                  <a:srgbClr val="232A2A"/>
                </a:solidFill>
                <a:latin typeface="Microsoft YaHei"/>
                <a:ea typeface="Microsoft YaHei"/>
              </a:defRPr>
            </a:pPr>
            <a:r>
              <a:t>13/15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657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2800" b="1">
                <a:solidFill>
                  <a:srgbClr val="232A2A"/>
                </a:solidFill>
                <a:latin typeface="Microsoft YaHei"/>
                <a:ea typeface="Microsoft YaHei"/>
              </a:defRPr>
            </a:pPr>
            <a:r>
              <a:t>复现与证据绑定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25880"/>
            <a:ext cx="1088136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900" b="0">
                <a:solidFill>
                  <a:srgbClr val="232A2A"/>
                </a:solidFill>
                <a:latin typeface="Microsoft YaHei"/>
                <a:ea typeface="Microsoft YaHei"/>
              </a:defRPr>
            </a:pPr>
            <a:r>
              <a:t>源码、冻结数据、逐请求结果、对比报告分别记录SHA256。</a:t>
            </a:r>
          </a:p>
          <a:p>
            <a:pPr>
              <a:spcAft>
                <a:spcPts val="1600"/>
              </a:spcAft>
              <a:defRPr sz="1900" b="0">
                <a:solidFill>
                  <a:srgbClr val="232A2A"/>
                </a:solidFill>
                <a:latin typeface="Microsoft YaHei"/>
                <a:ea typeface="Microsoft YaHei"/>
              </a:defRPr>
            </a:pPr>
            <a:r>
              <a:t>运行unittest、check_source、evaluate_requests、verify_release。</a:t>
            </a:r>
          </a:p>
          <a:p>
            <a:pPr>
              <a:spcAft>
                <a:spcPts val="1600"/>
              </a:spcAft>
              <a:defRPr sz="1900" b="0">
                <a:solidFill>
                  <a:srgbClr val="232A2A"/>
                </a:solidFill>
                <a:latin typeface="Microsoft YaHei"/>
                <a:ea typeface="Microsoft YaHei"/>
              </a:defRPr>
            </a:pPr>
            <a:r>
              <a:t>复杂回归使用PYTHONHASHSEED=0；四种规模/干扰配置各三轮。</a:t>
            </a:r>
          </a:p>
          <a:p>
            <a:pPr>
              <a:spcAft>
                <a:spcPts val="1600"/>
              </a:spcAft>
              <a:defRPr sz="1900" b="0">
                <a:solidFill>
                  <a:srgbClr val="232A2A"/>
                </a:solidFill>
                <a:latin typeface="Microsoft YaHei"/>
                <a:ea typeface="Microsoft YaHei"/>
              </a:defRPr>
            </a:pPr>
            <a:r>
              <a:t>审阅包采用允许列表；解包后重新校验、运行测试和冻结五项。</a:t>
            </a:r>
          </a:p>
          <a:p>
            <a:pPr>
              <a:spcAft>
                <a:spcPts val="1600"/>
              </a:spcAft>
              <a:defRPr sz="1900" b="0">
                <a:solidFill>
                  <a:srgbClr val="232A2A"/>
                </a:solidFill>
                <a:latin typeface="Microsoft YaHei"/>
                <a:ea typeface="Microsoft YaHei"/>
              </a:defRPr>
            </a:pPr>
            <a:r>
              <a:t>旧ZIP和失败记录只作追溯，不覆盖、不冒充当前版通过。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327648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100" b="0">
                <a:solidFill>
                  <a:srgbClr val="913336"/>
                </a:solidFill>
                <a:latin typeface="Microsoft YaHei"/>
                <a:ea typeface="Microsoft YaHei"/>
              </a:defRPr>
            </a:pPr>
            <a:r>
              <a:t>公开合成回归 | HashEmbedding | 已完成初版，待赛事验收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327648"/>
            <a:ext cx="594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100" b="0">
                <a:solidFill>
                  <a:srgbClr val="232A2A"/>
                </a:solidFill>
                <a:latin typeface="Microsoft YaHei"/>
                <a:ea typeface="Microsoft YaHei"/>
              </a:defRPr>
            </a:pPr>
            <a:r>
              <a:t>14/15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657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2800" b="1">
                <a:solidFill>
                  <a:srgbClr val="232A2A"/>
                </a:solidFill>
                <a:latin typeface="Microsoft YaHei"/>
                <a:ea typeface="Microsoft YaHei"/>
              </a:defRPr>
            </a:pPr>
            <a:r>
              <a:t>当前结论与验收边界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25880"/>
            <a:ext cx="1088136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900" b="0">
                <a:solidFill>
                  <a:srgbClr val="232A2A"/>
                </a:solidFill>
                <a:latin typeface="Microsoft YaHei"/>
                <a:ea typeface="Microsoft YaHei"/>
              </a:defRPr>
            </a:pPr>
            <a:r>
              <a:t>复杂正例Recall@3 94.44%；近主题无答案正确率 4.17%。</a:t>
            </a:r>
          </a:p>
          <a:p>
            <a:pPr>
              <a:spcAft>
                <a:spcPts val="1600"/>
              </a:spcAft>
              <a:defRPr sz="1900" b="0">
                <a:solidFill>
                  <a:srgbClr val="232A2A"/>
                </a:solidFill>
                <a:latin typeface="Microsoft YaHei"/>
                <a:ea typeface="Microsoft YaHei"/>
              </a:defRPr>
            </a:pPr>
            <a:r>
              <a:t>延迟优化有配对证据；复杂拒答、真实SDK和V11当前版仍有风险。</a:t>
            </a:r>
          </a:p>
          <a:p>
            <a:pPr>
              <a:spcAft>
                <a:spcPts val="1600"/>
              </a:spcAft>
              <a:defRPr sz="1900" b="0">
                <a:solidFill>
                  <a:srgbClr val="232A2A"/>
                </a:solidFill>
                <a:latin typeface="Microsoft YaHei"/>
                <a:ea typeface="Microsoft YaHei"/>
              </a:defRPr>
            </a:pPr>
            <a:r>
              <a:t>独立Agent/Judge、保密标签、授权真实案例和赛事材料需外部证据。</a:t>
            </a:r>
          </a:p>
          <a:p>
            <a:pPr>
              <a:spcAft>
                <a:spcPts val="1600"/>
              </a:spcAft>
              <a:defRPr sz="1900" b="0">
                <a:solidFill>
                  <a:srgbClr val="232A2A"/>
                </a:solidFill>
                <a:latin typeface="Microsoft YaHei"/>
                <a:ea typeface="Microsoft YaHei"/>
              </a:defRPr>
            </a:pPr>
            <a:r>
              <a:t>技术创新性30分、性能可信度25分仅为反馈组织依据，不是自评得分。</a:t>
            </a:r>
          </a:p>
          <a:p>
            <a:pPr>
              <a:spcAft>
                <a:spcPts val="1600"/>
              </a:spcAft>
              <a:defRPr sz="1900" b="0">
                <a:solidFill>
                  <a:srgbClr val="232A2A"/>
                </a:solidFill>
                <a:latin typeface="Microsoft YaHei"/>
                <a:ea typeface="Microsoft YaHei"/>
              </a:defRPr>
            </a:pPr>
            <a:r>
              <a:t>已完成初版，待赛事验收；不自动提交或发送邮件。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327648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100" b="0">
                <a:solidFill>
                  <a:srgbClr val="913336"/>
                </a:solidFill>
                <a:latin typeface="Microsoft YaHei"/>
                <a:ea typeface="Microsoft YaHei"/>
              </a:defRPr>
            </a:pPr>
            <a:r>
              <a:t>公开合成回归 | HashEmbedding | 已完成初版，待赛事验收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327648"/>
            <a:ext cx="594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100" b="0">
                <a:solidFill>
                  <a:srgbClr val="232A2A"/>
                </a:solidFill>
                <a:latin typeface="Microsoft YaHei"/>
                <a:ea typeface="Microsoft YaHei"/>
              </a:defRPr>
            </a:pPr>
            <a:r>
              <a:t>15/15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OS Agent 反馈落实答辩稿</dc:title>
  <dc:subject>已完成初版，待赛事验收</dc:subject>
  <dc:creator/>
  <cp:keywords/>
  <dc:description>generated using python-pptx</dc:description>
  <cp:lastModifiedBy/>
  <cp:revision>1</cp:revision>
  <dcterms:created xsi:type="dcterms:W3CDTF">2013-01-27T09:14:16Z</dcterms:created>
  <dcterms:modified xsi:type="dcterms:W3CDTF">2013-01-27T09:15:58Z</dcterms:modified>
  <cp:category/>
</cp:coreProperties>
</file>